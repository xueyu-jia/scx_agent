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heme/theme2.xml" ContentType="application/vnd.openxmlformats-officedocument.them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2"/>
  </p:notesMasterIdLst>
  <p:sldIdLst>
    <p:sldId id="279" r:id="rId2"/>
    <p:sldId id="297" r:id="rId3"/>
    <p:sldId id="298" r:id="rId4"/>
    <p:sldId id="318" r:id="rId5"/>
    <p:sldId id="303" r:id="rId6"/>
    <p:sldId id="304" r:id="rId7"/>
    <p:sldId id="305" r:id="rId8"/>
    <p:sldId id="320" r:id="rId9"/>
    <p:sldId id="314" r:id="rId10"/>
    <p:sldId id="327" r:id="rId11"/>
    <p:sldId id="326" r:id="rId12"/>
    <p:sldId id="307" r:id="rId13"/>
    <p:sldId id="321" r:id="rId14"/>
    <p:sldId id="311" r:id="rId15"/>
    <p:sldId id="312" r:id="rId16"/>
    <p:sldId id="322" r:id="rId17"/>
    <p:sldId id="325" r:id="rId18"/>
    <p:sldId id="323" r:id="rId19"/>
    <p:sldId id="316" r:id="rId20"/>
    <p:sldId id="317" r:id="rId21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无标题节" id="{C3E764B6-3349-7446-97D0-77A2E5ECBD10}">
          <p14:sldIdLst>
            <p14:sldId id="279"/>
            <p14:sldId id="297"/>
            <p14:sldId id="298"/>
            <p14:sldId id="318"/>
            <p14:sldId id="303"/>
            <p14:sldId id="304"/>
            <p14:sldId id="305"/>
            <p14:sldId id="320"/>
            <p14:sldId id="314"/>
            <p14:sldId id="327"/>
            <p14:sldId id="326"/>
            <p14:sldId id="307"/>
            <p14:sldId id="321"/>
            <p14:sldId id="311"/>
            <p14:sldId id="312"/>
            <p14:sldId id="322"/>
            <p14:sldId id="325"/>
            <p14:sldId id="323"/>
            <p14:sldId id="316"/>
            <p14:sldId id="31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7F08"/>
    <a:srgbClr val="08F1F4"/>
    <a:srgbClr val="0C0588"/>
    <a:srgbClr val="0AE9F5"/>
    <a:srgbClr val="00C9DC"/>
    <a:srgbClr val="969696"/>
    <a:srgbClr val="254FEB"/>
    <a:srgbClr val="F0F5FC"/>
    <a:srgbClr val="0A3CF5"/>
    <a:srgbClr val="0A06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86"/>
    <p:restoredTop sz="96405"/>
  </p:normalViewPr>
  <p:slideViewPr>
    <p:cSldViewPr snapToGrid="0" snapToObjects="1">
      <p:cViewPr>
        <p:scale>
          <a:sx n="66" d="100"/>
          <a:sy n="66" d="100"/>
        </p:scale>
        <p:origin x="1308" y="10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2A1F87-F110-1C45-9864-1659D3ED583F}" type="datetimeFigureOut">
              <a:rPr kumimoji="1" lang="zh-CN" altLang="en-US" smtClean="0"/>
              <a:t>2026/7/27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D39FF4-4997-9F4F-A2B0-9107E5679A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5" Type="http://schemas.openxmlformats.org/officeDocument/2006/relationships/image" Target="../media/image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5" Type="http://schemas.openxmlformats.org/officeDocument/2006/relationships/image" Target="../media/image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5" Type="http://schemas.openxmlformats.org/officeDocument/2006/relationships/image" Target="../media/image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5" Type="http://schemas.openxmlformats.org/officeDocument/2006/relationships/image" Target="../media/image2.png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5" Type="http://schemas.openxmlformats.org/officeDocument/2006/relationships/image" Target="../media/image2.png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image" Target="../media/image2.png"/><Relationship Id="rId4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5" Type="http://schemas.openxmlformats.org/officeDocument/2006/relationships/image" Target="../media/image2.png"/><Relationship Id="rId4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/Users/francesliu/Library/Containers/com.tencent.xinWeChat/Data/Library/Application Support/com.tencent.xinWeChat/2.0b4.0.9/b76063dd929128abacbe771c150456ce/Message/MessageTemp/cb658cc32c427923f1d8a81f02842996/File/主画面转曲.jpg主画面转曲"/>
          <p:cNvPicPr>
            <a:picLocks noChangeAspect="1"/>
          </p:cNvPicPr>
          <p:nvPr userDrawn="1"/>
        </p:nvPicPr>
        <p:blipFill>
          <a:blip r:embed="rId2"/>
          <a:srcRect l="5" r="5"/>
          <a:stretch>
            <a:fillRect/>
          </a:stretch>
        </p:blipFill>
        <p:spPr>
          <a:xfrm>
            <a:off x="635" y="0"/>
            <a:ext cx="12190730" cy="6858000"/>
          </a:xfrm>
          <a:prstGeom prst="rect">
            <a:avLst/>
          </a:prstGeom>
        </p:spPr>
      </p:pic>
      <p:sp>
        <p:nvSpPr>
          <p:cNvPr id="37" name="标题 1"/>
          <p:cNvSpPr>
            <a:spLocks noGrp="1"/>
          </p:cNvSpPr>
          <p:nvPr>
            <p:ph type="ctrTitle" hasCustomPrompt="1"/>
          </p:nvPr>
        </p:nvSpPr>
        <p:spPr>
          <a:xfrm>
            <a:off x="1157605" y="1861820"/>
            <a:ext cx="9876790" cy="175895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6000" b="1" i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单击此处编辑作品名称</a:t>
            </a:r>
          </a:p>
        </p:txBody>
      </p:sp>
      <p:sp>
        <p:nvSpPr>
          <p:cNvPr id="38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BA00916-396A-A444-B6A6-572F44C7530F}" type="datetimeFigureOut">
              <a:rPr kumimoji="1" lang="zh-CN" altLang="en-US" smtClean="0"/>
              <a:t>2026/7/27</a:t>
            </a:fld>
            <a:endParaRPr kumimoji="1" lang="zh-CN" altLang="en-US"/>
          </a:p>
        </p:txBody>
      </p:sp>
      <p:sp>
        <p:nvSpPr>
          <p:cNvPr id="3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4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4" name="文本占位符 9"/>
          <p:cNvSpPr>
            <a:spLocks noGrp="1"/>
          </p:cNvSpPr>
          <p:nvPr>
            <p:ph type="body" sz="quarter" idx="14" hasCustomPrompt="1"/>
          </p:nvPr>
        </p:nvSpPr>
        <p:spPr>
          <a:xfrm>
            <a:off x="5099050" y="4641215"/>
            <a:ext cx="3993515" cy="290195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20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</a:lstStyle>
          <a:p>
            <a:pPr lvl="0"/>
            <a:r>
              <a:rPr kumimoji="1" lang="zh-CN" altLang="en-US" dirty="0"/>
              <a:t>编辑队伍名称</a:t>
            </a:r>
            <a:r>
              <a:rPr kumimoji="1" lang="en-US" altLang="zh-CN" dirty="0"/>
              <a:t> </a:t>
            </a:r>
            <a:r>
              <a:rPr kumimoji="1" lang="zh-CN" altLang="en-US" dirty="0"/>
              <a:t>禁止出现学校和成员信息</a:t>
            </a:r>
          </a:p>
        </p:txBody>
      </p:sp>
      <p:sp>
        <p:nvSpPr>
          <p:cNvPr id="7" name="文本占位符 9"/>
          <p:cNvSpPr>
            <a:spLocks noGrp="1"/>
          </p:cNvSpPr>
          <p:nvPr>
            <p:ph type="body" sz="quarter" idx="20" hasCustomPrompt="1"/>
          </p:nvPr>
        </p:nvSpPr>
        <p:spPr>
          <a:xfrm>
            <a:off x="5099050" y="5077460"/>
            <a:ext cx="3992880" cy="290195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20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</a:lstStyle>
          <a:p>
            <a:pPr lvl="0"/>
            <a:r>
              <a:rPr kumimoji="1" lang="zh-CN" altLang="en-US" dirty="0"/>
              <a:t>编辑完成日期</a:t>
            </a:r>
            <a:r>
              <a:rPr kumimoji="1" lang="en-US" altLang="zh-CN" dirty="0"/>
              <a:t> </a:t>
            </a:r>
            <a:r>
              <a:rPr kumimoji="1" lang="zh-CN" altLang="en-US" dirty="0">
                <a:sym typeface="+mn-ea"/>
              </a:rPr>
              <a:t>禁止出现学校和成员信息</a:t>
            </a:r>
            <a:endParaRPr kumimoji="1" lang="zh-CN" altLang="en-US" dirty="0"/>
          </a:p>
          <a:p>
            <a:pPr lvl="0"/>
            <a:endParaRPr kumimoji="1" lang="en-US" altLang="zh-CN" dirty="0"/>
          </a:p>
        </p:txBody>
      </p:sp>
      <p:sp>
        <p:nvSpPr>
          <p:cNvPr id="9" name="文本占位符 9"/>
          <p:cNvSpPr>
            <a:spLocks noGrp="1"/>
          </p:cNvSpPr>
          <p:nvPr>
            <p:ph type="body" sz="quarter" idx="22" hasCustomPrompt="1"/>
          </p:nvPr>
        </p:nvSpPr>
        <p:spPr>
          <a:xfrm>
            <a:off x="3937218" y="4640664"/>
            <a:ext cx="1161805" cy="290369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20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</a:lstStyle>
          <a:p>
            <a:pPr lvl="0"/>
            <a:r>
              <a:rPr kumimoji="1" lang="zh-CN" altLang="en-US" dirty="0"/>
              <a:t>参赛团队：</a:t>
            </a:r>
          </a:p>
        </p:txBody>
      </p:sp>
      <p:sp>
        <p:nvSpPr>
          <p:cNvPr id="54" name="文本占位符 9"/>
          <p:cNvSpPr>
            <a:spLocks noGrp="1"/>
          </p:cNvSpPr>
          <p:nvPr>
            <p:ph type="body" sz="quarter" idx="25" hasCustomPrompt="1"/>
          </p:nvPr>
        </p:nvSpPr>
        <p:spPr>
          <a:xfrm>
            <a:off x="3937218" y="5077480"/>
            <a:ext cx="1161805" cy="290371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20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</a:lstStyle>
          <a:p>
            <a:pPr lvl="0"/>
            <a:r>
              <a:rPr kumimoji="1" lang="zh-CN" altLang="en-US" dirty="0"/>
              <a:t>完成日期：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2026/7/27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grpSp>
        <p:nvGrpSpPr>
          <p:cNvPr id="105" name="组合 104"/>
          <p:cNvGrpSpPr/>
          <p:nvPr userDrawn="1"/>
        </p:nvGrpSpPr>
        <p:grpSpPr>
          <a:xfrm>
            <a:off x="364475" y="2361991"/>
            <a:ext cx="4978706" cy="1729076"/>
            <a:chOff x="342441" y="2221843"/>
            <a:chExt cx="4978706" cy="1729076"/>
          </a:xfrm>
        </p:grpSpPr>
        <p:sp>
          <p:nvSpPr>
            <p:cNvPr id="107" name="标题 1"/>
            <p:cNvSpPr txBox="1"/>
            <p:nvPr userDrawn="1">
              <p:custDataLst>
                <p:tags r:id="rId1"/>
              </p:custDataLst>
            </p:nvPr>
          </p:nvSpPr>
          <p:spPr>
            <a:xfrm>
              <a:off x="1168706" y="3243360"/>
              <a:ext cx="3326176" cy="70755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1" kern="1200">
                  <a:solidFill>
                    <a:schemeClr val="tx2">
                      <a:lumMod val="50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kumimoji="1" lang="en-US" altLang="zh-CN" sz="4000" dirty="0">
                  <a:solidFill>
                    <a:schemeClr val="tx2">
                      <a:lumMod val="20000"/>
                      <a:lumOff val="80000"/>
                      <a:alpha val="30000"/>
                    </a:schemeClr>
                  </a:solidFill>
                </a:rPr>
                <a:t>CONTENTS</a:t>
              </a:r>
            </a:p>
          </p:txBody>
        </p:sp>
        <p:sp>
          <p:nvSpPr>
            <p:cNvPr id="112" name="标题 1"/>
            <p:cNvSpPr txBox="1"/>
            <p:nvPr userDrawn="1">
              <p:custDataLst>
                <p:tags r:id="rId2"/>
              </p:custDataLst>
            </p:nvPr>
          </p:nvSpPr>
          <p:spPr>
            <a:xfrm>
              <a:off x="342441" y="2221843"/>
              <a:ext cx="4978706" cy="102151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1" kern="1200">
                  <a:solidFill>
                    <a:schemeClr val="tx2">
                      <a:lumMod val="50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kumimoji="1" lang="zh-CN" altLang="en-US" sz="6600" dirty="0">
                  <a:solidFill>
                    <a:srgbClr val="080A12"/>
                  </a:solidFill>
                </a:rPr>
                <a:t>目录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15705" y="137795"/>
            <a:ext cx="3376291" cy="597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/Users/francesliu/Library/Containers/com.tencent.xinWeChat/Data/Library/Application Support/com.tencent.xinWeChat/2.0b4.0.9/b76063dd929128abacbe771c150456ce/Message/MessageTemp/cb658cc32c427923f1d8a81f02842996/File/主画面转曲.jpg主画面转曲"/>
          <p:cNvPicPr>
            <a:picLocks noChangeAspect="1"/>
          </p:cNvPicPr>
          <p:nvPr userDrawn="1"/>
        </p:nvPicPr>
        <p:blipFill>
          <a:blip r:embed="rId2"/>
          <a:srcRect l="5" r="5"/>
          <a:stretch>
            <a:fillRect/>
          </a:stretch>
        </p:blipFill>
        <p:spPr>
          <a:xfrm>
            <a:off x="635" y="0"/>
            <a:ext cx="1219073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2026/7/27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8" name="标题 1"/>
          <p:cNvSpPr txBox="1"/>
          <p:nvPr userDrawn="1"/>
        </p:nvSpPr>
        <p:spPr>
          <a:xfrm>
            <a:off x="2316480" y="2591380"/>
            <a:ext cx="2661920" cy="838835"/>
          </a:xfrm>
          <a:prstGeom prst="rect">
            <a:avLst/>
          </a:prstGeom>
          <a:noFill/>
        </p:spPr>
        <p:txBody>
          <a:bodyPr vert="horz" wrap="square" lIns="90000" tIns="45720" rIns="91440" bIns="4572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kumimoji="1" lang="en-US" altLang="zh-CN" sz="5400" b="1" cap="none" spc="0" dirty="0">
                <a:ln w="6600">
                  <a:noFill/>
                  <a:prstDash val="solid"/>
                </a:ln>
                <a:solidFill>
                  <a:schemeClr val="bg1"/>
                </a:solidFill>
                <a:effectLst/>
              </a:rPr>
              <a:t>Part 01</a:t>
            </a:r>
          </a:p>
        </p:txBody>
      </p:sp>
      <p:sp>
        <p:nvSpPr>
          <p:cNvPr id="29" name="文本占位符 17"/>
          <p:cNvSpPr>
            <a:spLocks noGrp="1"/>
          </p:cNvSpPr>
          <p:nvPr>
            <p:ph type="body" sz="quarter" idx="13" hasCustomPrompt="1"/>
          </p:nvPr>
        </p:nvSpPr>
        <p:spPr>
          <a:xfrm>
            <a:off x="5192421" y="2453241"/>
            <a:ext cx="4304799" cy="1115113"/>
          </a:xfrm>
        </p:spPr>
        <p:txBody>
          <a:bodyPr lIns="90000" anchor="ctr">
            <a:noAutofit/>
          </a:bodyPr>
          <a:lstStyle>
            <a:lvl1pPr marL="0" indent="0" algn="l">
              <a:buNone/>
              <a:defRPr sz="6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zh-CN" altLang="en-US" dirty="0"/>
              <a:t>项目介绍</a:t>
            </a:r>
          </a:p>
        </p:txBody>
      </p:sp>
      <p:sp>
        <p:nvSpPr>
          <p:cNvPr id="42" name="文本占位符 41"/>
          <p:cNvSpPr>
            <a:spLocks noGrp="1"/>
          </p:cNvSpPr>
          <p:nvPr>
            <p:ph type="body" sz="quarter" idx="14" hasCustomPrompt="1"/>
          </p:nvPr>
        </p:nvSpPr>
        <p:spPr>
          <a:xfrm>
            <a:off x="2330450" y="3770630"/>
            <a:ext cx="7531100" cy="972185"/>
          </a:xfrm>
        </p:spPr>
        <p:txBody>
          <a:bodyPr>
            <a:normAutofit/>
          </a:bodyPr>
          <a:lstStyle>
            <a:lvl1pPr marL="0" indent="0" algn="r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CN" altLang="en-US" dirty="0"/>
              <a:t>单击编辑文本，文字是您思想的提炼，为了最终演示的良好效果，请尽量言简意赅的阐述观点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2026/7/27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25" name="任意形状 24"/>
          <p:cNvSpPr/>
          <p:nvPr userDrawn="1">
            <p:custDataLst>
              <p:tags r:id="rId1"/>
            </p:custDataLst>
          </p:nvPr>
        </p:nvSpPr>
        <p:spPr>
          <a:xfrm>
            <a:off x="1" y="6533215"/>
            <a:ext cx="12192553" cy="214286"/>
          </a:xfrm>
          <a:custGeom>
            <a:avLst/>
            <a:gdLst>
              <a:gd name="connsiteX0" fmla="*/ 12080953 w 12192553"/>
              <a:gd name="connsiteY0" fmla="*/ 0 h 214286"/>
              <a:gd name="connsiteX1" fmla="*/ 12192553 w 12192553"/>
              <a:gd name="connsiteY1" fmla="*/ 0 h 214286"/>
              <a:gd name="connsiteX2" fmla="*/ 12192553 w 12192553"/>
              <a:gd name="connsiteY2" fmla="*/ 214286 h 214286"/>
              <a:gd name="connsiteX3" fmla="*/ 12080953 w 12192553"/>
              <a:gd name="connsiteY3" fmla="*/ 214286 h 214286"/>
              <a:gd name="connsiteX4" fmla="*/ 11883483 w 12192553"/>
              <a:gd name="connsiteY4" fmla="*/ 0 h 214286"/>
              <a:gd name="connsiteX5" fmla="*/ 11995083 w 12192553"/>
              <a:gd name="connsiteY5" fmla="*/ 0 h 214286"/>
              <a:gd name="connsiteX6" fmla="*/ 11995083 w 12192553"/>
              <a:gd name="connsiteY6" fmla="*/ 214286 h 214286"/>
              <a:gd name="connsiteX7" fmla="*/ 11883483 w 12192553"/>
              <a:gd name="connsiteY7" fmla="*/ 214286 h 214286"/>
              <a:gd name="connsiteX8" fmla="*/ 11686013 w 12192553"/>
              <a:gd name="connsiteY8" fmla="*/ 0 h 214286"/>
              <a:gd name="connsiteX9" fmla="*/ 11797613 w 12192553"/>
              <a:gd name="connsiteY9" fmla="*/ 0 h 214286"/>
              <a:gd name="connsiteX10" fmla="*/ 11797613 w 12192553"/>
              <a:gd name="connsiteY10" fmla="*/ 214286 h 214286"/>
              <a:gd name="connsiteX11" fmla="*/ 11686013 w 12192553"/>
              <a:gd name="connsiteY11" fmla="*/ 214286 h 214286"/>
              <a:gd name="connsiteX12" fmla="*/ 0 w 12192553"/>
              <a:gd name="connsiteY12" fmla="*/ 0 h 214286"/>
              <a:gd name="connsiteX13" fmla="*/ 11588399 w 12192553"/>
              <a:gd name="connsiteY13" fmla="*/ 0 h 214286"/>
              <a:gd name="connsiteX14" fmla="*/ 11588399 w 12192553"/>
              <a:gd name="connsiteY14" fmla="*/ 214286 h 214286"/>
              <a:gd name="connsiteX15" fmla="*/ 0 w 12192553"/>
              <a:gd name="connsiteY15" fmla="*/ 214286 h 214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>
            <a:gsLst>
              <a:gs pos="100000">
                <a:srgbClr val="642FFF"/>
              </a:gs>
              <a:gs pos="0">
                <a:srgbClr val="254FE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en-US" altLang="zh-CN" dirty="0"/>
              <a:t>1.1 </a:t>
            </a:r>
            <a:r>
              <a:rPr lang="zh-CN" altLang="en-US" dirty="0"/>
              <a:t>设计背景</a:t>
            </a:r>
          </a:p>
        </p:txBody>
      </p:sp>
      <p:sp>
        <p:nvSpPr>
          <p:cNvPr id="8" name="任意多边形 7"/>
          <p:cNvSpPr/>
          <p:nvPr userDrawn="1">
            <p:custDataLst>
              <p:tags r:id="rId3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15705" y="137795"/>
            <a:ext cx="3376291" cy="597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2026/7/27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任意形状 24"/>
          <p:cNvSpPr/>
          <p:nvPr userDrawn="1">
            <p:custDataLst>
              <p:tags r:id="rId1"/>
            </p:custDataLst>
          </p:nvPr>
        </p:nvSpPr>
        <p:spPr>
          <a:xfrm>
            <a:off x="1" y="6533215"/>
            <a:ext cx="12192553" cy="214286"/>
          </a:xfrm>
          <a:custGeom>
            <a:avLst/>
            <a:gdLst>
              <a:gd name="connsiteX0" fmla="*/ 12080953 w 12192553"/>
              <a:gd name="connsiteY0" fmla="*/ 0 h 214286"/>
              <a:gd name="connsiteX1" fmla="*/ 12192553 w 12192553"/>
              <a:gd name="connsiteY1" fmla="*/ 0 h 214286"/>
              <a:gd name="connsiteX2" fmla="*/ 12192553 w 12192553"/>
              <a:gd name="connsiteY2" fmla="*/ 214286 h 214286"/>
              <a:gd name="connsiteX3" fmla="*/ 12080953 w 12192553"/>
              <a:gd name="connsiteY3" fmla="*/ 214286 h 214286"/>
              <a:gd name="connsiteX4" fmla="*/ 11883483 w 12192553"/>
              <a:gd name="connsiteY4" fmla="*/ 0 h 214286"/>
              <a:gd name="connsiteX5" fmla="*/ 11995083 w 12192553"/>
              <a:gd name="connsiteY5" fmla="*/ 0 h 214286"/>
              <a:gd name="connsiteX6" fmla="*/ 11995083 w 12192553"/>
              <a:gd name="connsiteY6" fmla="*/ 214286 h 214286"/>
              <a:gd name="connsiteX7" fmla="*/ 11883483 w 12192553"/>
              <a:gd name="connsiteY7" fmla="*/ 214286 h 214286"/>
              <a:gd name="connsiteX8" fmla="*/ 11686013 w 12192553"/>
              <a:gd name="connsiteY8" fmla="*/ 0 h 214286"/>
              <a:gd name="connsiteX9" fmla="*/ 11797613 w 12192553"/>
              <a:gd name="connsiteY9" fmla="*/ 0 h 214286"/>
              <a:gd name="connsiteX10" fmla="*/ 11797613 w 12192553"/>
              <a:gd name="connsiteY10" fmla="*/ 214286 h 214286"/>
              <a:gd name="connsiteX11" fmla="*/ 11686013 w 12192553"/>
              <a:gd name="connsiteY11" fmla="*/ 214286 h 214286"/>
              <a:gd name="connsiteX12" fmla="*/ 0 w 12192553"/>
              <a:gd name="connsiteY12" fmla="*/ 0 h 214286"/>
              <a:gd name="connsiteX13" fmla="*/ 11588399 w 12192553"/>
              <a:gd name="connsiteY13" fmla="*/ 0 h 214286"/>
              <a:gd name="connsiteX14" fmla="*/ 11588399 w 12192553"/>
              <a:gd name="connsiteY14" fmla="*/ 214286 h 214286"/>
              <a:gd name="connsiteX15" fmla="*/ 0 w 12192553"/>
              <a:gd name="connsiteY15" fmla="*/ 214286 h 214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>
            <a:gsLst>
              <a:gs pos="100000">
                <a:srgbClr val="642FFF"/>
              </a:gs>
              <a:gs pos="0">
                <a:srgbClr val="254FE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1.2 </a:t>
            </a:r>
            <a:r>
              <a:rPr lang="zh-CN" altLang="en-US" dirty="0"/>
              <a:t>设计目标</a:t>
            </a:r>
          </a:p>
        </p:txBody>
      </p:sp>
      <p:sp>
        <p:nvSpPr>
          <p:cNvPr id="10" name="任意多边形 9"/>
          <p:cNvSpPr/>
          <p:nvPr userDrawn="1">
            <p:custDataLst>
              <p:tags r:id="rId3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15705" y="137795"/>
            <a:ext cx="3376291" cy="597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2026/7/27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任意形状 24"/>
          <p:cNvSpPr/>
          <p:nvPr userDrawn="1">
            <p:custDataLst>
              <p:tags r:id="rId1"/>
            </p:custDataLst>
          </p:nvPr>
        </p:nvSpPr>
        <p:spPr>
          <a:xfrm>
            <a:off x="1" y="6533215"/>
            <a:ext cx="12192553" cy="214286"/>
          </a:xfrm>
          <a:custGeom>
            <a:avLst/>
            <a:gdLst>
              <a:gd name="connsiteX0" fmla="*/ 12080953 w 12192553"/>
              <a:gd name="connsiteY0" fmla="*/ 0 h 214286"/>
              <a:gd name="connsiteX1" fmla="*/ 12192553 w 12192553"/>
              <a:gd name="connsiteY1" fmla="*/ 0 h 214286"/>
              <a:gd name="connsiteX2" fmla="*/ 12192553 w 12192553"/>
              <a:gd name="connsiteY2" fmla="*/ 214286 h 214286"/>
              <a:gd name="connsiteX3" fmla="*/ 12080953 w 12192553"/>
              <a:gd name="connsiteY3" fmla="*/ 214286 h 214286"/>
              <a:gd name="connsiteX4" fmla="*/ 11883483 w 12192553"/>
              <a:gd name="connsiteY4" fmla="*/ 0 h 214286"/>
              <a:gd name="connsiteX5" fmla="*/ 11995083 w 12192553"/>
              <a:gd name="connsiteY5" fmla="*/ 0 h 214286"/>
              <a:gd name="connsiteX6" fmla="*/ 11995083 w 12192553"/>
              <a:gd name="connsiteY6" fmla="*/ 214286 h 214286"/>
              <a:gd name="connsiteX7" fmla="*/ 11883483 w 12192553"/>
              <a:gd name="connsiteY7" fmla="*/ 214286 h 214286"/>
              <a:gd name="connsiteX8" fmla="*/ 11686013 w 12192553"/>
              <a:gd name="connsiteY8" fmla="*/ 0 h 214286"/>
              <a:gd name="connsiteX9" fmla="*/ 11797613 w 12192553"/>
              <a:gd name="connsiteY9" fmla="*/ 0 h 214286"/>
              <a:gd name="connsiteX10" fmla="*/ 11797613 w 12192553"/>
              <a:gd name="connsiteY10" fmla="*/ 214286 h 214286"/>
              <a:gd name="connsiteX11" fmla="*/ 11686013 w 12192553"/>
              <a:gd name="connsiteY11" fmla="*/ 214286 h 214286"/>
              <a:gd name="connsiteX12" fmla="*/ 0 w 12192553"/>
              <a:gd name="connsiteY12" fmla="*/ 0 h 214286"/>
              <a:gd name="connsiteX13" fmla="*/ 11588399 w 12192553"/>
              <a:gd name="connsiteY13" fmla="*/ 0 h 214286"/>
              <a:gd name="connsiteX14" fmla="*/ 11588399 w 12192553"/>
              <a:gd name="connsiteY14" fmla="*/ 214286 h 214286"/>
              <a:gd name="connsiteX15" fmla="*/ 0 w 12192553"/>
              <a:gd name="connsiteY15" fmla="*/ 214286 h 214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>
            <a:gsLst>
              <a:gs pos="100000">
                <a:srgbClr val="642FFF"/>
              </a:gs>
              <a:gs pos="0">
                <a:srgbClr val="254FE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1.3 </a:t>
            </a:r>
            <a:r>
              <a:rPr lang="zh-CN" altLang="en-US" dirty="0"/>
              <a:t>设计简介</a:t>
            </a:r>
          </a:p>
        </p:txBody>
      </p:sp>
      <p:sp>
        <p:nvSpPr>
          <p:cNvPr id="10" name="任意多边形 9"/>
          <p:cNvSpPr/>
          <p:nvPr userDrawn="1">
            <p:custDataLst>
              <p:tags r:id="rId3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15705" y="137795"/>
            <a:ext cx="3376291" cy="597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2026/7/27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7" name="任意形状 24"/>
          <p:cNvSpPr/>
          <p:nvPr userDrawn="1">
            <p:custDataLst>
              <p:tags r:id="rId1"/>
            </p:custDataLst>
          </p:nvPr>
        </p:nvSpPr>
        <p:spPr>
          <a:xfrm>
            <a:off x="1" y="6533215"/>
            <a:ext cx="12192553" cy="214286"/>
          </a:xfrm>
          <a:custGeom>
            <a:avLst/>
            <a:gdLst>
              <a:gd name="connsiteX0" fmla="*/ 12080953 w 12192553"/>
              <a:gd name="connsiteY0" fmla="*/ 0 h 214286"/>
              <a:gd name="connsiteX1" fmla="*/ 12192553 w 12192553"/>
              <a:gd name="connsiteY1" fmla="*/ 0 h 214286"/>
              <a:gd name="connsiteX2" fmla="*/ 12192553 w 12192553"/>
              <a:gd name="connsiteY2" fmla="*/ 214286 h 214286"/>
              <a:gd name="connsiteX3" fmla="*/ 12080953 w 12192553"/>
              <a:gd name="connsiteY3" fmla="*/ 214286 h 214286"/>
              <a:gd name="connsiteX4" fmla="*/ 11883483 w 12192553"/>
              <a:gd name="connsiteY4" fmla="*/ 0 h 214286"/>
              <a:gd name="connsiteX5" fmla="*/ 11995083 w 12192553"/>
              <a:gd name="connsiteY5" fmla="*/ 0 h 214286"/>
              <a:gd name="connsiteX6" fmla="*/ 11995083 w 12192553"/>
              <a:gd name="connsiteY6" fmla="*/ 214286 h 214286"/>
              <a:gd name="connsiteX7" fmla="*/ 11883483 w 12192553"/>
              <a:gd name="connsiteY7" fmla="*/ 214286 h 214286"/>
              <a:gd name="connsiteX8" fmla="*/ 11686013 w 12192553"/>
              <a:gd name="connsiteY8" fmla="*/ 0 h 214286"/>
              <a:gd name="connsiteX9" fmla="*/ 11797613 w 12192553"/>
              <a:gd name="connsiteY9" fmla="*/ 0 h 214286"/>
              <a:gd name="connsiteX10" fmla="*/ 11797613 w 12192553"/>
              <a:gd name="connsiteY10" fmla="*/ 214286 h 214286"/>
              <a:gd name="connsiteX11" fmla="*/ 11686013 w 12192553"/>
              <a:gd name="connsiteY11" fmla="*/ 214286 h 214286"/>
              <a:gd name="connsiteX12" fmla="*/ 0 w 12192553"/>
              <a:gd name="connsiteY12" fmla="*/ 0 h 214286"/>
              <a:gd name="connsiteX13" fmla="*/ 11588399 w 12192553"/>
              <a:gd name="connsiteY13" fmla="*/ 0 h 214286"/>
              <a:gd name="connsiteX14" fmla="*/ 11588399 w 12192553"/>
              <a:gd name="connsiteY14" fmla="*/ 214286 h 214286"/>
              <a:gd name="connsiteX15" fmla="*/ 0 w 12192553"/>
              <a:gd name="connsiteY15" fmla="*/ 214286 h 214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>
            <a:gsLst>
              <a:gs pos="100000">
                <a:srgbClr val="642FFF"/>
              </a:gs>
              <a:gs pos="0">
                <a:srgbClr val="254FE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1.4 </a:t>
            </a:r>
            <a:r>
              <a:rPr lang="zh-CN" altLang="en-US" dirty="0"/>
              <a:t>作品原创性情况说明</a:t>
            </a:r>
          </a:p>
        </p:txBody>
      </p:sp>
      <p:sp>
        <p:nvSpPr>
          <p:cNvPr id="10" name="任意多边形 9"/>
          <p:cNvSpPr/>
          <p:nvPr userDrawn="1">
            <p:custDataLst>
              <p:tags r:id="rId3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15705" y="137795"/>
            <a:ext cx="3376291" cy="597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/Users/francesliu/Library/Containers/com.tencent.xinWeChat/Data/Library/Application Support/com.tencent.xinWeChat/2.0b4.0.9/b76063dd929128abacbe771c150456ce/Message/MessageTemp/cb658cc32c427923f1d8a81f02842996/File/主画面转曲.jpg主画面转曲"/>
          <p:cNvPicPr>
            <a:picLocks noChangeAspect="1"/>
          </p:cNvPicPr>
          <p:nvPr userDrawn="1"/>
        </p:nvPicPr>
        <p:blipFill>
          <a:blip r:embed="rId5"/>
          <a:srcRect l="5" r="5"/>
          <a:stretch>
            <a:fillRect/>
          </a:stretch>
        </p:blipFill>
        <p:spPr>
          <a:xfrm>
            <a:off x="635" y="0"/>
            <a:ext cx="1219073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2026/7/27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4" name="标题 1"/>
          <p:cNvSpPr txBox="1"/>
          <p:nvPr userDrawn="1">
            <p:custDataLst>
              <p:tags r:id="rId1"/>
            </p:custDataLst>
          </p:nvPr>
        </p:nvSpPr>
        <p:spPr>
          <a:xfrm>
            <a:off x="2316480" y="2591380"/>
            <a:ext cx="2661920" cy="838835"/>
          </a:xfrm>
          <a:prstGeom prst="rect">
            <a:avLst/>
          </a:prstGeom>
          <a:noFill/>
        </p:spPr>
        <p:txBody>
          <a:bodyPr vert="horz" wrap="square" lIns="90000" tIns="45720" rIns="91440" bIns="4572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kumimoji="1" lang="en-US" altLang="zh-CN" sz="5400" b="1" cap="none" spc="0" dirty="0">
                <a:ln w="6600">
                  <a:noFill/>
                  <a:prstDash val="solid"/>
                </a:ln>
                <a:solidFill>
                  <a:schemeClr val="bg1"/>
                </a:solidFill>
                <a:effectLst/>
              </a:rPr>
              <a:t>Part 02</a:t>
            </a:r>
          </a:p>
        </p:txBody>
      </p:sp>
      <p:sp>
        <p:nvSpPr>
          <p:cNvPr id="15" name="文本占位符 17"/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192421" y="2453241"/>
            <a:ext cx="4304799" cy="1115113"/>
          </a:xfrm>
        </p:spPr>
        <p:txBody>
          <a:bodyPr lIns="90000" anchor="ctr">
            <a:noAutofit/>
          </a:bodyPr>
          <a:lstStyle>
            <a:lvl1pPr marL="0" indent="0" algn="l">
              <a:buNone/>
              <a:defRPr sz="6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zh-CN" altLang="en-US" dirty="0"/>
              <a:t>项目亮点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2330450" y="3770630"/>
            <a:ext cx="7531100" cy="972185"/>
          </a:xfrm>
        </p:spPr>
        <p:txBody>
          <a:bodyPr>
            <a:normAutofit/>
          </a:bodyPr>
          <a:lstStyle>
            <a:lvl1pPr marL="0" indent="0" algn="r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CN" altLang="en-US" dirty="0"/>
              <a:t>单击编辑文本，文字是您思想的提炼，为了最终演示的良好效果，请尽量言简意赅的阐述观点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2026/7/27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任意形状 24"/>
          <p:cNvSpPr/>
          <p:nvPr userDrawn="1">
            <p:custDataLst>
              <p:tags r:id="rId1"/>
            </p:custDataLst>
          </p:nvPr>
        </p:nvSpPr>
        <p:spPr>
          <a:xfrm>
            <a:off x="1" y="6533215"/>
            <a:ext cx="12192553" cy="214286"/>
          </a:xfrm>
          <a:custGeom>
            <a:avLst/>
            <a:gdLst>
              <a:gd name="connsiteX0" fmla="*/ 12080953 w 12192553"/>
              <a:gd name="connsiteY0" fmla="*/ 0 h 214286"/>
              <a:gd name="connsiteX1" fmla="*/ 12192553 w 12192553"/>
              <a:gd name="connsiteY1" fmla="*/ 0 h 214286"/>
              <a:gd name="connsiteX2" fmla="*/ 12192553 w 12192553"/>
              <a:gd name="connsiteY2" fmla="*/ 214286 h 214286"/>
              <a:gd name="connsiteX3" fmla="*/ 12080953 w 12192553"/>
              <a:gd name="connsiteY3" fmla="*/ 214286 h 214286"/>
              <a:gd name="connsiteX4" fmla="*/ 11883483 w 12192553"/>
              <a:gd name="connsiteY4" fmla="*/ 0 h 214286"/>
              <a:gd name="connsiteX5" fmla="*/ 11995083 w 12192553"/>
              <a:gd name="connsiteY5" fmla="*/ 0 h 214286"/>
              <a:gd name="connsiteX6" fmla="*/ 11995083 w 12192553"/>
              <a:gd name="connsiteY6" fmla="*/ 214286 h 214286"/>
              <a:gd name="connsiteX7" fmla="*/ 11883483 w 12192553"/>
              <a:gd name="connsiteY7" fmla="*/ 214286 h 214286"/>
              <a:gd name="connsiteX8" fmla="*/ 11686013 w 12192553"/>
              <a:gd name="connsiteY8" fmla="*/ 0 h 214286"/>
              <a:gd name="connsiteX9" fmla="*/ 11797613 w 12192553"/>
              <a:gd name="connsiteY9" fmla="*/ 0 h 214286"/>
              <a:gd name="connsiteX10" fmla="*/ 11797613 w 12192553"/>
              <a:gd name="connsiteY10" fmla="*/ 214286 h 214286"/>
              <a:gd name="connsiteX11" fmla="*/ 11686013 w 12192553"/>
              <a:gd name="connsiteY11" fmla="*/ 214286 h 214286"/>
              <a:gd name="connsiteX12" fmla="*/ 0 w 12192553"/>
              <a:gd name="connsiteY12" fmla="*/ 0 h 214286"/>
              <a:gd name="connsiteX13" fmla="*/ 11588399 w 12192553"/>
              <a:gd name="connsiteY13" fmla="*/ 0 h 214286"/>
              <a:gd name="connsiteX14" fmla="*/ 11588399 w 12192553"/>
              <a:gd name="connsiteY14" fmla="*/ 214286 h 214286"/>
              <a:gd name="connsiteX15" fmla="*/ 0 w 12192553"/>
              <a:gd name="connsiteY15" fmla="*/ 214286 h 214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>
            <a:gsLst>
              <a:gs pos="100000">
                <a:srgbClr val="642FFF"/>
              </a:gs>
              <a:gs pos="0">
                <a:srgbClr val="254FE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2.1 </a:t>
            </a:r>
            <a:r>
              <a:rPr lang="zh-CN" altLang="en-US" dirty="0"/>
              <a:t>功能亮点</a:t>
            </a:r>
          </a:p>
        </p:txBody>
      </p:sp>
      <p:sp>
        <p:nvSpPr>
          <p:cNvPr id="10" name="任意多边形 9"/>
          <p:cNvSpPr/>
          <p:nvPr userDrawn="1">
            <p:custDataLst>
              <p:tags r:id="rId3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15705" y="137795"/>
            <a:ext cx="3376291" cy="597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2026/7/27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任意形状 24"/>
          <p:cNvSpPr/>
          <p:nvPr userDrawn="1">
            <p:custDataLst>
              <p:tags r:id="rId1"/>
            </p:custDataLst>
          </p:nvPr>
        </p:nvSpPr>
        <p:spPr>
          <a:xfrm>
            <a:off x="1" y="6533215"/>
            <a:ext cx="12192553" cy="214286"/>
          </a:xfrm>
          <a:custGeom>
            <a:avLst/>
            <a:gdLst>
              <a:gd name="connsiteX0" fmla="*/ 12080953 w 12192553"/>
              <a:gd name="connsiteY0" fmla="*/ 0 h 214286"/>
              <a:gd name="connsiteX1" fmla="*/ 12192553 w 12192553"/>
              <a:gd name="connsiteY1" fmla="*/ 0 h 214286"/>
              <a:gd name="connsiteX2" fmla="*/ 12192553 w 12192553"/>
              <a:gd name="connsiteY2" fmla="*/ 214286 h 214286"/>
              <a:gd name="connsiteX3" fmla="*/ 12080953 w 12192553"/>
              <a:gd name="connsiteY3" fmla="*/ 214286 h 214286"/>
              <a:gd name="connsiteX4" fmla="*/ 11883483 w 12192553"/>
              <a:gd name="connsiteY4" fmla="*/ 0 h 214286"/>
              <a:gd name="connsiteX5" fmla="*/ 11995083 w 12192553"/>
              <a:gd name="connsiteY5" fmla="*/ 0 h 214286"/>
              <a:gd name="connsiteX6" fmla="*/ 11995083 w 12192553"/>
              <a:gd name="connsiteY6" fmla="*/ 214286 h 214286"/>
              <a:gd name="connsiteX7" fmla="*/ 11883483 w 12192553"/>
              <a:gd name="connsiteY7" fmla="*/ 214286 h 214286"/>
              <a:gd name="connsiteX8" fmla="*/ 11686013 w 12192553"/>
              <a:gd name="connsiteY8" fmla="*/ 0 h 214286"/>
              <a:gd name="connsiteX9" fmla="*/ 11797613 w 12192553"/>
              <a:gd name="connsiteY9" fmla="*/ 0 h 214286"/>
              <a:gd name="connsiteX10" fmla="*/ 11797613 w 12192553"/>
              <a:gd name="connsiteY10" fmla="*/ 214286 h 214286"/>
              <a:gd name="connsiteX11" fmla="*/ 11686013 w 12192553"/>
              <a:gd name="connsiteY11" fmla="*/ 214286 h 214286"/>
              <a:gd name="connsiteX12" fmla="*/ 0 w 12192553"/>
              <a:gd name="connsiteY12" fmla="*/ 0 h 214286"/>
              <a:gd name="connsiteX13" fmla="*/ 11588399 w 12192553"/>
              <a:gd name="connsiteY13" fmla="*/ 0 h 214286"/>
              <a:gd name="connsiteX14" fmla="*/ 11588399 w 12192553"/>
              <a:gd name="connsiteY14" fmla="*/ 214286 h 214286"/>
              <a:gd name="connsiteX15" fmla="*/ 0 w 12192553"/>
              <a:gd name="connsiteY15" fmla="*/ 214286 h 214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>
            <a:gsLst>
              <a:gs pos="100000">
                <a:srgbClr val="642FFF"/>
              </a:gs>
              <a:gs pos="0">
                <a:srgbClr val="254FE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2.2 XX</a:t>
            </a:r>
            <a:r>
              <a:rPr lang="zh-CN" altLang="en-US" dirty="0"/>
              <a:t>亮点</a:t>
            </a:r>
          </a:p>
        </p:txBody>
      </p:sp>
      <p:sp>
        <p:nvSpPr>
          <p:cNvPr id="10" name="任意多边形 9"/>
          <p:cNvSpPr/>
          <p:nvPr userDrawn="1">
            <p:custDataLst>
              <p:tags r:id="rId3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15705" y="137795"/>
            <a:ext cx="3376291" cy="597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/Users/francesliu/Library/Containers/com.tencent.xinWeChat/Data/Library/Application Support/com.tencent.xinWeChat/2.0b4.0.9/b76063dd929128abacbe771c150456ce/Message/MessageTemp/cb658cc32c427923f1d8a81f02842996/File/主画面转曲.jpg主画面转曲"/>
          <p:cNvPicPr>
            <a:picLocks noChangeAspect="1"/>
          </p:cNvPicPr>
          <p:nvPr userDrawn="1"/>
        </p:nvPicPr>
        <p:blipFill>
          <a:blip r:embed="rId5"/>
          <a:srcRect l="5" r="5"/>
          <a:stretch>
            <a:fillRect/>
          </a:stretch>
        </p:blipFill>
        <p:spPr>
          <a:xfrm>
            <a:off x="635" y="0"/>
            <a:ext cx="12190730" cy="6858000"/>
          </a:xfrm>
          <a:prstGeom prst="rect">
            <a:avLst/>
          </a:prstGeom>
        </p:spPr>
      </p:pic>
      <p:sp>
        <p:nvSpPr>
          <p:cNvPr id="15" name="标题 1"/>
          <p:cNvSpPr txBox="1"/>
          <p:nvPr userDrawn="1">
            <p:custDataLst>
              <p:tags r:id="rId1"/>
            </p:custDataLst>
          </p:nvPr>
        </p:nvSpPr>
        <p:spPr>
          <a:xfrm>
            <a:off x="2316480" y="2591380"/>
            <a:ext cx="2661920" cy="838835"/>
          </a:xfrm>
          <a:prstGeom prst="rect">
            <a:avLst/>
          </a:prstGeom>
          <a:noFill/>
        </p:spPr>
        <p:txBody>
          <a:bodyPr vert="horz" wrap="square" lIns="90000" tIns="45720" rIns="91440" bIns="4572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kumimoji="1" lang="en-US" altLang="zh-CN" sz="5400" b="1" cap="none" spc="0" dirty="0">
                <a:ln w="6600">
                  <a:noFill/>
                  <a:prstDash val="solid"/>
                </a:ln>
                <a:solidFill>
                  <a:schemeClr val="bg1"/>
                </a:solidFill>
                <a:effectLst/>
              </a:rPr>
              <a:t>Part 03</a:t>
            </a:r>
          </a:p>
        </p:txBody>
      </p:sp>
      <p:sp>
        <p:nvSpPr>
          <p:cNvPr id="16" name="文本占位符 17"/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192421" y="2453241"/>
            <a:ext cx="4304799" cy="1115113"/>
          </a:xfrm>
        </p:spPr>
        <p:txBody>
          <a:bodyPr lIns="90000" anchor="ctr">
            <a:noAutofit/>
          </a:bodyPr>
          <a:lstStyle>
            <a:lvl1pPr marL="0" indent="0" algn="l">
              <a:buNone/>
              <a:defRPr sz="6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zh-CN" altLang="en-US" dirty="0"/>
              <a:t>技术难点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2330450" y="3770630"/>
            <a:ext cx="7531100" cy="972185"/>
          </a:xfrm>
        </p:spPr>
        <p:txBody>
          <a:bodyPr>
            <a:normAutofit/>
          </a:bodyPr>
          <a:lstStyle>
            <a:lvl1pPr marL="0" indent="0" algn="r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CN" altLang="en-US" dirty="0"/>
              <a:t>单击编辑文本，文字是您思想的提炼，为了最终演示的良好效果，请尽量言简意赅的阐述观点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2026/7/27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任意形状 24"/>
          <p:cNvSpPr/>
          <p:nvPr userDrawn="1">
            <p:custDataLst>
              <p:tags r:id="rId1"/>
            </p:custDataLst>
          </p:nvPr>
        </p:nvSpPr>
        <p:spPr>
          <a:xfrm>
            <a:off x="1" y="6533215"/>
            <a:ext cx="12192553" cy="214286"/>
          </a:xfrm>
          <a:custGeom>
            <a:avLst/>
            <a:gdLst>
              <a:gd name="connsiteX0" fmla="*/ 12080953 w 12192553"/>
              <a:gd name="connsiteY0" fmla="*/ 0 h 214286"/>
              <a:gd name="connsiteX1" fmla="*/ 12192553 w 12192553"/>
              <a:gd name="connsiteY1" fmla="*/ 0 h 214286"/>
              <a:gd name="connsiteX2" fmla="*/ 12192553 w 12192553"/>
              <a:gd name="connsiteY2" fmla="*/ 214286 h 214286"/>
              <a:gd name="connsiteX3" fmla="*/ 12080953 w 12192553"/>
              <a:gd name="connsiteY3" fmla="*/ 214286 h 214286"/>
              <a:gd name="connsiteX4" fmla="*/ 11883483 w 12192553"/>
              <a:gd name="connsiteY4" fmla="*/ 0 h 214286"/>
              <a:gd name="connsiteX5" fmla="*/ 11995083 w 12192553"/>
              <a:gd name="connsiteY5" fmla="*/ 0 h 214286"/>
              <a:gd name="connsiteX6" fmla="*/ 11995083 w 12192553"/>
              <a:gd name="connsiteY6" fmla="*/ 214286 h 214286"/>
              <a:gd name="connsiteX7" fmla="*/ 11883483 w 12192553"/>
              <a:gd name="connsiteY7" fmla="*/ 214286 h 214286"/>
              <a:gd name="connsiteX8" fmla="*/ 11686013 w 12192553"/>
              <a:gd name="connsiteY8" fmla="*/ 0 h 214286"/>
              <a:gd name="connsiteX9" fmla="*/ 11797613 w 12192553"/>
              <a:gd name="connsiteY9" fmla="*/ 0 h 214286"/>
              <a:gd name="connsiteX10" fmla="*/ 11797613 w 12192553"/>
              <a:gd name="connsiteY10" fmla="*/ 214286 h 214286"/>
              <a:gd name="connsiteX11" fmla="*/ 11686013 w 12192553"/>
              <a:gd name="connsiteY11" fmla="*/ 214286 h 214286"/>
              <a:gd name="connsiteX12" fmla="*/ 0 w 12192553"/>
              <a:gd name="connsiteY12" fmla="*/ 0 h 214286"/>
              <a:gd name="connsiteX13" fmla="*/ 11588399 w 12192553"/>
              <a:gd name="connsiteY13" fmla="*/ 0 h 214286"/>
              <a:gd name="connsiteX14" fmla="*/ 11588399 w 12192553"/>
              <a:gd name="connsiteY14" fmla="*/ 214286 h 214286"/>
              <a:gd name="connsiteX15" fmla="*/ 0 w 12192553"/>
              <a:gd name="connsiteY15" fmla="*/ 214286 h 214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>
            <a:gsLst>
              <a:gs pos="100000">
                <a:srgbClr val="642FFF"/>
              </a:gs>
              <a:gs pos="0">
                <a:srgbClr val="254FE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3.1</a:t>
            </a:r>
            <a:endParaRPr lang="zh-CN" altLang="en-US" dirty="0"/>
          </a:p>
        </p:txBody>
      </p:sp>
      <p:sp>
        <p:nvSpPr>
          <p:cNvPr id="10" name="任意多边形 9"/>
          <p:cNvSpPr/>
          <p:nvPr userDrawn="1">
            <p:custDataLst>
              <p:tags r:id="rId3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15705" y="137795"/>
            <a:ext cx="3376291" cy="597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2026/7/27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任意形状 24"/>
          <p:cNvSpPr/>
          <p:nvPr userDrawn="1">
            <p:custDataLst>
              <p:tags r:id="rId1"/>
            </p:custDataLst>
          </p:nvPr>
        </p:nvSpPr>
        <p:spPr>
          <a:xfrm>
            <a:off x="1" y="6533215"/>
            <a:ext cx="12192553" cy="214286"/>
          </a:xfrm>
          <a:custGeom>
            <a:avLst/>
            <a:gdLst>
              <a:gd name="connsiteX0" fmla="*/ 12080953 w 12192553"/>
              <a:gd name="connsiteY0" fmla="*/ 0 h 214286"/>
              <a:gd name="connsiteX1" fmla="*/ 12192553 w 12192553"/>
              <a:gd name="connsiteY1" fmla="*/ 0 h 214286"/>
              <a:gd name="connsiteX2" fmla="*/ 12192553 w 12192553"/>
              <a:gd name="connsiteY2" fmla="*/ 214286 h 214286"/>
              <a:gd name="connsiteX3" fmla="*/ 12080953 w 12192553"/>
              <a:gd name="connsiteY3" fmla="*/ 214286 h 214286"/>
              <a:gd name="connsiteX4" fmla="*/ 11883483 w 12192553"/>
              <a:gd name="connsiteY4" fmla="*/ 0 h 214286"/>
              <a:gd name="connsiteX5" fmla="*/ 11995083 w 12192553"/>
              <a:gd name="connsiteY5" fmla="*/ 0 h 214286"/>
              <a:gd name="connsiteX6" fmla="*/ 11995083 w 12192553"/>
              <a:gd name="connsiteY6" fmla="*/ 214286 h 214286"/>
              <a:gd name="connsiteX7" fmla="*/ 11883483 w 12192553"/>
              <a:gd name="connsiteY7" fmla="*/ 214286 h 214286"/>
              <a:gd name="connsiteX8" fmla="*/ 11686013 w 12192553"/>
              <a:gd name="connsiteY8" fmla="*/ 0 h 214286"/>
              <a:gd name="connsiteX9" fmla="*/ 11797613 w 12192553"/>
              <a:gd name="connsiteY9" fmla="*/ 0 h 214286"/>
              <a:gd name="connsiteX10" fmla="*/ 11797613 w 12192553"/>
              <a:gd name="connsiteY10" fmla="*/ 214286 h 214286"/>
              <a:gd name="connsiteX11" fmla="*/ 11686013 w 12192553"/>
              <a:gd name="connsiteY11" fmla="*/ 214286 h 214286"/>
              <a:gd name="connsiteX12" fmla="*/ 0 w 12192553"/>
              <a:gd name="connsiteY12" fmla="*/ 0 h 214286"/>
              <a:gd name="connsiteX13" fmla="*/ 11588399 w 12192553"/>
              <a:gd name="connsiteY13" fmla="*/ 0 h 214286"/>
              <a:gd name="connsiteX14" fmla="*/ 11588399 w 12192553"/>
              <a:gd name="connsiteY14" fmla="*/ 214286 h 214286"/>
              <a:gd name="connsiteX15" fmla="*/ 0 w 12192553"/>
              <a:gd name="connsiteY15" fmla="*/ 214286 h 214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>
            <a:gsLst>
              <a:gs pos="100000">
                <a:srgbClr val="642FFF"/>
              </a:gs>
              <a:gs pos="0">
                <a:srgbClr val="254FE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3.2</a:t>
            </a:r>
            <a:endParaRPr lang="zh-CN" altLang="en-US" dirty="0"/>
          </a:p>
        </p:txBody>
      </p:sp>
      <p:sp>
        <p:nvSpPr>
          <p:cNvPr id="10" name="任意多边形 9"/>
          <p:cNvSpPr/>
          <p:nvPr userDrawn="1">
            <p:custDataLst>
              <p:tags r:id="rId3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15705" y="137795"/>
            <a:ext cx="3376291" cy="597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/Users/francesliu/Library/Containers/com.tencent.xinWeChat/Data/Library/Application Support/com.tencent.xinWeChat/2.0b4.0.9/b76063dd929128abacbe771c150456ce/Message/MessageTemp/cb658cc32c427923f1d8a81f02842996/File/主画面转曲.jpg主画面转曲"/>
          <p:cNvPicPr>
            <a:picLocks noChangeAspect="1"/>
          </p:cNvPicPr>
          <p:nvPr userDrawn="1"/>
        </p:nvPicPr>
        <p:blipFill>
          <a:blip r:embed="rId5"/>
          <a:srcRect l="5" r="5"/>
          <a:stretch>
            <a:fillRect/>
          </a:stretch>
        </p:blipFill>
        <p:spPr>
          <a:xfrm>
            <a:off x="635" y="0"/>
            <a:ext cx="12190730" cy="6858000"/>
          </a:xfrm>
          <a:prstGeom prst="rect">
            <a:avLst/>
          </a:prstGeom>
        </p:spPr>
      </p:pic>
      <p:sp>
        <p:nvSpPr>
          <p:cNvPr id="15" name="标题 1"/>
          <p:cNvSpPr txBox="1"/>
          <p:nvPr userDrawn="1">
            <p:custDataLst>
              <p:tags r:id="rId1"/>
            </p:custDataLst>
          </p:nvPr>
        </p:nvSpPr>
        <p:spPr>
          <a:xfrm>
            <a:off x="2316480" y="2591380"/>
            <a:ext cx="2661920" cy="838835"/>
          </a:xfrm>
          <a:prstGeom prst="rect">
            <a:avLst/>
          </a:prstGeom>
          <a:noFill/>
        </p:spPr>
        <p:txBody>
          <a:bodyPr vert="horz" wrap="square" lIns="90000" tIns="45720" rIns="91440" bIns="4572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kumimoji="1" lang="en-US" altLang="zh-CN" sz="5400" b="1" cap="none" spc="0" dirty="0">
                <a:ln w="6600">
                  <a:noFill/>
                  <a:prstDash val="solid"/>
                </a:ln>
                <a:solidFill>
                  <a:schemeClr val="bg1"/>
                </a:solidFill>
                <a:effectLst/>
              </a:rPr>
              <a:t>Part 04</a:t>
            </a:r>
          </a:p>
        </p:txBody>
      </p:sp>
      <p:sp>
        <p:nvSpPr>
          <p:cNvPr id="16" name="文本占位符 17"/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192421" y="2453241"/>
            <a:ext cx="4304799" cy="1115113"/>
          </a:xfrm>
        </p:spPr>
        <p:txBody>
          <a:bodyPr lIns="90000" anchor="ctr">
            <a:noAutofit/>
          </a:bodyPr>
          <a:lstStyle>
            <a:lvl1pPr marL="0" indent="0" algn="l">
              <a:buNone/>
              <a:defRPr sz="6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zh-CN" altLang="en-US" dirty="0"/>
              <a:t>项目测试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2330450" y="3770630"/>
            <a:ext cx="7531100" cy="972185"/>
          </a:xfrm>
        </p:spPr>
        <p:txBody>
          <a:bodyPr>
            <a:normAutofit/>
          </a:bodyPr>
          <a:lstStyle>
            <a:lvl1pPr marL="0" indent="0" algn="r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CN" altLang="en-US" dirty="0"/>
              <a:t>单击编辑文本，文字是您思想的提炼，为了最终演示的良好效果，请尽量言简意赅的阐述观点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2026/7/27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任意形状 24"/>
          <p:cNvSpPr/>
          <p:nvPr userDrawn="1">
            <p:custDataLst>
              <p:tags r:id="rId1"/>
            </p:custDataLst>
          </p:nvPr>
        </p:nvSpPr>
        <p:spPr>
          <a:xfrm>
            <a:off x="1" y="6533215"/>
            <a:ext cx="12192553" cy="214286"/>
          </a:xfrm>
          <a:custGeom>
            <a:avLst/>
            <a:gdLst>
              <a:gd name="connsiteX0" fmla="*/ 12080953 w 12192553"/>
              <a:gd name="connsiteY0" fmla="*/ 0 h 214286"/>
              <a:gd name="connsiteX1" fmla="*/ 12192553 w 12192553"/>
              <a:gd name="connsiteY1" fmla="*/ 0 h 214286"/>
              <a:gd name="connsiteX2" fmla="*/ 12192553 w 12192553"/>
              <a:gd name="connsiteY2" fmla="*/ 214286 h 214286"/>
              <a:gd name="connsiteX3" fmla="*/ 12080953 w 12192553"/>
              <a:gd name="connsiteY3" fmla="*/ 214286 h 214286"/>
              <a:gd name="connsiteX4" fmla="*/ 11883483 w 12192553"/>
              <a:gd name="connsiteY4" fmla="*/ 0 h 214286"/>
              <a:gd name="connsiteX5" fmla="*/ 11995083 w 12192553"/>
              <a:gd name="connsiteY5" fmla="*/ 0 h 214286"/>
              <a:gd name="connsiteX6" fmla="*/ 11995083 w 12192553"/>
              <a:gd name="connsiteY6" fmla="*/ 214286 h 214286"/>
              <a:gd name="connsiteX7" fmla="*/ 11883483 w 12192553"/>
              <a:gd name="connsiteY7" fmla="*/ 214286 h 214286"/>
              <a:gd name="connsiteX8" fmla="*/ 11686013 w 12192553"/>
              <a:gd name="connsiteY8" fmla="*/ 0 h 214286"/>
              <a:gd name="connsiteX9" fmla="*/ 11797613 w 12192553"/>
              <a:gd name="connsiteY9" fmla="*/ 0 h 214286"/>
              <a:gd name="connsiteX10" fmla="*/ 11797613 w 12192553"/>
              <a:gd name="connsiteY10" fmla="*/ 214286 h 214286"/>
              <a:gd name="connsiteX11" fmla="*/ 11686013 w 12192553"/>
              <a:gd name="connsiteY11" fmla="*/ 214286 h 214286"/>
              <a:gd name="connsiteX12" fmla="*/ 0 w 12192553"/>
              <a:gd name="connsiteY12" fmla="*/ 0 h 214286"/>
              <a:gd name="connsiteX13" fmla="*/ 11588399 w 12192553"/>
              <a:gd name="connsiteY13" fmla="*/ 0 h 214286"/>
              <a:gd name="connsiteX14" fmla="*/ 11588399 w 12192553"/>
              <a:gd name="connsiteY14" fmla="*/ 214286 h 214286"/>
              <a:gd name="connsiteX15" fmla="*/ 0 w 12192553"/>
              <a:gd name="connsiteY15" fmla="*/ 214286 h 214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>
            <a:gsLst>
              <a:gs pos="100000">
                <a:srgbClr val="642FFF"/>
              </a:gs>
              <a:gs pos="0">
                <a:srgbClr val="254FE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4.1 </a:t>
            </a:r>
            <a:r>
              <a:rPr lang="zh-CN" altLang="en-US" dirty="0"/>
              <a:t>项目测试结果说明</a:t>
            </a:r>
          </a:p>
        </p:txBody>
      </p:sp>
      <p:sp>
        <p:nvSpPr>
          <p:cNvPr id="10" name="任意多边形 9"/>
          <p:cNvSpPr/>
          <p:nvPr userDrawn="1">
            <p:custDataLst>
              <p:tags r:id="rId3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15705" y="137795"/>
            <a:ext cx="3376291" cy="597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/Users/francesliu/Library/Containers/com.tencent.xinWeChat/Data/Library/Application Support/com.tencent.xinWeChat/2.0b4.0.9/b76063dd929128abacbe771c150456ce/Message/MessageTemp/cb658cc32c427923f1d8a81f02842996/File/主画面转曲.jpg主画面转曲"/>
          <p:cNvPicPr>
            <a:picLocks noChangeAspect="1"/>
          </p:cNvPicPr>
          <p:nvPr userDrawn="1"/>
        </p:nvPicPr>
        <p:blipFill>
          <a:blip r:embed="rId5"/>
          <a:srcRect l="5" r="5"/>
          <a:stretch>
            <a:fillRect/>
          </a:stretch>
        </p:blipFill>
        <p:spPr>
          <a:xfrm>
            <a:off x="635" y="0"/>
            <a:ext cx="1219073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2026/7/27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5" name="标题 1"/>
          <p:cNvSpPr txBox="1"/>
          <p:nvPr userDrawn="1">
            <p:custDataLst>
              <p:tags r:id="rId1"/>
            </p:custDataLst>
          </p:nvPr>
        </p:nvSpPr>
        <p:spPr>
          <a:xfrm>
            <a:off x="2316480" y="2591380"/>
            <a:ext cx="2661920" cy="838835"/>
          </a:xfrm>
          <a:prstGeom prst="rect">
            <a:avLst/>
          </a:prstGeom>
          <a:noFill/>
        </p:spPr>
        <p:txBody>
          <a:bodyPr vert="horz" wrap="square" lIns="90000" tIns="45720" rIns="91440" bIns="4572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kumimoji="1" lang="en-US" altLang="zh-CN" sz="5400" b="1" cap="none" spc="0" dirty="0">
                <a:ln w="6600">
                  <a:noFill/>
                  <a:prstDash val="solid"/>
                </a:ln>
                <a:solidFill>
                  <a:schemeClr val="bg1"/>
                </a:solidFill>
                <a:effectLst/>
              </a:rPr>
              <a:t>Part 05</a:t>
            </a:r>
          </a:p>
        </p:txBody>
      </p:sp>
      <p:sp>
        <p:nvSpPr>
          <p:cNvPr id="16" name="文本占位符 17"/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192421" y="2453241"/>
            <a:ext cx="4304799" cy="1115113"/>
          </a:xfrm>
        </p:spPr>
        <p:txBody>
          <a:bodyPr lIns="90000" anchor="ctr">
            <a:noAutofit/>
          </a:bodyPr>
          <a:lstStyle>
            <a:lvl1pPr marL="0" indent="0" algn="l">
              <a:buNone/>
              <a:defRPr sz="6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zh-CN" altLang="en-US" dirty="0"/>
              <a:t>作品演示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2330450" y="3770630"/>
            <a:ext cx="7531100" cy="972185"/>
          </a:xfrm>
        </p:spPr>
        <p:txBody>
          <a:bodyPr>
            <a:normAutofit/>
          </a:bodyPr>
          <a:lstStyle>
            <a:lvl1pPr marL="0" indent="0" algn="r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CN" altLang="en-US" dirty="0"/>
              <a:t>单击编辑文本，文字是您思想的提炼，为了最终演示的良好效果，请尽量言简意赅的阐述观点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2026/7/27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6" name="媒体占位符 5"/>
          <p:cNvSpPr>
            <a:spLocks noGrp="1"/>
          </p:cNvSpPr>
          <p:nvPr>
            <p:ph type="media" sz="quarter" idx="15"/>
          </p:nvPr>
        </p:nvSpPr>
        <p:spPr>
          <a:xfrm>
            <a:off x="529218" y="1419861"/>
            <a:ext cx="11133563" cy="4648052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</a:lstStyle>
          <a:p>
            <a:endParaRPr kumimoji="1" lang="zh-CN" altLang="en-US"/>
          </a:p>
        </p:txBody>
      </p:sp>
      <p:sp>
        <p:nvSpPr>
          <p:cNvPr id="8" name="任意形状 24"/>
          <p:cNvSpPr/>
          <p:nvPr userDrawn="1">
            <p:custDataLst>
              <p:tags r:id="rId1"/>
            </p:custDataLst>
          </p:nvPr>
        </p:nvSpPr>
        <p:spPr>
          <a:xfrm>
            <a:off x="1" y="6533215"/>
            <a:ext cx="12192553" cy="214286"/>
          </a:xfrm>
          <a:custGeom>
            <a:avLst/>
            <a:gdLst>
              <a:gd name="connsiteX0" fmla="*/ 12080953 w 12192553"/>
              <a:gd name="connsiteY0" fmla="*/ 0 h 214286"/>
              <a:gd name="connsiteX1" fmla="*/ 12192553 w 12192553"/>
              <a:gd name="connsiteY1" fmla="*/ 0 h 214286"/>
              <a:gd name="connsiteX2" fmla="*/ 12192553 w 12192553"/>
              <a:gd name="connsiteY2" fmla="*/ 214286 h 214286"/>
              <a:gd name="connsiteX3" fmla="*/ 12080953 w 12192553"/>
              <a:gd name="connsiteY3" fmla="*/ 214286 h 214286"/>
              <a:gd name="connsiteX4" fmla="*/ 11883483 w 12192553"/>
              <a:gd name="connsiteY4" fmla="*/ 0 h 214286"/>
              <a:gd name="connsiteX5" fmla="*/ 11995083 w 12192553"/>
              <a:gd name="connsiteY5" fmla="*/ 0 h 214286"/>
              <a:gd name="connsiteX6" fmla="*/ 11995083 w 12192553"/>
              <a:gd name="connsiteY6" fmla="*/ 214286 h 214286"/>
              <a:gd name="connsiteX7" fmla="*/ 11883483 w 12192553"/>
              <a:gd name="connsiteY7" fmla="*/ 214286 h 214286"/>
              <a:gd name="connsiteX8" fmla="*/ 11686013 w 12192553"/>
              <a:gd name="connsiteY8" fmla="*/ 0 h 214286"/>
              <a:gd name="connsiteX9" fmla="*/ 11797613 w 12192553"/>
              <a:gd name="connsiteY9" fmla="*/ 0 h 214286"/>
              <a:gd name="connsiteX10" fmla="*/ 11797613 w 12192553"/>
              <a:gd name="connsiteY10" fmla="*/ 214286 h 214286"/>
              <a:gd name="connsiteX11" fmla="*/ 11686013 w 12192553"/>
              <a:gd name="connsiteY11" fmla="*/ 214286 h 214286"/>
              <a:gd name="connsiteX12" fmla="*/ 0 w 12192553"/>
              <a:gd name="connsiteY12" fmla="*/ 0 h 214286"/>
              <a:gd name="connsiteX13" fmla="*/ 11588399 w 12192553"/>
              <a:gd name="connsiteY13" fmla="*/ 0 h 214286"/>
              <a:gd name="connsiteX14" fmla="*/ 11588399 w 12192553"/>
              <a:gd name="connsiteY14" fmla="*/ 214286 h 214286"/>
              <a:gd name="connsiteX15" fmla="*/ 0 w 12192553"/>
              <a:gd name="connsiteY15" fmla="*/ 214286 h 214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>
            <a:gsLst>
              <a:gs pos="100000">
                <a:srgbClr val="642FFF"/>
              </a:gs>
              <a:gs pos="0">
                <a:srgbClr val="254FE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5.1 </a:t>
            </a:r>
            <a:r>
              <a:rPr lang="zh-CN" altLang="en-US" dirty="0"/>
              <a:t>作品演示播放</a:t>
            </a:r>
          </a:p>
        </p:txBody>
      </p:sp>
      <p:sp>
        <p:nvSpPr>
          <p:cNvPr id="10" name="任意多边形 9"/>
          <p:cNvSpPr/>
          <p:nvPr userDrawn="1">
            <p:custDataLst>
              <p:tags r:id="rId3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15705" y="137795"/>
            <a:ext cx="3376291" cy="597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/Users/francesliu/Library/Containers/com.tencent.xinWeChat/Data/Library/Application Support/com.tencent.xinWeChat/2.0b4.0.9/b76063dd929128abacbe771c150456ce/Message/MessageTemp/cb658cc32c427923f1d8a81f02842996/File/主画面转曲.jpg主画面转曲"/>
          <p:cNvPicPr>
            <a:picLocks noChangeAspect="1"/>
          </p:cNvPicPr>
          <p:nvPr userDrawn="1"/>
        </p:nvPicPr>
        <p:blipFill>
          <a:blip r:embed="rId2"/>
          <a:srcRect l="5" r="5"/>
          <a:stretch>
            <a:fillRect/>
          </a:stretch>
        </p:blipFill>
        <p:spPr>
          <a:xfrm>
            <a:off x="635" y="0"/>
            <a:ext cx="12190730" cy="6858000"/>
          </a:xfrm>
          <a:prstGeom prst="rect">
            <a:avLst/>
          </a:prstGeom>
        </p:spPr>
      </p:pic>
      <p:sp>
        <p:nvSpPr>
          <p:cNvPr id="37" name="标题 1"/>
          <p:cNvSpPr>
            <a:spLocks noGrp="1"/>
          </p:cNvSpPr>
          <p:nvPr>
            <p:ph type="ctrTitle" hasCustomPrompt="1"/>
          </p:nvPr>
        </p:nvSpPr>
        <p:spPr>
          <a:xfrm>
            <a:off x="1157605" y="1861820"/>
            <a:ext cx="9876790" cy="175895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6000" b="1" i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单击此处编辑结束语</a:t>
            </a:r>
          </a:p>
        </p:txBody>
      </p:sp>
      <p:sp>
        <p:nvSpPr>
          <p:cNvPr id="38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BA00916-396A-A444-B6A6-572F44C7530F}" type="datetimeFigureOut">
              <a:rPr kumimoji="1" lang="zh-CN" altLang="en-US" smtClean="0"/>
              <a:t>2026/7/27</a:t>
            </a:fld>
            <a:endParaRPr kumimoji="1" lang="zh-CN" altLang="en-US"/>
          </a:p>
        </p:txBody>
      </p:sp>
      <p:sp>
        <p:nvSpPr>
          <p:cNvPr id="3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4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4" name="文本占位符 9"/>
          <p:cNvSpPr>
            <a:spLocks noGrp="1"/>
          </p:cNvSpPr>
          <p:nvPr>
            <p:ph type="body" sz="quarter" idx="14" hasCustomPrompt="1"/>
          </p:nvPr>
        </p:nvSpPr>
        <p:spPr>
          <a:xfrm>
            <a:off x="5099050" y="4641215"/>
            <a:ext cx="3866515" cy="290195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20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</a:lstStyle>
          <a:p>
            <a:pPr lvl="0"/>
            <a:r>
              <a:rPr kumimoji="1" lang="zh-CN" altLang="en-US" dirty="0"/>
              <a:t>编辑队伍名称</a:t>
            </a:r>
            <a:r>
              <a:rPr kumimoji="1" lang="en-US" altLang="zh-CN" dirty="0"/>
              <a:t> </a:t>
            </a:r>
            <a:r>
              <a:rPr kumimoji="1" lang="zh-CN" altLang="en-US" dirty="0">
                <a:sym typeface="+mn-ea"/>
              </a:rPr>
              <a:t>禁止出现学校和成员信息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  <p:sp>
        <p:nvSpPr>
          <p:cNvPr id="7" name="文本占位符 9"/>
          <p:cNvSpPr>
            <a:spLocks noGrp="1"/>
          </p:cNvSpPr>
          <p:nvPr>
            <p:ph type="body" sz="quarter" idx="20" hasCustomPrompt="1"/>
          </p:nvPr>
        </p:nvSpPr>
        <p:spPr>
          <a:xfrm>
            <a:off x="5099050" y="5077460"/>
            <a:ext cx="3866515" cy="290195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20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</a:lstStyle>
          <a:p>
            <a:pPr lvl="0"/>
            <a:r>
              <a:rPr kumimoji="1" lang="zh-CN" altLang="en-US" dirty="0"/>
              <a:t>编辑完成日期</a:t>
            </a:r>
            <a:r>
              <a:rPr kumimoji="1" lang="en-US" altLang="zh-CN" dirty="0"/>
              <a:t> </a:t>
            </a:r>
            <a:r>
              <a:rPr kumimoji="1" lang="zh-CN" altLang="en-US" dirty="0">
                <a:sym typeface="+mn-ea"/>
              </a:rPr>
              <a:t>禁止出现学校和成员信息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  <p:sp>
        <p:nvSpPr>
          <p:cNvPr id="9" name="文本占位符 9"/>
          <p:cNvSpPr>
            <a:spLocks noGrp="1"/>
          </p:cNvSpPr>
          <p:nvPr>
            <p:ph type="body" sz="quarter" idx="22" hasCustomPrompt="1"/>
          </p:nvPr>
        </p:nvSpPr>
        <p:spPr>
          <a:xfrm>
            <a:off x="3937218" y="4640664"/>
            <a:ext cx="1161805" cy="290369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20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</a:lstStyle>
          <a:p>
            <a:pPr lvl="0"/>
            <a:r>
              <a:rPr kumimoji="1" lang="zh-CN" altLang="en-US" dirty="0"/>
              <a:t>参赛团队：</a:t>
            </a:r>
          </a:p>
        </p:txBody>
      </p:sp>
      <p:sp>
        <p:nvSpPr>
          <p:cNvPr id="54" name="文本占位符 9"/>
          <p:cNvSpPr>
            <a:spLocks noGrp="1"/>
          </p:cNvSpPr>
          <p:nvPr>
            <p:ph type="body" sz="quarter" idx="25" hasCustomPrompt="1"/>
          </p:nvPr>
        </p:nvSpPr>
        <p:spPr>
          <a:xfrm>
            <a:off x="3937218" y="5077480"/>
            <a:ext cx="1161805" cy="290371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20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</a:lstStyle>
          <a:p>
            <a:pPr lvl="0"/>
            <a:r>
              <a:rPr kumimoji="1" lang="zh-CN" altLang="en-US" dirty="0"/>
              <a:t>完成日期：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2026/7/27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2026/7/27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2026/7/27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2026/7/27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2026/7/27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2026/7/27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2026/7/27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2026/7/27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2026/7/27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A00916-396A-A444-B6A6-572F44C7530F}" type="datetimeFigureOut">
              <a:rPr kumimoji="1" lang="zh-CN" altLang="en-US" smtClean="0"/>
              <a:t>2026/7/27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13" Type="http://schemas.openxmlformats.org/officeDocument/2006/relationships/tags" Target="../tags/tag58.xml"/><Relationship Id="rId18" Type="http://schemas.openxmlformats.org/officeDocument/2006/relationships/tags" Target="../tags/tag63.xml"/><Relationship Id="rId3" Type="http://schemas.openxmlformats.org/officeDocument/2006/relationships/tags" Target="../tags/tag48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52.xml"/><Relationship Id="rId12" Type="http://schemas.openxmlformats.org/officeDocument/2006/relationships/tags" Target="../tags/tag57.xml"/><Relationship Id="rId17" Type="http://schemas.openxmlformats.org/officeDocument/2006/relationships/tags" Target="../tags/tag62.xml"/><Relationship Id="rId2" Type="http://schemas.openxmlformats.org/officeDocument/2006/relationships/tags" Target="../tags/tag47.xml"/><Relationship Id="rId16" Type="http://schemas.openxmlformats.org/officeDocument/2006/relationships/tags" Target="../tags/tag61.xml"/><Relationship Id="rId20" Type="http://schemas.openxmlformats.org/officeDocument/2006/relationships/tags" Target="../tags/tag65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tags" Target="../tags/tag56.xml"/><Relationship Id="rId5" Type="http://schemas.openxmlformats.org/officeDocument/2006/relationships/tags" Target="../tags/tag50.xml"/><Relationship Id="rId15" Type="http://schemas.openxmlformats.org/officeDocument/2006/relationships/tags" Target="../tags/tag60.xml"/><Relationship Id="rId10" Type="http://schemas.openxmlformats.org/officeDocument/2006/relationships/tags" Target="../tags/tag55.xml"/><Relationship Id="rId19" Type="http://schemas.openxmlformats.org/officeDocument/2006/relationships/tags" Target="../tags/tag64.xml"/><Relationship Id="rId4" Type="http://schemas.openxmlformats.org/officeDocument/2006/relationships/tags" Target="../tags/tag49.xml"/><Relationship Id="rId9" Type="http://schemas.openxmlformats.org/officeDocument/2006/relationships/tags" Target="../tags/tag54.xml"/><Relationship Id="rId14" Type="http://schemas.openxmlformats.org/officeDocument/2006/relationships/tags" Target="../tags/tag5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文本占位符 50"/>
          <p:cNvSpPr>
            <a:spLocks noGrp="1"/>
          </p:cNvSpPr>
          <p:nvPr>
            <p:ph type="body" sz="quarter" idx="22"/>
          </p:nvPr>
        </p:nvSpPr>
        <p:spPr>
          <a:xfrm>
            <a:off x="3937218" y="4640664"/>
            <a:ext cx="1161805" cy="290369"/>
          </a:xfrm>
        </p:spPr>
        <p:txBody>
          <a:bodyPr/>
          <a:lstStyle/>
          <a:p>
            <a:r>
              <a:rPr lang="zh-CN" altLang="en-US"/>
              <a:t>参赛团队：</a:t>
            </a:r>
          </a:p>
        </p:txBody>
      </p:sp>
      <p:sp>
        <p:nvSpPr>
          <p:cNvPr id="54" name="文本占位符 53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zh-CN" altLang="en-US"/>
              <a:t>完成日期：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092200" y="1905000"/>
            <a:ext cx="10033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6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Tuning-Agent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149985" y="3310255"/>
            <a:ext cx="9906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2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</a:t>
            </a:r>
            <a:r>
              <a:rPr lang="en-US" altLang="zh-CN" sz="2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openEuler</a:t>
            </a:r>
            <a:r>
              <a:rPr lang="zh-CN" altLang="en-US" sz="2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的自适应资源管控</a:t>
            </a:r>
            <a:r>
              <a:rPr lang="en-US" altLang="zh-CN" sz="2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207000" y="4635500"/>
            <a:ext cx="3556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zh-CN" altLang="en-US" sz="1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匿名评审稿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207000" y="5080000"/>
            <a:ext cx="3556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en-US" altLang="zh-CN" sz="1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 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>
            <p:custDataLst>
              <p:tags r:id="rId1"/>
            </p:custDataLst>
          </p:nvPr>
        </p:nvSpPr>
        <p:spPr>
          <a:xfrm>
            <a:off x="5092065" y="1496695"/>
            <a:ext cx="5114925" cy="74104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2">
                  <a:lumMod val="20000"/>
                  <a:lumOff val="80000"/>
                  <a:alpha val="30000"/>
                </a:schemeClr>
              </a:solidFill>
            </a:endParaRPr>
          </a:p>
        </p:txBody>
      </p:sp>
      <p:sp>
        <p:nvSpPr>
          <p:cNvPr id="28" name="任意形状 10"/>
          <p:cNvSpPr/>
          <p:nvPr userDrawn="1">
            <p:custDataLst>
              <p:tags r:id="rId2"/>
            </p:custDataLst>
          </p:nvPr>
        </p:nvSpPr>
        <p:spPr>
          <a:xfrm rot="5400000">
            <a:off x="5560060" y="1378585"/>
            <a:ext cx="784860" cy="933450"/>
          </a:xfrm>
          <a:custGeom>
            <a:avLst/>
            <a:gdLst>
              <a:gd name="connsiteX0" fmla="*/ 0 w 1021517"/>
              <a:gd name="connsiteY0" fmla="*/ 1048944 h 1219200"/>
              <a:gd name="connsiteX1" fmla="*/ 0 w 1021517"/>
              <a:gd name="connsiteY1" fmla="*/ 343438 h 1219200"/>
              <a:gd name="connsiteX2" fmla="*/ 170256 w 1021517"/>
              <a:gd name="connsiteY2" fmla="*/ 173182 h 1219200"/>
              <a:gd name="connsiteX3" fmla="*/ 412580 w 1021517"/>
              <a:gd name="connsiteY3" fmla="*/ 173182 h 1219200"/>
              <a:gd name="connsiteX4" fmla="*/ 513025 w 1021517"/>
              <a:gd name="connsiteY4" fmla="*/ 0 h 1219200"/>
              <a:gd name="connsiteX5" fmla="*/ 613470 w 1021517"/>
              <a:gd name="connsiteY5" fmla="*/ 173182 h 1219200"/>
              <a:gd name="connsiteX6" fmla="*/ 851261 w 1021517"/>
              <a:gd name="connsiteY6" fmla="*/ 173182 h 1219200"/>
              <a:gd name="connsiteX7" fmla="*/ 1021517 w 1021517"/>
              <a:gd name="connsiteY7" fmla="*/ 343438 h 1219200"/>
              <a:gd name="connsiteX8" fmla="*/ 1021517 w 1021517"/>
              <a:gd name="connsiteY8" fmla="*/ 1048944 h 1219200"/>
              <a:gd name="connsiteX9" fmla="*/ 851261 w 1021517"/>
              <a:gd name="connsiteY9" fmla="*/ 1219200 h 1219200"/>
              <a:gd name="connsiteX10" fmla="*/ 170256 w 1021517"/>
              <a:gd name="connsiteY10" fmla="*/ 1219200 h 1219200"/>
              <a:gd name="connsiteX11" fmla="*/ 0 w 1021517"/>
              <a:gd name="connsiteY11" fmla="*/ 1048944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1517" h="1219200">
                <a:moveTo>
                  <a:pt x="0" y="1048944"/>
                </a:moveTo>
                <a:lnTo>
                  <a:pt x="0" y="343438"/>
                </a:lnTo>
                <a:cubicBezTo>
                  <a:pt x="0" y="249408"/>
                  <a:pt x="76226" y="173182"/>
                  <a:pt x="170256" y="173182"/>
                </a:cubicBezTo>
                <a:lnTo>
                  <a:pt x="412580" y="173182"/>
                </a:lnTo>
                <a:lnTo>
                  <a:pt x="513025" y="0"/>
                </a:lnTo>
                <a:lnTo>
                  <a:pt x="613470" y="173182"/>
                </a:lnTo>
                <a:lnTo>
                  <a:pt x="851261" y="173182"/>
                </a:lnTo>
                <a:cubicBezTo>
                  <a:pt x="945291" y="173182"/>
                  <a:pt x="1021517" y="249408"/>
                  <a:pt x="1021517" y="343438"/>
                </a:cubicBezTo>
                <a:lnTo>
                  <a:pt x="1021517" y="1048944"/>
                </a:lnTo>
                <a:cubicBezTo>
                  <a:pt x="1021517" y="1142974"/>
                  <a:pt x="945291" y="1219200"/>
                  <a:pt x="851261" y="1219200"/>
                </a:cubicBezTo>
                <a:lnTo>
                  <a:pt x="170256" y="1219200"/>
                </a:lnTo>
                <a:cubicBezTo>
                  <a:pt x="76226" y="1219200"/>
                  <a:pt x="0" y="1142974"/>
                  <a:pt x="0" y="1048944"/>
                </a:cubicBezTo>
                <a:close/>
              </a:path>
            </a:pathLst>
          </a:custGeom>
          <a:solidFill>
            <a:srgbClr val="254F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en-US" altLang="zh-CN" dirty="0">
              <a:solidFill>
                <a:srgbClr val="C00000"/>
              </a:solidFill>
            </a:endParaRPr>
          </a:p>
        </p:txBody>
      </p:sp>
      <p:sp>
        <p:nvSpPr>
          <p:cNvPr id="29" name="文本框 28"/>
          <p:cNvSpPr txBox="1"/>
          <p:nvPr userDrawn="1">
            <p:custDataLst>
              <p:tags r:id="rId3"/>
            </p:custDataLst>
          </p:nvPr>
        </p:nvSpPr>
        <p:spPr>
          <a:xfrm>
            <a:off x="5485765" y="1587500"/>
            <a:ext cx="796925" cy="5219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en-US" altLang="zh-CN" sz="2800" b="1">
                <a:solidFill>
                  <a:schemeClr val="bg1"/>
                </a:solidFill>
                <a:latin typeface="+mj-ea"/>
                <a:ea typeface="+mj-ea"/>
              </a:rPr>
              <a:t>01</a:t>
            </a:r>
            <a:endParaRPr kumimoji="1" lang="en-US" altLang="zh-CN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5" name="圆角矩形 114"/>
          <p:cNvSpPr/>
          <p:nvPr userDrawn="1">
            <p:custDataLst>
              <p:tags r:id="rId4"/>
            </p:custDataLst>
          </p:nvPr>
        </p:nvSpPr>
        <p:spPr>
          <a:xfrm>
            <a:off x="5092065" y="2439670"/>
            <a:ext cx="5114925" cy="74104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2">
                  <a:lumMod val="20000"/>
                  <a:lumOff val="80000"/>
                  <a:alpha val="30000"/>
                </a:schemeClr>
              </a:solidFill>
            </a:endParaRPr>
          </a:p>
        </p:txBody>
      </p:sp>
      <p:sp>
        <p:nvSpPr>
          <p:cNvPr id="116" name="任意形状 10"/>
          <p:cNvSpPr/>
          <p:nvPr userDrawn="1">
            <p:custDataLst>
              <p:tags r:id="rId5"/>
            </p:custDataLst>
          </p:nvPr>
        </p:nvSpPr>
        <p:spPr>
          <a:xfrm rot="5400000">
            <a:off x="5560060" y="2321560"/>
            <a:ext cx="784860" cy="933450"/>
          </a:xfrm>
          <a:custGeom>
            <a:avLst/>
            <a:gdLst>
              <a:gd name="connsiteX0" fmla="*/ 0 w 1021517"/>
              <a:gd name="connsiteY0" fmla="*/ 1048944 h 1219200"/>
              <a:gd name="connsiteX1" fmla="*/ 0 w 1021517"/>
              <a:gd name="connsiteY1" fmla="*/ 343438 h 1219200"/>
              <a:gd name="connsiteX2" fmla="*/ 170256 w 1021517"/>
              <a:gd name="connsiteY2" fmla="*/ 173182 h 1219200"/>
              <a:gd name="connsiteX3" fmla="*/ 412580 w 1021517"/>
              <a:gd name="connsiteY3" fmla="*/ 173182 h 1219200"/>
              <a:gd name="connsiteX4" fmla="*/ 513025 w 1021517"/>
              <a:gd name="connsiteY4" fmla="*/ 0 h 1219200"/>
              <a:gd name="connsiteX5" fmla="*/ 613470 w 1021517"/>
              <a:gd name="connsiteY5" fmla="*/ 173182 h 1219200"/>
              <a:gd name="connsiteX6" fmla="*/ 851261 w 1021517"/>
              <a:gd name="connsiteY6" fmla="*/ 173182 h 1219200"/>
              <a:gd name="connsiteX7" fmla="*/ 1021517 w 1021517"/>
              <a:gd name="connsiteY7" fmla="*/ 343438 h 1219200"/>
              <a:gd name="connsiteX8" fmla="*/ 1021517 w 1021517"/>
              <a:gd name="connsiteY8" fmla="*/ 1048944 h 1219200"/>
              <a:gd name="connsiteX9" fmla="*/ 851261 w 1021517"/>
              <a:gd name="connsiteY9" fmla="*/ 1219200 h 1219200"/>
              <a:gd name="connsiteX10" fmla="*/ 170256 w 1021517"/>
              <a:gd name="connsiteY10" fmla="*/ 1219200 h 1219200"/>
              <a:gd name="connsiteX11" fmla="*/ 0 w 1021517"/>
              <a:gd name="connsiteY11" fmla="*/ 1048944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1517" h="1219200">
                <a:moveTo>
                  <a:pt x="0" y="1048944"/>
                </a:moveTo>
                <a:lnTo>
                  <a:pt x="0" y="343438"/>
                </a:lnTo>
                <a:cubicBezTo>
                  <a:pt x="0" y="249408"/>
                  <a:pt x="76226" y="173182"/>
                  <a:pt x="170256" y="173182"/>
                </a:cubicBezTo>
                <a:lnTo>
                  <a:pt x="412580" y="173182"/>
                </a:lnTo>
                <a:lnTo>
                  <a:pt x="513025" y="0"/>
                </a:lnTo>
                <a:lnTo>
                  <a:pt x="613470" y="173182"/>
                </a:lnTo>
                <a:lnTo>
                  <a:pt x="851261" y="173182"/>
                </a:lnTo>
                <a:cubicBezTo>
                  <a:pt x="945291" y="173182"/>
                  <a:pt x="1021517" y="249408"/>
                  <a:pt x="1021517" y="343438"/>
                </a:cubicBezTo>
                <a:lnTo>
                  <a:pt x="1021517" y="1048944"/>
                </a:lnTo>
                <a:cubicBezTo>
                  <a:pt x="1021517" y="1142974"/>
                  <a:pt x="945291" y="1219200"/>
                  <a:pt x="851261" y="1219200"/>
                </a:cubicBezTo>
                <a:lnTo>
                  <a:pt x="170256" y="1219200"/>
                </a:lnTo>
                <a:cubicBezTo>
                  <a:pt x="76226" y="1219200"/>
                  <a:pt x="0" y="1142974"/>
                  <a:pt x="0" y="1048944"/>
                </a:cubicBezTo>
                <a:close/>
              </a:path>
            </a:pathLst>
          </a:custGeom>
          <a:solidFill>
            <a:srgbClr val="254F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7" name="文本框 116"/>
          <p:cNvSpPr txBox="1"/>
          <p:nvPr userDrawn="1">
            <p:custDataLst>
              <p:tags r:id="rId6"/>
            </p:custDataLst>
          </p:nvPr>
        </p:nvSpPr>
        <p:spPr>
          <a:xfrm>
            <a:off x="5485765" y="2540000"/>
            <a:ext cx="796925" cy="5219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en-US" altLang="zh-CN" sz="2800" b="1">
                <a:solidFill>
                  <a:schemeClr val="bg1"/>
                </a:solidFill>
                <a:latin typeface="+mj-ea"/>
                <a:ea typeface="+mj-ea"/>
              </a:rPr>
              <a:t>02</a:t>
            </a:r>
            <a:endParaRPr kumimoji="1" lang="en-US" altLang="zh-CN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0" name="圆角矩形 119"/>
          <p:cNvSpPr/>
          <p:nvPr userDrawn="1">
            <p:custDataLst>
              <p:tags r:id="rId7"/>
            </p:custDataLst>
          </p:nvPr>
        </p:nvSpPr>
        <p:spPr>
          <a:xfrm>
            <a:off x="5092065" y="3382645"/>
            <a:ext cx="5114925" cy="74104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2">
                  <a:lumMod val="20000"/>
                  <a:lumOff val="80000"/>
                  <a:alpha val="30000"/>
                </a:schemeClr>
              </a:solidFill>
            </a:endParaRPr>
          </a:p>
        </p:txBody>
      </p:sp>
      <p:sp>
        <p:nvSpPr>
          <p:cNvPr id="121" name="任意形状 10"/>
          <p:cNvSpPr/>
          <p:nvPr userDrawn="1">
            <p:custDataLst>
              <p:tags r:id="rId8"/>
            </p:custDataLst>
          </p:nvPr>
        </p:nvSpPr>
        <p:spPr>
          <a:xfrm rot="5400000">
            <a:off x="5560060" y="3264535"/>
            <a:ext cx="784860" cy="933450"/>
          </a:xfrm>
          <a:custGeom>
            <a:avLst/>
            <a:gdLst>
              <a:gd name="connsiteX0" fmla="*/ 0 w 1021517"/>
              <a:gd name="connsiteY0" fmla="*/ 1048944 h 1219200"/>
              <a:gd name="connsiteX1" fmla="*/ 0 w 1021517"/>
              <a:gd name="connsiteY1" fmla="*/ 343438 h 1219200"/>
              <a:gd name="connsiteX2" fmla="*/ 170256 w 1021517"/>
              <a:gd name="connsiteY2" fmla="*/ 173182 h 1219200"/>
              <a:gd name="connsiteX3" fmla="*/ 412580 w 1021517"/>
              <a:gd name="connsiteY3" fmla="*/ 173182 h 1219200"/>
              <a:gd name="connsiteX4" fmla="*/ 513025 w 1021517"/>
              <a:gd name="connsiteY4" fmla="*/ 0 h 1219200"/>
              <a:gd name="connsiteX5" fmla="*/ 613470 w 1021517"/>
              <a:gd name="connsiteY5" fmla="*/ 173182 h 1219200"/>
              <a:gd name="connsiteX6" fmla="*/ 851261 w 1021517"/>
              <a:gd name="connsiteY6" fmla="*/ 173182 h 1219200"/>
              <a:gd name="connsiteX7" fmla="*/ 1021517 w 1021517"/>
              <a:gd name="connsiteY7" fmla="*/ 343438 h 1219200"/>
              <a:gd name="connsiteX8" fmla="*/ 1021517 w 1021517"/>
              <a:gd name="connsiteY8" fmla="*/ 1048944 h 1219200"/>
              <a:gd name="connsiteX9" fmla="*/ 851261 w 1021517"/>
              <a:gd name="connsiteY9" fmla="*/ 1219200 h 1219200"/>
              <a:gd name="connsiteX10" fmla="*/ 170256 w 1021517"/>
              <a:gd name="connsiteY10" fmla="*/ 1219200 h 1219200"/>
              <a:gd name="connsiteX11" fmla="*/ 0 w 1021517"/>
              <a:gd name="connsiteY11" fmla="*/ 1048944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1517" h="1219200">
                <a:moveTo>
                  <a:pt x="0" y="1048944"/>
                </a:moveTo>
                <a:lnTo>
                  <a:pt x="0" y="343438"/>
                </a:lnTo>
                <a:cubicBezTo>
                  <a:pt x="0" y="249408"/>
                  <a:pt x="76226" y="173182"/>
                  <a:pt x="170256" y="173182"/>
                </a:cubicBezTo>
                <a:lnTo>
                  <a:pt x="412580" y="173182"/>
                </a:lnTo>
                <a:lnTo>
                  <a:pt x="513025" y="0"/>
                </a:lnTo>
                <a:lnTo>
                  <a:pt x="613470" y="173182"/>
                </a:lnTo>
                <a:lnTo>
                  <a:pt x="851261" y="173182"/>
                </a:lnTo>
                <a:cubicBezTo>
                  <a:pt x="945291" y="173182"/>
                  <a:pt x="1021517" y="249408"/>
                  <a:pt x="1021517" y="343438"/>
                </a:cubicBezTo>
                <a:lnTo>
                  <a:pt x="1021517" y="1048944"/>
                </a:lnTo>
                <a:cubicBezTo>
                  <a:pt x="1021517" y="1142974"/>
                  <a:pt x="945291" y="1219200"/>
                  <a:pt x="851261" y="1219200"/>
                </a:cubicBezTo>
                <a:lnTo>
                  <a:pt x="170256" y="1219200"/>
                </a:lnTo>
                <a:cubicBezTo>
                  <a:pt x="76226" y="1219200"/>
                  <a:pt x="0" y="1142974"/>
                  <a:pt x="0" y="1048944"/>
                </a:cubicBezTo>
                <a:close/>
              </a:path>
            </a:pathLst>
          </a:custGeom>
          <a:solidFill>
            <a:srgbClr val="254F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en-US" altLang="zh-CN" dirty="0"/>
          </a:p>
        </p:txBody>
      </p:sp>
      <p:sp>
        <p:nvSpPr>
          <p:cNvPr id="122" name="文本框 121"/>
          <p:cNvSpPr txBox="1"/>
          <p:nvPr userDrawn="1">
            <p:custDataLst>
              <p:tags r:id="rId9"/>
            </p:custDataLst>
          </p:nvPr>
        </p:nvSpPr>
        <p:spPr>
          <a:xfrm>
            <a:off x="5485765" y="3467100"/>
            <a:ext cx="796925" cy="5219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en-US" altLang="zh-CN" sz="2800" b="1">
                <a:solidFill>
                  <a:schemeClr val="bg1"/>
                </a:solidFill>
                <a:latin typeface="+mj-ea"/>
                <a:ea typeface="+mj-ea"/>
              </a:rPr>
              <a:t>03</a:t>
            </a:r>
            <a:endParaRPr kumimoji="1" lang="en-US" altLang="zh-CN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5" name="圆角矩形 124"/>
          <p:cNvSpPr/>
          <p:nvPr userDrawn="1">
            <p:custDataLst>
              <p:tags r:id="rId10"/>
            </p:custDataLst>
          </p:nvPr>
        </p:nvSpPr>
        <p:spPr>
          <a:xfrm>
            <a:off x="5092065" y="4325620"/>
            <a:ext cx="5114925" cy="74104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2">
                  <a:lumMod val="20000"/>
                  <a:lumOff val="80000"/>
                  <a:alpha val="30000"/>
                </a:schemeClr>
              </a:solidFill>
            </a:endParaRPr>
          </a:p>
        </p:txBody>
      </p:sp>
      <p:sp>
        <p:nvSpPr>
          <p:cNvPr id="126" name="任意形状 10"/>
          <p:cNvSpPr/>
          <p:nvPr userDrawn="1">
            <p:custDataLst>
              <p:tags r:id="rId11"/>
            </p:custDataLst>
          </p:nvPr>
        </p:nvSpPr>
        <p:spPr>
          <a:xfrm rot="5400000">
            <a:off x="5560060" y="4207510"/>
            <a:ext cx="784860" cy="933450"/>
          </a:xfrm>
          <a:custGeom>
            <a:avLst/>
            <a:gdLst>
              <a:gd name="connsiteX0" fmla="*/ 0 w 1021517"/>
              <a:gd name="connsiteY0" fmla="*/ 1048944 h 1219200"/>
              <a:gd name="connsiteX1" fmla="*/ 0 w 1021517"/>
              <a:gd name="connsiteY1" fmla="*/ 343438 h 1219200"/>
              <a:gd name="connsiteX2" fmla="*/ 170256 w 1021517"/>
              <a:gd name="connsiteY2" fmla="*/ 173182 h 1219200"/>
              <a:gd name="connsiteX3" fmla="*/ 412580 w 1021517"/>
              <a:gd name="connsiteY3" fmla="*/ 173182 h 1219200"/>
              <a:gd name="connsiteX4" fmla="*/ 513025 w 1021517"/>
              <a:gd name="connsiteY4" fmla="*/ 0 h 1219200"/>
              <a:gd name="connsiteX5" fmla="*/ 613470 w 1021517"/>
              <a:gd name="connsiteY5" fmla="*/ 173182 h 1219200"/>
              <a:gd name="connsiteX6" fmla="*/ 851261 w 1021517"/>
              <a:gd name="connsiteY6" fmla="*/ 173182 h 1219200"/>
              <a:gd name="connsiteX7" fmla="*/ 1021517 w 1021517"/>
              <a:gd name="connsiteY7" fmla="*/ 343438 h 1219200"/>
              <a:gd name="connsiteX8" fmla="*/ 1021517 w 1021517"/>
              <a:gd name="connsiteY8" fmla="*/ 1048944 h 1219200"/>
              <a:gd name="connsiteX9" fmla="*/ 851261 w 1021517"/>
              <a:gd name="connsiteY9" fmla="*/ 1219200 h 1219200"/>
              <a:gd name="connsiteX10" fmla="*/ 170256 w 1021517"/>
              <a:gd name="connsiteY10" fmla="*/ 1219200 h 1219200"/>
              <a:gd name="connsiteX11" fmla="*/ 0 w 1021517"/>
              <a:gd name="connsiteY11" fmla="*/ 1048944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1517" h="1219200">
                <a:moveTo>
                  <a:pt x="0" y="1048944"/>
                </a:moveTo>
                <a:lnTo>
                  <a:pt x="0" y="343438"/>
                </a:lnTo>
                <a:cubicBezTo>
                  <a:pt x="0" y="249408"/>
                  <a:pt x="76226" y="173182"/>
                  <a:pt x="170256" y="173182"/>
                </a:cubicBezTo>
                <a:lnTo>
                  <a:pt x="412580" y="173182"/>
                </a:lnTo>
                <a:lnTo>
                  <a:pt x="513025" y="0"/>
                </a:lnTo>
                <a:lnTo>
                  <a:pt x="613470" y="173182"/>
                </a:lnTo>
                <a:lnTo>
                  <a:pt x="851261" y="173182"/>
                </a:lnTo>
                <a:cubicBezTo>
                  <a:pt x="945291" y="173182"/>
                  <a:pt x="1021517" y="249408"/>
                  <a:pt x="1021517" y="343438"/>
                </a:cubicBezTo>
                <a:lnTo>
                  <a:pt x="1021517" y="1048944"/>
                </a:lnTo>
                <a:cubicBezTo>
                  <a:pt x="1021517" y="1142974"/>
                  <a:pt x="945291" y="1219200"/>
                  <a:pt x="851261" y="1219200"/>
                </a:cubicBezTo>
                <a:lnTo>
                  <a:pt x="170256" y="1219200"/>
                </a:lnTo>
                <a:cubicBezTo>
                  <a:pt x="76226" y="1219200"/>
                  <a:pt x="0" y="1142974"/>
                  <a:pt x="0" y="1048944"/>
                </a:cubicBezTo>
                <a:close/>
              </a:path>
            </a:pathLst>
          </a:custGeom>
          <a:solidFill>
            <a:srgbClr val="254F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en-US" altLang="zh-CN" dirty="0"/>
          </a:p>
        </p:txBody>
      </p:sp>
      <p:sp>
        <p:nvSpPr>
          <p:cNvPr id="127" name="文本框 126"/>
          <p:cNvSpPr txBox="1"/>
          <p:nvPr userDrawn="1">
            <p:custDataLst>
              <p:tags r:id="rId12"/>
            </p:custDataLst>
          </p:nvPr>
        </p:nvSpPr>
        <p:spPr>
          <a:xfrm>
            <a:off x="5485765" y="4419600"/>
            <a:ext cx="796925" cy="5219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en-US" altLang="zh-CN" sz="2800" b="1">
                <a:solidFill>
                  <a:schemeClr val="bg1"/>
                </a:solidFill>
                <a:latin typeface="+mj-ea"/>
                <a:ea typeface="+mj-ea"/>
              </a:rPr>
              <a:t>04</a:t>
            </a:r>
            <a:endParaRPr kumimoji="1" lang="en-US" altLang="zh-CN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0" name="圆角矩形 129"/>
          <p:cNvSpPr/>
          <p:nvPr userDrawn="1">
            <p:custDataLst>
              <p:tags r:id="rId13"/>
            </p:custDataLst>
          </p:nvPr>
        </p:nvSpPr>
        <p:spPr>
          <a:xfrm>
            <a:off x="5092065" y="5268595"/>
            <a:ext cx="5114925" cy="74104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2">
                  <a:lumMod val="20000"/>
                  <a:lumOff val="80000"/>
                  <a:alpha val="30000"/>
                </a:schemeClr>
              </a:solidFill>
            </a:endParaRPr>
          </a:p>
        </p:txBody>
      </p:sp>
      <p:sp>
        <p:nvSpPr>
          <p:cNvPr id="131" name="任意形状 10"/>
          <p:cNvSpPr/>
          <p:nvPr userDrawn="1">
            <p:custDataLst>
              <p:tags r:id="rId14"/>
            </p:custDataLst>
          </p:nvPr>
        </p:nvSpPr>
        <p:spPr>
          <a:xfrm rot="5400000">
            <a:off x="5560060" y="5150485"/>
            <a:ext cx="784860" cy="933450"/>
          </a:xfrm>
          <a:custGeom>
            <a:avLst/>
            <a:gdLst>
              <a:gd name="connsiteX0" fmla="*/ 0 w 1021517"/>
              <a:gd name="connsiteY0" fmla="*/ 1048944 h 1219200"/>
              <a:gd name="connsiteX1" fmla="*/ 0 w 1021517"/>
              <a:gd name="connsiteY1" fmla="*/ 343438 h 1219200"/>
              <a:gd name="connsiteX2" fmla="*/ 170256 w 1021517"/>
              <a:gd name="connsiteY2" fmla="*/ 173182 h 1219200"/>
              <a:gd name="connsiteX3" fmla="*/ 412580 w 1021517"/>
              <a:gd name="connsiteY3" fmla="*/ 173182 h 1219200"/>
              <a:gd name="connsiteX4" fmla="*/ 513025 w 1021517"/>
              <a:gd name="connsiteY4" fmla="*/ 0 h 1219200"/>
              <a:gd name="connsiteX5" fmla="*/ 613470 w 1021517"/>
              <a:gd name="connsiteY5" fmla="*/ 173182 h 1219200"/>
              <a:gd name="connsiteX6" fmla="*/ 851261 w 1021517"/>
              <a:gd name="connsiteY6" fmla="*/ 173182 h 1219200"/>
              <a:gd name="connsiteX7" fmla="*/ 1021517 w 1021517"/>
              <a:gd name="connsiteY7" fmla="*/ 343438 h 1219200"/>
              <a:gd name="connsiteX8" fmla="*/ 1021517 w 1021517"/>
              <a:gd name="connsiteY8" fmla="*/ 1048944 h 1219200"/>
              <a:gd name="connsiteX9" fmla="*/ 851261 w 1021517"/>
              <a:gd name="connsiteY9" fmla="*/ 1219200 h 1219200"/>
              <a:gd name="connsiteX10" fmla="*/ 170256 w 1021517"/>
              <a:gd name="connsiteY10" fmla="*/ 1219200 h 1219200"/>
              <a:gd name="connsiteX11" fmla="*/ 0 w 1021517"/>
              <a:gd name="connsiteY11" fmla="*/ 1048944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1517" h="1219200">
                <a:moveTo>
                  <a:pt x="0" y="1048944"/>
                </a:moveTo>
                <a:lnTo>
                  <a:pt x="0" y="343438"/>
                </a:lnTo>
                <a:cubicBezTo>
                  <a:pt x="0" y="249408"/>
                  <a:pt x="76226" y="173182"/>
                  <a:pt x="170256" y="173182"/>
                </a:cubicBezTo>
                <a:lnTo>
                  <a:pt x="412580" y="173182"/>
                </a:lnTo>
                <a:lnTo>
                  <a:pt x="513025" y="0"/>
                </a:lnTo>
                <a:lnTo>
                  <a:pt x="613470" y="173182"/>
                </a:lnTo>
                <a:lnTo>
                  <a:pt x="851261" y="173182"/>
                </a:lnTo>
                <a:cubicBezTo>
                  <a:pt x="945291" y="173182"/>
                  <a:pt x="1021517" y="249408"/>
                  <a:pt x="1021517" y="343438"/>
                </a:cubicBezTo>
                <a:lnTo>
                  <a:pt x="1021517" y="1048944"/>
                </a:lnTo>
                <a:cubicBezTo>
                  <a:pt x="1021517" y="1142974"/>
                  <a:pt x="945291" y="1219200"/>
                  <a:pt x="851261" y="1219200"/>
                </a:cubicBezTo>
                <a:lnTo>
                  <a:pt x="170256" y="1219200"/>
                </a:lnTo>
                <a:cubicBezTo>
                  <a:pt x="76226" y="1219200"/>
                  <a:pt x="0" y="1142974"/>
                  <a:pt x="0" y="1048944"/>
                </a:cubicBezTo>
                <a:close/>
              </a:path>
            </a:pathLst>
          </a:custGeom>
          <a:solidFill>
            <a:srgbClr val="254F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en-US" altLang="zh-CN" dirty="0"/>
          </a:p>
        </p:txBody>
      </p:sp>
      <p:sp>
        <p:nvSpPr>
          <p:cNvPr id="132" name="文本框 131"/>
          <p:cNvSpPr txBox="1"/>
          <p:nvPr userDrawn="1">
            <p:custDataLst>
              <p:tags r:id="rId15"/>
            </p:custDataLst>
          </p:nvPr>
        </p:nvSpPr>
        <p:spPr>
          <a:xfrm>
            <a:off x="5485765" y="5372100"/>
            <a:ext cx="796925" cy="5219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en-US" altLang="zh-CN" sz="2800" b="1">
                <a:solidFill>
                  <a:schemeClr val="bg1"/>
                </a:solidFill>
                <a:latin typeface="+mj-ea"/>
                <a:ea typeface="+mj-ea"/>
              </a:rPr>
              <a:t>05</a:t>
            </a:r>
            <a:endParaRPr kumimoji="1" lang="en-US" altLang="zh-CN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标题 32"/>
          <p:cNvSpPr>
            <a:spLocks noGrp="1"/>
          </p:cNvSpPr>
          <p:nvPr>
            <p:ph type="title" hasCustomPrompt="1"/>
            <p:custDataLst>
              <p:tags r:id="rId16"/>
            </p:custDataLst>
          </p:nvPr>
        </p:nvSpPr>
        <p:spPr>
          <a:xfrm>
            <a:off x="6762750" y="1587500"/>
            <a:ext cx="3072130" cy="52197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/>
              <a:t>项目介绍</a:t>
            </a:r>
            <a:endParaRPr lang="zh-CN" altLang="en-US" dirty="0"/>
          </a:p>
        </p:txBody>
      </p:sp>
      <p:sp>
        <p:nvSpPr>
          <p:cNvPr id="2" name="标题 32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6762750" y="2540000"/>
            <a:ext cx="3072130" cy="52197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/>
              <a:t>项目亮点</a:t>
            </a:r>
            <a:endParaRPr lang="zh-CN" altLang="en-US" dirty="0"/>
          </a:p>
        </p:txBody>
      </p:sp>
      <p:sp>
        <p:nvSpPr>
          <p:cNvPr id="3" name="标题 32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6762750" y="3467100"/>
            <a:ext cx="3072130" cy="52197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/>
              <a:t>技术难点</a:t>
            </a:r>
            <a:endParaRPr lang="zh-CN" altLang="en-US" dirty="0"/>
          </a:p>
        </p:txBody>
      </p:sp>
      <p:sp>
        <p:nvSpPr>
          <p:cNvPr id="4" name="标题 32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6762750" y="4419600"/>
            <a:ext cx="3072130" cy="52197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/>
              <a:t>项目测试</a:t>
            </a:r>
            <a:endParaRPr lang="zh-CN" altLang="en-US" dirty="0"/>
          </a:p>
        </p:txBody>
      </p:sp>
      <p:sp>
        <p:nvSpPr>
          <p:cNvPr id="5" name="标题 32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6762750" y="5372100"/>
            <a:ext cx="3072130" cy="52197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/>
              <a:t>作品演示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项目介绍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194300" y="3632200"/>
            <a:ext cx="5461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zh-CN" altLang="en-US" sz="15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从调优、调度与测试三类问题出发，形成控制、执行和验证闭环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5194300" y="4292600"/>
            <a:ext cx="3441700" cy="0"/>
          </a:xfrm>
          <a:prstGeom prst="line">
            <a:avLst/>
          </a:prstGeom>
          <a:ln w="25400" cap="flat" cmpd="sng" algn="ctr">
            <a:solidFill>
              <a:srgbClr val="13C7EF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55" y="522605"/>
            <a:ext cx="7624445" cy="491490"/>
          </a:xfrm>
        </p:spPr>
        <p:txBody>
          <a:bodyPr/>
          <a:lstStyle/>
          <a:p>
            <a:r>
              <a:rPr lang="en-US" altLang="zh-CN"/>
              <a:t>1.1  </a:t>
            </a:r>
            <a:r>
              <a:rPr lang="zh-CN" altLang="en-US"/>
              <a:t>设计背景</a:t>
            </a:r>
          </a:p>
        </p:txBody>
      </p:sp>
      <p:sp>
        <p:nvSpPr>
          <p:cNvPr id="4" name="SCX_refine_text_1">
            <a:extLst>
              <a:ext uri="{FF2B5EF4-FFF2-40B4-BE49-F238E27FC236}">
                <a16:creationId xmlns:a16="http://schemas.microsoft.com/office/drawing/2014/main" id="{7B1EBDAB-E96D-BF3E-377A-1F7C8149153E}"/>
              </a:ext>
            </a:extLst>
          </p:cNvPr>
          <p:cNvSpPr txBox="1"/>
          <p:nvPr/>
        </p:nvSpPr>
        <p:spPr>
          <a:xfrm>
            <a:off x="698500" y="1181100"/>
            <a:ext cx="10795000" cy="3810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zh-CN" altLang="en-US" sz="16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项目同时面对调优成本、混合负载和实验验证三类问题</a:t>
            </a:r>
          </a:p>
        </p:txBody>
      </p:sp>
      <p:sp>
        <p:nvSpPr>
          <p:cNvPr id="5" name="SCX_refine_rect_2">
            <a:extLst>
              <a:ext uri="{FF2B5EF4-FFF2-40B4-BE49-F238E27FC236}">
                <a16:creationId xmlns:a16="http://schemas.microsoft.com/office/drawing/2014/main" id="{73A01F7D-8BD4-D2B5-08E7-DCC9222C0FE2}"/>
              </a:ext>
            </a:extLst>
          </p:cNvPr>
          <p:cNvSpPr/>
          <p:nvPr/>
        </p:nvSpPr>
        <p:spPr>
          <a:xfrm>
            <a:off x="698500" y="1816100"/>
            <a:ext cx="10795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SCX_refine_rect_3">
            <a:extLst>
              <a:ext uri="{FF2B5EF4-FFF2-40B4-BE49-F238E27FC236}">
                <a16:creationId xmlns:a16="http://schemas.microsoft.com/office/drawing/2014/main" id="{AC83EF73-69DE-1329-9A90-9544396D9940}"/>
              </a:ext>
            </a:extLst>
          </p:cNvPr>
          <p:cNvSpPr/>
          <p:nvPr/>
        </p:nvSpPr>
        <p:spPr>
          <a:xfrm>
            <a:off x="914400" y="2032000"/>
            <a:ext cx="609600" cy="482600"/>
          </a:xfrm>
          <a:prstGeom prst="roundRect">
            <a:avLst/>
          </a:prstGeom>
          <a:solidFill>
            <a:srgbClr val="0F2256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0F2256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SCX_refine_text_4">
            <a:extLst>
              <a:ext uri="{FF2B5EF4-FFF2-40B4-BE49-F238E27FC236}">
                <a16:creationId xmlns:a16="http://schemas.microsoft.com/office/drawing/2014/main" id="{33E95EE9-0D3A-2F41-7C3D-2D087682C901}"/>
              </a:ext>
            </a:extLst>
          </p:cNvPr>
          <p:cNvSpPr txBox="1"/>
          <p:nvPr/>
        </p:nvSpPr>
        <p:spPr>
          <a:xfrm>
            <a:off x="914400" y="2032000"/>
            <a:ext cx="609600" cy="482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SCX_refine_text_5">
            <a:extLst>
              <a:ext uri="{FF2B5EF4-FFF2-40B4-BE49-F238E27FC236}">
                <a16:creationId xmlns:a16="http://schemas.microsoft.com/office/drawing/2014/main" id="{C590A0A0-D555-82DB-ABB6-6D5206694E52}"/>
              </a:ext>
            </a:extLst>
          </p:cNvPr>
          <p:cNvSpPr txBox="1"/>
          <p:nvPr/>
        </p:nvSpPr>
        <p:spPr>
          <a:xfrm>
            <a:off x="1739900" y="1930400"/>
            <a:ext cx="2413000" cy="6858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zh-CN" altLang="en-US" sz="1700" b="1">
                <a:solidFill>
                  <a:srgbClr val="1E2C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人工专家调优成本高</a:t>
            </a:r>
          </a:p>
        </p:txBody>
      </p:sp>
      <p:cxnSp>
        <p:nvCxnSpPr>
          <p:cNvPr id="9" name="SCX_refine_line_6">
            <a:extLst>
              <a:ext uri="{FF2B5EF4-FFF2-40B4-BE49-F238E27FC236}">
                <a16:creationId xmlns:a16="http://schemas.microsoft.com/office/drawing/2014/main" id="{87B6F60F-F5A6-9563-E622-792C2C3B7D49}"/>
              </a:ext>
            </a:extLst>
          </p:cNvPr>
          <p:cNvCxnSpPr/>
          <p:nvPr/>
        </p:nvCxnSpPr>
        <p:spPr>
          <a:xfrm>
            <a:off x="4191000" y="2006600"/>
            <a:ext cx="0" cy="533400"/>
          </a:xfrm>
          <a:prstGeom prst="line">
            <a:avLst/>
          </a:prstGeom>
          <a:ln w="12700">
            <a:solidFill>
              <a:srgbClr val="C2CD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CX_refine_text_7">
            <a:extLst>
              <a:ext uri="{FF2B5EF4-FFF2-40B4-BE49-F238E27FC236}">
                <a16:creationId xmlns:a16="http://schemas.microsoft.com/office/drawing/2014/main" id="{B3F22934-E71B-FBD8-2087-14CA9044035E}"/>
              </a:ext>
            </a:extLst>
          </p:cNvPr>
          <p:cNvSpPr txBox="1"/>
          <p:nvPr/>
        </p:nvSpPr>
        <p:spPr>
          <a:xfrm>
            <a:off x="4419600" y="1917700"/>
            <a:ext cx="5041900" cy="7112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zh-CN" altLang="en-US" sz="13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人工调优依赖专家持续观察和反复试验，所需时间长、成本高，难以灵活适应负载变化。</a:t>
            </a:r>
          </a:p>
        </p:txBody>
      </p:sp>
      <p:sp>
        <p:nvSpPr>
          <p:cNvPr id="11" name="SCX_refine_rect_8">
            <a:extLst>
              <a:ext uri="{FF2B5EF4-FFF2-40B4-BE49-F238E27FC236}">
                <a16:creationId xmlns:a16="http://schemas.microsoft.com/office/drawing/2014/main" id="{2070D2E1-EB54-E612-3AE1-028DC6A24C60}"/>
              </a:ext>
            </a:extLst>
          </p:cNvPr>
          <p:cNvSpPr/>
          <p:nvPr/>
        </p:nvSpPr>
        <p:spPr>
          <a:xfrm>
            <a:off x="9779000" y="2057400"/>
            <a:ext cx="1473200" cy="431800"/>
          </a:xfrm>
          <a:prstGeom prst="roundRect">
            <a:avLst/>
          </a:prstGeom>
          <a:solidFill>
            <a:srgbClr val="EBF1FC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EBF1FC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SCX_refine_text_9">
            <a:extLst>
              <a:ext uri="{FF2B5EF4-FFF2-40B4-BE49-F238E27FC236}">
                <a16:creationId xmlns:a16="http://schemas.microsoft.com/office/drawing/2014/main" id="{9D0E591A-FD16-9DAD-E2CE-5361BD56E572}"/>
              </a:ext>
            </a:extLst>
          </p:cNvPr>
          <p:cNvSpPr txBox="1"/>
          <p:nvPr/>
        </p:nvSpPr>
        <p:spPr>
          <a:xfrm>
            <a:off x="9779000" y="2057400"/>
            <a:ext cx="1473200" cy="4318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1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成本高、响应慢</a:t>
            </a:r>
          </a:p>
        </p:txBody>
      </p:sp>
      <p:sp>
        <p:nvSpPr>
          <p:cNvPr id="13" name="SCX_refine_rect_10">
            <a:extLst>
              <a:ext uri="{FF2B5EF4-FFF2-40B4-BE49-F238E27FC236}">
                <a16:creationId xmlns:a16="http://schemas.microsoft.com/office/drawing/2014/main" id="{C650E3F4-CB9D-8D1A-1392-B3BA89EAFBC5}"/>
              </a:ext>
            </a:extLst>
          </p:cNvPr>
          <p:cNvSpPr/>
          <p:nvPr/>
        </p:nvSpPr>
        <p:spPr>
          <a:xfrm>
            <a:off x="698500" y="2933700"/>
            <a:ext cx="10795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SCX_refine_rect_11">
            <a:extLst>
              <a:ext uri="{FF2B5EF4-FFF2-40B4-BE49-F238E27FC236}">
                <a16:creationId xmlns:a16="http://schemas.microsoft.com/office/drawing/2014/main" id="{331405A8-AF28-AA29-508D-8F8898BFF677}"/>
              </a:ext>
            </a:extLst>
          </p:cNvPr>
          <p:cNvSpPr/>
          <p:nvPr/>
        </p:nvSpPr>
        <p:spPr>
          <a:xfrm>
            <a:off x="914400" y="3149600"/>
            <a:ext cx="609600" cy="482600"/>
          </a:xfrm>
          <a:prstGeom prst="roundRect">
            <a:avLst/>
          </a:prstGeom>
          <a:solidFill>
            <a:srgbClr val="0F2256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0F2256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SCX_refine_text_12">
            <a:extLst>
              <a:ext uri="{FF2B5EF4-FFF2-40B4-BE49-F238E27FC236}">
                <a16:creationId xmlns:a16="http://schemas.microsoft.com/office/drawing/2014/main" id="{4F02F6CB-2E55-7799-8568-D515F2F00F7C}"/>
              </a:ext>
            </a:extLst>
          </p:cNvPr>
          <p:cNvSpPr txBox="1"/>
          <p:nvPr/>
        </p:nvSpPr>
        <p:spPr>
          <a:xfrm>
            <a:off x="914400" y="3149600"/>
            <a:ext cx="609600" cy="482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SCX_refine_text_13">
            <a:extLst>
              <a:ext uri="{FF2B5EF4-FFF2-40B4-BE49-F238E27FC236}">
                <a16:creationId xmlns:a16="http://schemas.microsoft.com/office/drawing/2014/main" id="{ECE48F2C-AF12-7E23-33E6-AC404ECBE883}"/>
              </a:ext>
            </a:extLst>
          </p:cNvPr>
          <p:cNvSpPr txBox="1"/>
          <p:nvPr/>
        </p:nvSpPr>
        <p:spPr>
          <a:xfrm>
            <a:off x="1739900" y="3048000"/>
            <a:ext cx="2413000" cy="6858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zh-CN" altLang="en-US" sz="1700" b="1">
                <a:solidFill>
                  <a:srgbClr val="1E2C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单一策略难兼顾多类负载</a:t>
            </a:r>
          </a:p>
        </p:txBody>
      </p:sp>
      <p:cxnSp>
        <p:nvCxnSpPr>
          <p:cNvPr id="17" name="SCX_refine_line_14">
            <a:extLst>
              <a:ext uri="{FF2B5EF4-FFF2-40B4-BE49-F238E27FC236}">
                <a16:creationId xmlns:a16="http://schemas.microsoft.com/office/drawing/2014/main" id="{525F12B9-5F6D-FB23-A34E-CE6141E092E3}"/>
              </a:ext>
            </a:extLst>
          </p:cNvPr>
          <p:cNvCxnSpPr/>
          <p:nvPr/>
        </p:nvCxnSpPr>
        <p:spPr>
          <a:xfrm>
            <a:off x="4191000" y="3124200"/>
            <a:ext cx="0" cy="533400"/>
          </a:xfrm>
          <a:prstGeom prst="line">
            <a:avLst/>
          </a:prstGeom>
          <a:ln w="12700">
            <a:solidFill>
              <a:srgbClr val="C2CD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CX_refine_text_15">
            <a:extLst>
              <a:ext uri="{FF2B5EF4-FFF2-40B4-BE49-F238E27FC236}">
                <a16:creationId xmlns:a16="http://schemas.microsoft.com/office/drawing/2014/main" id="{413EB3E5-7269-0792-1723-DC7151E242B0}"/>
              </a:ext>
            </a:extLst>
          </p:cNvPr>
          <p:cNvSpPr txBox="1"/>
          <p:nvPr/>
        </p:nvSpPr>
        <p:spPr>
          <a:xfrm>
            <a:off x="4419600" y="3035300"/>
            <a:ext cx="5041900" cy="7112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en-US" altLang="zh-CN" sz="13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BATCH </a:t>
            </a:r>
            <a:r>
              <a:rPr lang="zh-CN" altLang="en-US" sz="13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13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LATENCY </a:t>
            </a:r>
            <a:r>
              <a:rPr lang="zh-CN" altLang="en-US" sz="13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追求的目标不同，单一调度策略难同时兼顾尾延迟、吞吐和基本公平。</a:t>
            </a:r>
          </a:p>
        </p:txBody>
      </p:sp>
      <p:sp>
        <p:nvSpPr>
          <p:cNvPr id="45" name="SCX_refine_rect_16">
            <a:extLst>
              <a:ext uri="{FF2B5EF4-FFF2-40B4-BE49-F238E27FC236}">
                <a16:creationId xmlns:a16="http://schemas.microsoft.com/office/drawing/2014/main" id="{49DE0961-70F6-9BA3-7009-CB0B83899A3A}"/>
              </a:ext>
            </a:extLst>
          </p:cNvPr>
          <p:cNvSpPr/>
          <p:nvPr/>
        </p:nvSpPr>
        <p:spPr>
          <a:xfrm>
            <a:off x="9779000" y="3175000"/>
            <a:ext cx="1473200" cy="431800"/>
          </a:xfrm>
          <a:prstGeom prst="roundRect">
            <a:avLst/>
          </a:prstGeom>
          <a:solidFill>
            <a:srgbClr val="EBF1FC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EBF1FC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SCX_refine_text_17">
            <a:extLst>
              <a:ext uri="{FF2B5EF4-FFF2-40B4-BE49-F238E27FC236}">
                <a16:creationId xmlns:a16="http://schemas.microsoft.com/office/drawing/2014/main" id="{2F2D03B4-1E70-8B2D-3F4F-23675D00F3BE}"/>
              </a:ext>
            </a:extLst>
          </p:cNvPr>
          <p:cNvSpPr txBox="1"/>
          <p:nvPr/>
        </p:nvSpPr>
        <p:spPr>
          <a:xfrm>
            <a:off x="9779000" y="3175000"/>
            <a:ext cx="1473200" cy="4318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1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优化目标冲突</a:t>
            </a:r>
          </a:p>
        </p:txBody>
      </p:sp>
      <p:sp>
        <p:nvSpPr>
          <p:cNvPr id="47" name="SCX_refine_rect_18">
            <a:extLst>
              <a:ext uri="{FF2B5EF4-FFF2-40B4-BE49-F238E27FC236}">
                <a16:creationId xmlns:a16="http://schemas.microsoft.com/office/drawing/2014/main" id="{08959A79-2FD1-5F10-4D7C-0867E3C81975}"/>
              </a:ext>
            </a:extLst>
          </p:cNvPr>
          <p:cNvSpPr/>
          <p:nvPr/>
        </p:nvSpPr>
        <p:spPr>
          <a:xfrm>
            <a:off x="698500" y="4051300"/>
            <a:ext cx="10795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SCX_refine_rect_19">
            <a:extLst>
              <a:ext uri="{FF2B5EF4-FFF2-40B4-BE49-F238E27FC236}">
                <a16:creationId xmlns:a16="http://schemas.microsoft.com/office/drawing/2014/main" id="{A27E0F7E-C5EA-D171-4545-84EC207529A3}"/>
              </a:ext>
            </a:extLst>
          </p:cNvPr>
          <p:cNvSpPr/>
          <p:nvPr/>
        </p:nvSpPr>
        <p:spPr>
          <a:xfrm>
            <a:off x="914400" y="4267200"/>
            <a:ext cx="609600" cy="482600"/>
          </a:xfrm>
          <a:prstGeom prst="roundRect">
            <a:avLst/>
          </a:prstGeom>
          <a:solidFill>
            <a:srgbClr val="0F2256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0F2256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SCX_refine_text_20">
            <a:extLst>
              <a:ext uri="{FF2B5EF4-FFF2-40B4-BE49-F238E27FC236}">
                <a16:creationId xmlns:a16="http://schemas.microsoft.com/office/drawing/2014/main" id="{4A160197-9FC8-E0B5-A8CC-99A7FB512148}"/>
              </a:ext>
            </a:extLst>
          </p:cNvPr>
          <p:cNvSpPr txBox="1"/>
          <p:nvPr/>
        </p:nvSpPr>
        <p:spPr>
          <a:xfrm>
            <a:off x="914400" y="4267200"/>
            <a:ext cx="609600" cy="482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SCX_refine_text_21">
            <a:extLst>
              <a:ext uri="{FF2B5EF4-FFF2-40B4-BE49-F238E27FC236}">
                <a16:creationId xmlns:a16="http://schemas.microsoft.com/office/drawing/2014/main" id="{EA8D7794-2295-D091-063C-68BDD66BC85C}"/>
              </a:ext>
            </a:extLst>
          </p:cNvPr>
          <p:cNvSpPr txBox="1"/>
          <p:nvPr/>
        </p:nvSpPr>
        <p:spPr>
          <a:xfrm>
            <a:off x="1739900" y="4165600"/>
            <a:ext cx="2413000" cy="6858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zh-CN" altLang="en-US" sz="1700" b="1">
                <a:solidFill>
                  <a:srgbClr val="1E2C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性能测试难复现</a:t>
            </a:r>
          </a:p>
        </p:txBody>
      </p:sp>
      <p:cxnSp>
        <p:nvCxnSpPr>
          <p:cNvPr id="51" name="SCX_refine_line_22">
            <a:extLst>
              <a:ext uri="{FF2B5EF4-FFF2-40B4-BE49-F238E27FC236}">
                <a16:creationId xmlns:a16="http://schemas.microsoft.com/office/drawing/2014/main" id="{90A0CDD0-652B-462A-DD59-F554A736D875}"/>
              </a:ext>
            </a:extLst>
          </p:cNvPr>
          <p:cNvCxnSpPr/>
          <p:nvPr/>
        </p:nvCxnSpPr>
        <p:spPr>
          <a:xfrm>
            <a:off x="4191000" y="4241800"/>
            <a:ext cx="0" cy="533400"/>
          </a:xfrm>
          <a:prstGeom prst="line">
            <a:avLst/>
          </a:prstGeom>
          <a:ln w="12700">
            <a:solidFill>
              <a:srgbClr val="C2CD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SCX_refine_text_23">
            <a:extLst>
              <a:ext uri="{FF2B5EF4-FFF2-40B4-BE49-F238E27FC236}">
                <a16:creationId xmlns:a16="http://schemas.microsoft.com/office/drawing/2014/main" id="{EB2FA311-DF73-AF2E-9727-9B2198BDEA25}"/>
              </a:ext>
            </a:extLst>
          </p:cNvPr>
          <p:cNvSpPr txBox="1"/>
          <p:nvPr/>
        </p:nvSpPr>
        <p:spPr>
          <a:xfrm>
            <a:off x="4419600" y="4152900"/>
            <a:ext cx="5041900" cy="7112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zh-CN" altLang="en-US" sz="13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环境漂移、用例接入成本和指标格式差异，使不同测试基准难以稳定复现、统一分析与展示。</a:t>
            </a:r>
          </a:p>
        </p:txBody>
      </p:sp>
      <p:sp>
        <p:nvSpPr>
          <p:cNvPr id="53" name="SCX_refine_rect_24">
            <a:extLst>
              <a:ext uri="{FF2B5EF4-FFF2-40B4-BE49-F238E27FC236}">
                <a16:creationId xmlns:a16="http://schemas.microsoft.com/office/drawing/2014/main" id="{1DF0319A-222A-A393-5B7B-FA5489B73354}"/>
              </a:ext>
            </a:extLst>
          </p:cNvPr>
          <p:cNvSpPr/>
          <p:nvPr/>
        </p:nvSpPr>
        <p:spPr>
          <a:xfrm>
            <a:off x="9779000" y="4292600"/>
            <a:ext cx="1473200" cy="431800"/>
          </a:xfrm>
          <a:prstGeom prst="roundRect">
            <a:avLst/>
          </a:prstGeom>
          <a:solidFill>
            <a:srgbClr val="EBF1FC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EBF1FC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SCX_refine_text_25">
            <a:extLst>
              <a:ext uri="{FF2B5EF4-FFF2-40B4-BE49-F238E27FC236}">
                <a16:creationId xmlns:a16="http://schemas.microsoft.com/office/drawing/2014/main" id="{44181A68-5B2A-229B-F214-E457B79AD7C9}"/>
              </a:ext>
            </a:extLst>
          </p:cNvPr>
          <p:cNvSpPr txBox="1"/>
          <p:nvPr/>
        </p:nvSpPr>
        <p:spPr>
          <a:xfrm>
            <a:off x="9779000" y="4292600"/>
            <a:ext cx="1473200" cy="4318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1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证据难统一</a:t>
            </a:r>
          </a:p>
        </p:txBody>
      </p:sp>
      <p:sp>
        <p:nvSpPr>
          <p:cNvPr id="55" name="SCX_refine_rect_26">
            <a:extLst>
              <a:ext uri="{FF2B5EF4-FFF2-40B4-BE49-F238E27FC236}">
                <a16:creationId xmlns:a16="http://schemas.microsoft.com/office/drawing/2014/main" id="{8A09CB9F-01F6-0FA9-E7B3-109CC4A79C2A}"/>
              </a:ext>
            </a:extLst>
          </p:cNvPr>
          <p:cNvSpPr/>
          <p:nvPr/>
        </p:nvSpPr>
        <p:spPr>
          <a:xfrm>
            <a:off x="698500" y="5334000"/>
            <a:ext cx="10795000" cy="609600"/>
          </a:xfrm>
          <a:prstGeom prst="roundRect">
            <a:avLst/>
          </a:prstGeom>
          <a:solidFill>
            <a:srgbClr val="EBF1FC"/>
          </a:solidFill>
          <a:ln w="17780">
            <a:solidFill>
              <a:srgbClr val="2757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SCX_refine_text_27">
            <a:extLst>
              <a:ext uri="{FF2B5EF4-FFF2-40B4-BE49-F238E27FC236}">
                <a16:creationId xmlns:a16="http://schemas.microsoft.com/office/drawing/2014/main" id="{958E7BEC-9D82-3DBF-C30D-83F0260C27B3}"/>
              </a:ext>
            </a:extLst>
          </p:cNvPr>
          <p:cNvSpPr txBox="1"/>
          <p:nvPr/>
        </p:nvSpPr>
        <p:spPr>
          <a:xfrm>
            <a:off x="952500" y="5384800"/>
            <a:ext cx="10287000" cy="5080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5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三个问题分别由 </a:t>
            </a:r>
            <a:r>
              <a:rPr lang="en-US" altLang="zh-CN" sz="15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tuning_agent</a:t>
            </a:r>
            <a:r>
              <a:rPr lang="zh-CN" altLang="en-US" sz="15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5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scx_agent_classed </a:t>
            </a:r>
            <a:r>
              <a:rPr lang="zh-CN" altLang="en-US" sz="15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 </a:t>
            </a:r>
            <a:r>
              <a:rPr lang="en-US" altLang="zh-CN" sz="15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bench </a:t>
            </a:r>
            <a:r>
              <a:rPr lang="zh-CN" altLang="en-US" sz="15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对应解决。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55" y="522605"/>
            <a:ext cx="7624445" cy="491490"/>
          </a:xfrm>
        </p:spPr>
        <p:txBody>
          <a:bodyPr/>
          <a:lstStyle/>
          <a:p>
            <a:r>
              <a:rPr lang="en-US" altLang="zh-CN"/>
              <a:t>1.2  </a:t>
            </a:r>
            <a:r>
              <a:rPr lang="zh-CN" altLang="en-US"/>
              <a:t>设计目标与总体架构</a:t>
            </a:r>
          </a:p>
        </p:txBody>
      </p:sp>
      <p:sp>
        <p:nvSpPr>
          <p:cNvPr id="2" name="SCX_instruction_text_1">
            <a:extLst>
              <a:ext uri="{FF2B5EF4-FFF2-40B4-BE49-F238E27FC236}">
                <a16:creationId xmlns:a16="http://schemas.microsoft.com/office/drawing/2014/main" id="{8588A0EF-FDDD-CE05-D7B7-2B630771F3D0}"/>
              </a:ext>
            </a:extLst>
          </p:cNvPr>
          <p:cNvSpPr txBox="1"/>
          <p:nvPr/>
        </p:nvSpPr>
        <p:spPr>
          <a:xfrm>
            <a:off x="698500" y="1181100"/>
            <a:ext cx="10795000" cy="3810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zh-CN" altLang="en-US" sz="16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围绕智能调优、语义调度和可复现实验三个目标构建系统。</a:t>
            </a:r>
          </a:p>
        </p:txBody>
      </p:sp>
      <p:sp>
        <p:nvSpPr>
          <p:cNvPr id="25" name="SCX_instruction_rect_2">
            <a:extLst>
              <a:ext uri="{FF2B5EF4-FFF2-40B4-BE49-F238E27FC236}">
                <a16:creationId xmlns:a16="http://schemas.microsoft.com/office/drawing/2014/main" id="{EB41E6E6-782F-E431-F50B-F8DDB68C9F6B}"/>
              </a:ext>
            </a:extLst>
          </p:cNvPr>
          <p:cNvSpPr/>
          <p:nvPr/>
        </p:nvSpPr>
        <p:spPr>
          <a:xfrm>
            <a:off x="698500" y="1778000"/>
            <a:ext cx="3429000" cy="2413000"/>
          </a:xfrm>
          <a:prstGeom prst="roundRect">
            <a:avLst/>
          </a:prstGeom>
          <a:solidFill>
            <a:srgbClr val="EBF1FC"/>
          </a:solidFill>
          <a:ln w="15240">
            <a:solidFill>
              <a:srgbClr val="2757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SCX_instruction_rect_3">
            <a:extLst>
              <a:ext uri="{FF2B5EF4-FFF2-40B4-BE49-F238E27FC236}">
                <a16:creationId xmlns:a16="http://schemas.microsoft.com/office/drawing/2014/main" id="{54A43310-8495-4BAA-D522-A2C1A1A620D9}"/>
              </a:ext>
            </a:extLst>
          </p:cNvPr>
          <p:cNvSpPr/>
          <p:nvPr/>
        </p:nvSpPr>
        <p:spPr>
          <a:xfrm>
            <a:off x="927100" y="1993900"/>
            <a:ext cx="533400" cy="355600"/>
          </a:xfrm>
          <a:prstGeom prst="roundRect">
            <a:avLst/>
          </a:prstGeom>
          <a:solidFill>
            <a:srgbClr val="0F2256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0F2256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SCX_instruction_text_4">
            <a:extLst>
              <a:ext uri="{FF2B5EF4-FFF2-40B4-BE49-F238E27FC236}">
                <a16:creationId xmlns:a16="http://schemas.microsoft.com/office/drawing/2014/main" id="{C86CCFC1-468D-2755-B284-6F5C496E085A}"/>
              </a:ext>
            </a:extLst>
          </p:cNvPr>
          <p:cNvSpPr txBox="1"/>
          <p:nvPr/>
        </p:nvSpPr>
        <p:spPr>
          <a:xfrm>
            <a:off x="927100" y="1993900"/>
            <a:ext cx="533400" cy="355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9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sz="95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SCX_instruction_text_5">
            <a:extLst>
              <a:ext uri="{FF2B5EF4-FFF2-40B4-BE49-F238E27FC236}">
                <a16:creationId xmlns:a16="http://schemas.microsoft.com/office/drawing/2014/main" id="{BB25F0EB-BB9A-D02A-0A87-4925EBA65F44}"/>
              </a:ext>
            </a:extLst>
          </p:cNvPr>
          <p:cNvSpPr txBox="1"/>
          <p:nvPr/>
        </p:nvSpPr>
        <p:spPr>
          <a:xfrm>
            <a:off x="1612900" y="1943100"/>
            <a:ext cx="2247900" cy="4318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en-US" altLang="zh-CN" sz="1200" b="1">
                <a:solidFill>
                  <a:srgbClr val="2757E0"/>
                </a:solidFill>
                <a:latin typeface="Arial" panose="020B0604020202020204" pitchFamily="34" charset="0"/>
              </a:rPr>
              <a:t>tuning_agent</a:t>
            </a:r>
            <a:endParaRPr lang="zh-CN" altLang="en-US" sz="1200" b="1">
              <a:solidFill>
                <a:srgbClr val="2757E0"/>
              </a:solidFill>
              <a:latin typeface="Arial" panose="020B0604020202020204" pitchFamily="34" charset="0"/>
            </a:endParaRPr>
          </a:p>
        </p:txBody>
      </p:sp>
      <p:sp>
        <p:nvSpPr>
          <p:cNvPr id="29" name="SCX_instruction_text_6">
            <a:extLst>
              <a:ext uri="{FF2B5EF4-FFF2-40B4-BE49-F238E27FC236}">
                <a16:creationId xmlns:a16="http://schemas.microsoft.com/office/drawing/2014/main" id="{CA113EC1-EBEC-CF53-DDEA-5CBF550F770D}"/>
              </a:ext>
            </a:extLst>
          </p:cNvPr>
          <p:cNvSpPr txBox="1"/>
          <p:nvPr/>
        </p:nvSpPr>
        <p:spPr>
          <a:xfrm>
            <a:off x="952500" y="2514600"/>
            <a:ext cx="2921000" cy="4445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可控智能调优</a:t>
            </a:r>
          </a:p>
        </p:txBody>
      </p:sp>
      <p:sp>
        <p:nvSpPr>
          <p:cNvPr id="30" name="SCX_instruction_text_7">
            <a:extLst>
              <a:ext uri="{FF2B5EF4-FFF2-40B4-BE49-F238E27FC236}">
                <a16:creationId xmlns:a16="http://schemas.microsoft.com/office/drawing/2014/main" id="{0095292C-7546-9D2C-2F0F-21FB1C646186}"/>
              </a:ext>
            </a:extLst>
          </p:cNvPr>
          <p:cNvSpPr txBox="1"/>
          <p:nvPr/>
        </p:nvSpPr>
        <p:spPr>
          <a:xfrm>
            <a:off x="1003300" y="3073400"/>
            <a:ext cx="2819400" cy="863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2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以低开销、可扩展的 </a:t>
            </a:r>
            <a:r>
              <a:rPr lang="en-US" altLang="zh-CN" sz="12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
</a:t>
            </a:r>
            <a:r>
              <a:rPr lang="zh-CN" altLang="en-US" sz="12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模仿专家完成观测、实验、评价与恢复</a:t>
            </a:r>
          </a:p>
        </p:txBody>
      </p:sp>
      <p:sp>
        <p:nvSpPr>
          <p:cNvPr id="31" name="SCX_instruction_rect_8">
            <a:extLst>
              <a:ext uri="{FF2B5EF4-FFF2-40B4-BE49-F238E27FC236}">
                <a16:creationId xmlns:a16="http://schemas.microsoft.com/office/drawing/2014/main" id="{4D8B856A-079A-B961-9DDC-00AE1E2A7875}"/>
              </a:ext>
            </a:extLst>
          </p:cNvPr>
          <p:cNvSpPr/>
          <p:nvPr/>
        </p:nvSpPr>
        <p:spPr>
          <a:xfrm>
            <a:off x="4381500" y="1778000"/>
            <a:ext cx="3429000" cy="2413000"/>
          </a:xfrm>
          <a:prstGeom prst="roundRect">
            <a:avLst/>
          </a:prstGeom>
          <a:solidFill>
            <a:srgbClr val="EBF1FC"/>
          </a:solidFill>
          <a:ln w="15240">
            <a:solidFill>
              <a:srgbClr val="2757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SCX_instruction_rect_9">
            <a:extLst>
              <a:ext uri="{FF2B5EF4-FFF2-40B4-BE49-F238E27FC236}">
                <a16:creationId xmlns:a16="http://schemas.microsoft.com/office/drawing/2014/main" id="{1D1C5F8C-BA3B-697C-053C-179E689C57AD}"/>
              </a:ext>
            </a:extLst>
          </p:cNvPr>
          <p:cNvSpPr/>
          <p:nvPr/>
        </p:nvSpPr>
        <p:spPr>
          <a:xfrm>
            <a:off x="4610100" y="1993900"/>
            <a:ext cx="533400" cy="355600"/>
          </a:xfrm>
          <a:prstGeom prst="roundRect">
            <a:avLst/>
          </a:prstGeom>
          <a:solidFill>
            <a:srgbClr val="0F2256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0F2256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SCX_instruction_text_10">
            <a:extLst>
              <a:ext uri="{FF2B5EF4-FFF2-40B4-BE49-F238E27FC236}">
                <a16:creationId xmlns:a16="http://schemas.microsoft.com/office/drawing/2014/main" id="{E3B9A2FB-A2B3-E7DA-ED86-4D322EFE9C00}"/>
              </a:ext>
            </a:extLst>
          </p:cNvPr>
          <p:cNvSpPr txBox="1"/>
          <p:nvPr/>
        </p:nvSpPr>
        <p:spPr>
          <a:xfrm>
            <a:off x="4610100" y="1993900"/>
            <a:ext cx="533400" cy="355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9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95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SCX_instruction_text_11">
            <a:extLst>
              <a:ext uri="{FF2B5EF4-FFF2-40B4-BE49-F238E27FC236}">
                <a16:creationId xmlns:a16="http://schemas.microsoft.com/office/drawing/2014/main" id="{89727BE6-9CC5-878A-163C-F43E1556D5A8}"/>
              </a:ext>
            </a:extLst>
          </p:cNvPr>
          <p:cNvSpPr txBox="1"/>
          <p:nvPr/>
        </p:nvSpPr>
        <p:spPr>
          <a:xfrm>
            <a:off x="5295900" y="1943100"/>
            <a:ext cx="2247900" cy="4318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en-US" altLang="zh-CN" sz="1200" b="1">
                <a:solidFill>
                  <a:srgbClr val="2757E0"/>
                </a:solidFill>
                <a:latin typeface="Arial" panose="020B0604020202020204" pitchFamily="34" charset="0"/>
              </a:rPr>
              <a:t>scx_agent_classed</a:t>
            </a:r>
            <a:endParaRPr lang="zh-CN" altLang="en-US" sz="1200" b="1">
              <a:solidFill>
                <a:srgbClr val="2757E0"/>
              </a:solidFill>
              <a:latin typeface="Arial" panose="020B0604020202020204" pitchFamily="34" charset="0"/>
            </a:endParaRPr>
          </a:p>
        </p:txBody>
      </p:sp>
      <p:sp>
        <p:nvSpPr>
          <p:cNvPr id="35" name="SCX_instruction_text_12">
            <a:extLst>
              <a:ext uri="{FF2B5EF4-FFF2-40B4-BE49-F238E27FC236}">
                <a16:creationId xmlns:a16="http://schemas.microsoft.com/office/drawing/2014/main" id="{4B820501-3606-9EAF-412D-7275412C5E05}"/>
              </a:ext>
            </a:extLst>
          </p:cNvPr>
          <p:cNvSpPr txBox="1"/>
          <p:nvPr/>
        </p:nvSpPr>
        <p:spPr>
          <a:xfrm>
            <a:off x="4635500" y="2514600"/>
            <a:ext cx="2921000" cy="4445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语义分类调度</a:t>
            </a:r>
          </a:p>
        </p:txBody>
      </p:sp>
      <p:sp>
        <p:nvSpPr>
          <p:cNvPr id="36" name="SCX_instruction_text_13">
            <a:extLst>
              <a:ext uri="{FF2B5EF4-FFF2-40B4-BE49-F238E27FC236}">
                <a16:creationId xmlns:a16="http://schemas.microsoft.com/office/drawing/2014/main" id="{0213720E-3A3F-8622-7B46-C32904B4A66D}"/>
              </a:ext>
            </a:extLst>
          </p:cNvPr>
          <p:cNvSpPr txBox="1"/>
          <p:nvPr/>
        </p:nvSpPr>
        <p:spPr>
          <a:xfrm>
            <a:off x="4686300" y="3073400"/>
            <a:ext cx="2819400" cy="863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2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按任务语义划分类别
采用不同调度策略，并在类别间动态选择</a:t>
            </a:r>
          </a:p>
        </p:txBody>
      </p:sp>
      <p:sp>
        <p:nvSpPr>
          <p:cNvPr id="37" name="SCX_instruction_rect_14">
            <a:extLst>
              <a:ext uri="{FF2B5EF4-FFF2-40B4-BE49-F238E27FC236}">
                <a16:creationId xmlns:a16="http://schemas.microsoft.com/office/drawing/2014/main" id="{76A4A707-9A26-7DB8-39E4-9EEA3DCE5BA9}"/>
              </a:ext>
            </a:extLst>
          </p:cNvPr>
          <p:cNvSpPr/>
          <p:nvPr/>
        </p:nvSpPr>
        <p:spPr>
          <a:xfrm>
            <a:off x="8064500" y="1778000"/>
            <a:ext cx="3429000" cy="2413000"/>
          </a:xfrm>
          <a:prstGeom prst="roundRect">
            <a:avLst/>
          </a:prstGeom>
          <a:solidFill>
            <a:srgbClr val="EBF1FC"/>
          </a:solidFill>
          <a:ln w="15240">
            <a:solidFill>
              <a:srgbClr val="2757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SCX_instruction_rect_15">
            <a:extLst>
              <a:ext uri="{FF2B5EF4-FFF2-40B4-BE49-F238E27FC236}">
                <a16:creationId xmlns:a16="http://schemas.microsoft.com/office/drawing/2014/main" id="{79321904-7F7C-D066-46E4-E8D0E21FBDE0}"/>
              </a:ext>
            </a:extLst>
          </p:cNvPr>
          <p:cNvSpPr/>
          <p:nvPr/>
        </p:nvSpPr>
        <p:spPr>
          <a:xfrm>
            <a:off x="8293100" y="1993900"/>
            <a:ext cx="533400" cy="355600"/>
          </a:xfrm>
          <a:prstGeom prst="roundRect">
            <a:avLst/>
          </a:prstGeom>
          <a:solidFill>
            <a:srgbClr val="0F2256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0F2256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SCX_instruction_text_16">
            <a:extLst>
              <a:ext uri="{FF2B5EF4-FFF2-40B4-BE49-F238E27FC236}">
                <a16:creationId xmlns:a16="http://schemas.microsoft.com/office/drawing/2014/main" id="{D9D36277-2F8F-CAE9-8FC7-D0DF7F554503}"/>
              </a:ext>
            </a:extLst>
          </p:cNvPr>
          <p:cNvSpPr txBox="1"/>
          <p:nvPr/>
        </p:nvSpPr>
        <p:spPr>
          <a:xfrm>
            <a:off x="8293100" y="1993900"/>
            <a:ext cx="533400" cy="355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9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95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SCX_instruction_text_17">
            <a:extLst>
              <a:ext uri="{FF2B5EF4-FFF2-40B4-BE49-F238E27FC236}">
                <a16:creationId xmlns:a16="http://schemas.microsoft.com/office/drawing/2014/main" id="{5DAA68F1-7066-5610-52AE-A3A5E4F198DE}"/>
              </a:ext>
            </a:extLst>
          </p:cNvPr>
          <p:cNvSpPr txBox="1"/>
          <p:nvPr/>
        </p:nvSpPr>
        <p:spPr>
          <a:xfrm>
            <a:off x="8978900" y="1943100"/>
            <a:ext cx="2247900" cy="4318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en-US" altLang="zh-CN" sz="1200" b="1">
                <a:solidFill>
                  <a:srgbClr val="2757E0"/>
                </a:solidFill>
                <a:latin typeface="Arial" panose="020B0604020202020204" pitchFamily="34" charset="0"/>
              </a:rPr>
              <a:t>bench</a:t>
            </a:r>
            <a:endParaRPr lang="zh-CN" altLang="en-US" sz="1200" b="1">
              <a:solidFill>
                <a:srgbClr val="2757E0"/>
              </a:solidFill>
              <a:latin typeface="Arial" panose="020B0604020202020204" pitchFamily="34" charset="0"/>
            </a:endParaRPr>
          </a:p>
        </p:txBody>
      </p:sp>
      <p:sp>
        <p:nvSpPr>
          <p:cNvPr id="41" name="SCX_instruction_text_18">
            <a:extLst>
              <a:ext uri="{FF2B5EF4-FFF2-40B4-BE49-F238E27FC236}">
                <a16:creationId xmlns:a16="http://schemas.microsoft.com/office/drawing/2014/main" id="{12F1B620-F6C7-CE1B-1628-BF0CE17388CA}"/>
              </a:ext>
            </a:extLst>
          </p:cNvPr>
          <p:cNvSpPr txBox="1"/>
          <p:nvPr/>
        </p:nvSpPr>
        <p:spPr>
          <a:xfrm>
            <a:off x="8318500" y="2514600"/>
            <a:ext cx="2921000" cy="4445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可复现实验</a:t>
            </a:r>
          </a:p>
        </p:txBody>
      </p:sp>
      <p:sp>
        <p:nvSpPr>
          <p:cNvPr id="42" name="SCX_instruction_text_19">
            <a:extLst>
              <a:ext uri="{FF2B5EF4-FFF2-40B4-BE49-F238E27FC236}">
                <a16:creationId xmlns:a16="http://schemas.microsoft.com/office/drawing/2014/main" id="{5E97319B-586F-404A-9FB3-232A6395529A}"/>
              </a:ext>
            </a:extLst>
          </p:cNvPr>
          <p:cNvSpPr txBox="1"/>
          <p:nvPr/>
        </p:nvSpPr>
        <p:spPr>
          <a:xfrm>
            <a:off x="8369300" y="3073400"/>
            <a:ext cx="2819400" cy="863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2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稳定复现性能测试
易扩展新用例，统一指标、分析和展示</a:t>
            </a:r>
          </a:p>
        </p:txBody>
      </p:sp>
      <p:sp>
        <p:nvSpPr>
          <p:cNvPr id="43" name="SCX_instruction_rect_20">
            <a:extLst>
              <a:ext uri="{FF2B5EF4-FFF2-40B4-BE49-F238E27FC236}">
                <a16:creationId xmlns:a16="http://schemas.microsoft.com/office/drawing/2014/main" id="{C10B46BE-1426-C8C1-B4BE-E0C16912CA2B}"/>
              </a:ext>
            </a:extLst>
          </p:cNvPr>
          <p:cNvSpPr/>
          <p:nvPr/>
        </p:nvSpPr>
        <p:spPr>
          <a:xfrm>
            <a:off x="698500" y="4521200"/>
            <a:ext cx="10795000" cy="1257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SCX_instruction_rect_21">
            <a:extLst>
              <a:ext uri="{FF2B5EF4-FFF2-40B4-BE49-F238E27FC236}">
                <a16:creationId xmlns:a16="http://schemas.microsoft.com/office/drawing/2014/main" id="{F49EEA66-9C67-C69F-F970-A45774F9A7D5}"/>
              </a:ext>
            </a:extLst>
          </p:cNvPr>
          <p:cNvSpPr/>
          <p:nvPr/>
        </p:nvSpPr>
        <p:spPr>
          <a:xfrm>
            <a:off x="1016000" y="4711700"/>
            <a:ext cx="2476500" cy="381000"/>
          </a:xfrm>
          <a:prstGeom prst="roundRect">
            <a:avLst/>
          </a:prstGeom>
          <a:solidFill>
            <a:srgbClr val="EBF1FC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EBF1FC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SCX_instruction_text_22">
            <a:extLst>
              <a:ext uri="{FF2B5EF4-FFF2-40B4-BE49-F238E27FC236}">
                <a16:creationId xmlns:a16="http://schemas.microsoft.com/office/drawing/2014/main" id="{0519249B-B6F2-91B4-F078-D94E27F21429}"/>
              </a:ext>
            </a:extLst>
          </p:cNvPr>
          <p:cNvSpPr txBox="1"/>
          <p:nvPr/>
        </p:nvSpPr>
        <p:spPr>
          <a:xfrm>
            <a:off x="1016000" y="4711700"/>
            <a:ext cx="2476500" cy="3810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05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tuning_agent  </a:t>
            </a:r>
            <a:r>
              <a:rPr lang="zh-CN" altLang="en-US" sz="105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提出受限变更</a:t>
            </a:r>
          </a:p>
        </p:txBody>
      </p:sp>
      <p:cxnSp>
        <p:nvCxnSpPr>
          <p:cNvPr id="46" name="SCX_instruction_line_23">
            <a:extLst>
              <a:ext uri="{FF2B5EF4-FFF2-40B4-BE49-F238E27FC236}">
                <a16:creationId xmlns:a16="http://schemas.microsoft.com/office/drawing/2014/main" id="{B9235326-0611-EAE4-2885-F189FEF12738}"/>
              </a:ext>
            </a:extLst>
          </p:cNvPr>
          <p:cNvCxnSpPr/>
          <p:nvPr/>
        </p:nvCxnSpPr>
        <p:spPr>
          <a:xfrm>
            <a:off x="3556000" y="4902200"/>
            <a:ext cx="889000" cy="0"/>
          </a:xfrm>
          <a:prstGeom prst="line">
            <a:avLst/>
          </a:prstGeom>
          <a:ln w="25400">
            <a:solidFill>
              <a:srgbClr val="C2CDE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SCX_instruction_rect_24">
            <a:extLst>
              <a:ext uri="{FF2B5EF4-FFF2-40B4-BE49-F238E27FC236}">
                <a16:creationId xmlns:a16="http://schemas.microsoft.com/office/drawing/2014/main" id="{7E4B3A1A-4302-60E2-E598-D146203018C4}"/>
              </a:ext>
            </a:extLst>
          </p:cNvPr>
          <p:cNvSpPr/>
          <p:nvPr/>
        </p:nvSpPr>
        <p:spPr>
          <a:xfrm>
            <a:off x="4508500" y="4711700"/>
            <a:ext cx="2794000" cy="381000"/>
          </a:xfrm>
          <a:prstGeom prst="roundRect">
            <a:avLst/>
          </a:prstGeom>
          <a:solidFill>
            <a:srgbClr val="E8F8FB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E8F8FB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SCX_instruction_text_25">
            <a:extLst>
              <a:ext uri="{FF2B5EF4-FFF2-40B4-BE49-F238E27FC236}">
                <a16:creationId xmlns:a16="http://schemas.microsoft.com/office/drawing/2014/main" id="{4B2E15C0-6C4C-E486-4EA6-41A972483113}"/>
              </a:ext>
            </a:extLst>
          </p:cNvPr>
          <p:cNvSpPr txBox="1"/>
          <p:nvPr/>
        </p:nvSpPr>
        <p:spPr>
          <a:xfrm>
            <a:off x="4508500" y="4711700"/>
            <a:ext cx="2794000" cy="3810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05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scx_agent_classed  </a:t>
            </a:r>
            <a:r>
              <a:rPr lang="zh-CN" altLang="en-US" sz="105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执行策略</a:t>
            </a:r>
          </a:p>
        </p:txBody>
      </p:sp>
      <p:cxnSp>
        <p:nvCxnSpPr>
          <p:cNvPr id="49" name="SCX_instruction_line_26">
            <a:extLst>
              <a:ext uri="{FF2B5EF4-FFF2-40B4-BE49-F238E27FC236}">
                <a16:creationId xmlns:a16="http://schemas.microsoft.com/office/drawing/2014/main" id="{5BB7A211-DB29-0195-B340-D0E2B19A162B}"/>
              </a:ext>
            </a:extLst>
          </p:cNvPr>
          <p:cNvCxnSpPr/>
          <p:nvPr/>
        </p:nvCxnSpPr>
        <p:spPr>
          <a:xfrm>
            <a:off x="7366000" y="4902200"/>
            <a:ext cx="889000" cy="0"/>
          </a:xfrm>
          <a:prstGeom prst="line">
            <a:avLst/>
          </a:prstGeom>
          <a:ln w="25400">
            <a:solidFill>
              <a:srgbClr val="C2CDE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SCX_instruction_rect_27">
            <a:extLst>
              <a:ext uri="{FF2B5EF4-FFF2-40B4-BE49-F238E27FC236}">
                <a16:creationId xmlns:a16="http://schemas.microsoft.com/office/drawing/2014/main" id="{0C0FD6EF-FA19-62BB-5C27-AE8212E2D006}"/>
              </a:ext>
            </a:extLst>
          </p:cNvPr>
          <p:cNvSpPr/>
          <p:nvPr/>
        </p:nvSpPr>
        <p:spPr>
          <a:xfrm>
            <a:off x="8318500" y="4711700"/>
            <a:ext cx="2794000" cy="381000"/>
          </a:xfrm>
          <a:prstGeom prst="roundRect">
            <a:avLst/>
          </a:prstGeom>
          <a:solidFill>
            <a:srgbClr val="EBF1FC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EBF1FC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SCX_instruction_text_28">
            <a:extLst>
              <a:ext uri="{FF2B5EF4-FFF2-40B4-BE49-F238E27FC236}">
                <a16:creationId xmlns:a16="http://schemas.microsoft.com/office/drawing/2014/main" id="{DE9E04D9-5888-2446-6E8C-602A243D5811}"/>
              </a:ext>
            </a:extLst>
          </p:cNvPr>
          <p:cNvSpPr txBox="1"/>
          <p:nvPr/>
        </p:nvSpPr>
        <p:spPr>
          <a:xfrm>
            <a:off x="8318500" y="4711700"/>
            <a:ext cx="2794000" cy="3810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05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bench  </a:t>
            </a:r>
            <a:r>
              <a:rPr lang="zh-CN" altLang="en-US" sz="105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独立验证结果</a:t>
            </a:r>
          </a:p>
        </p:txBody>
      </p:sp>
      <p:sp>
        <p:nvSpPr>
          <p:cNvPr id="52" name="SCX_instruction_text_29">
            <a:extLst>
              <a:ext uri="{FF2B5EF4-FFF2-40B4-BE49-F238E27FC236}">
                <a16:creationId xmlns:a16="http://schemas.microsoft.com/office/drawing/2014/main" id="{0437CEE9-302B-B6E2-CB73-C2849B94F691}"/>
              </a:ext>
            </a:extLst>
          </p:cNvPr>
          <p:cNvSpPr txBox="1"/>
          <p:nvPr/>
        </p:nvSpPr>
        <p:spPr>
          <a:xfrm>
            <a:off x="1016000" y="5232400"/>
            <a:ext cx="10096500" cy="3429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2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控制面、执行面和证据面相互独立，通过 </a:t>
            </a:r>
            <a:r>
              <a:rPr lang="en-US" altLang="zh-CN" sz="12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MCP</a:t>
            </a:r>
            <a:r>
              <a:rPr lang="zh-CN" altLang="en-US" sz="12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Unix socket </a:t>
            </a:r>
            <a:r>
              <a:rPr lang="zh-CN" altLang="en-US" sz="12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12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artifacts </a:t>
            </a:r>
            <a:r>
              <a:rPr lang="zh-CN" altLang="en-US" sz="12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连接。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55" y="522605"/>
            <a:ext cx="7624445" cy="491490"/>
          </a:xfrm>
        </p:spPr>
        <p:txBody>
          <a:bodyPr/>
          <a:lstStyle/>
          <a:p>
            <a:r>
              <a:rPr lang="en-US" altLang="zh-CN"/>
              <a:t>1.3  </a:t>
            </a:r>
            <a:r>
              <a:rPr lang="zh-CN" altLang="en-US"/>
              <a:t>较同类方案的优势</a:t>
            </a:r>
          </a:p>
        </p:txBody>
      </p:sp>
      <p:sp>
        <p:nvSpPr>
          <p:cNvPr id="2" name="SCX_instruction_text_30">
            <a:extLst>
              <a:ext uri="{FF2B5EF4-FFF2-40B4-BE49-F238E27FC236}">
                <a16:creationId xmlns:a16="http://schemas.microsoft.com/office/drawing/2014/main" id="{2437E77B-5E9F-06F4-99F0-E2B7C72FCF1C}"/>
              </a:ext>
            </a:extLst>
          </p:cNvPr>
          <p:cNvSpPr txBox="1"/>
          <p:nvPr/>
        </p:nvSpPr>
        <p:spPr>
          <a:xfrm>
            <a:off x="698500" y="1181100"/>
            <a:ext cx="10795000" cy="3810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zh-CN" altLang="en-US" sz="16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三部分分别在可控扩展、调度开销和实验复现方面形成差异化优势。</a:t>
            </a:r>
          </a:p>
        </p:txBody>
      </p:sp>
      <p:sp>
        <p:nvSpPr>
          <p:cNvPr id="43" name="SCX_instruction_rect_31">
            <a:extLst>
              <a:ext uri="{FF2B5EF4-FFF2-40B4-BE49-F238E27FC236}">
                <a16:creationId xmlns:a16="http://schemas.microsoft.com/office/drawing/2014/main" id="{A9515377-4B9F-21DE-EE3B-9129F06A3F1E}"/>
              </a:ext>
            </a:extLst>
          </p:cNvPr>
          <p:cNvSpPr/>
          <p:nvPr/>
        </p:nvSpPr>
        <p:spPr>
          <a:xfrm>
            <a:off x="698500" y="1765300"/>
            <a:ext cx="1968500" cy="508000"/>
          </a:xfrm>
          <a:prstGeom prst="roundRect">
            <a:avLst/>
          </a:prstGeom>
          <a:solidFill>
            <a:srgbClr val="EBF1FC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SCX_instruction_text_32">
            <a:extLst>
              <a:ext uri="{FF2B5EF4-FFF2-40B4-BE49-F238E27FC236}">
                <a16:creationId xmlns:a16="http://schemas.microsoft.com/office/drawing/2014/main" id="{9ACBA5D8-0A8E-1FCC-4085-F2EAB39C5795}"/>
              </a:ext>
            </a:extLst>
          </p:cNvPr>
          <p:cNvSpPr txBox="1"/>
          <p:nvPr/>
        </p:nvSpPr>
        <p:spPr>
          <a:xfrm>
            <a:off x="698500" y="1765300"/>
            <a:ext cx="1968500" cy="5080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组成</a:t>
            </a:r>
          </a:p>
        </p:txBody>
      </p:sp>
      <p:sp>
        <p:nvSpPr>
          <p:cNvPr id="45" name="SCX_instruction_rect_33">
            <a:extLst>
              <a:ext uri="{FF2B5EF4-FFF2-40B4-BE49-F238E27FC236}">
                <a16:creationId xmlns:a16="http://schemas.microsoft.com/office/drawing/2014/main" id="{381E3193-3FBB-9D4D-B35B-7017C0B4B675}"/>
              </a:ext>
            </a:extLst>
          </p:cNvPr>
          <p:cNvSpPr/>
          <p:nvPr/>
        </p:nvSpPr>
        <p:spPr>
          <a:xfrm>
            <a:off x="2794000" y="1765300"/>
            <a:ext cx="5143500" cy="508000"/>
          </a:xfrm>
          <a:prstGeom prst="roundRect">
            <a:avLst/>
          </a:prstGeom>
          <a:solidFill>
            <a:srgbClr val="EBF1FC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SCX_instruction_text_34">
            <a:extLst>
              <a:ext uri="{FF2B5EF4-FFF2-40B4-BE49-F238E27FC236}">
                <a16:creationId xmlns:a16="http://schemas.microsoft.com/office/drawing/2014/main" id="{75ECF702-C1BC-C408-78E4-8AADC83B3271}"/>
              </a:ext>
            </a:extLst>
          </p:cNvPr>
          <p:cNvSpPr txBox="1"/>
          <p:nvPr/>
        </p:nvSpPr>
        <p:spPr>
          <a:xfrm>
            <a:off x="2794000" y="1765300"/>
            <a:ext cx="5143500" cy="5080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核心机制</a:t>
            </a:r>
          </a:p>
        </p:txBody>
      </p:sp>
      <p:sp>
        <p:nvSpPr>
          <p:cNvPr id="47" name="SCX_instruction_rect_35">
            <a:extLst>
              <a:ext uri="{FF2B5EF4-FFF2-40B4-BE49-F238E27FC236}">
                <a16:creationId xmlns:a16="http://schemas.microsoft.com/office/drawing/2014/main" id="{41609063-4A7D-2DA6-9E99-EAEF6A21DEF1}"/>
              </a:ext>
            </a:extLst>
          </p:cNvPr>
          <p:cNvSpPr/>
          <p:nvPr/>
        </p:nvSpPr>
        <p:spPr>
          <a:xfrm>
            <a:off x="8064500" y="1765300"/>
            <a:ext cx="3429000" cy="508000"/>
          </a:xfrm>
          <a:prstGeom prst="roundRect">
            <a:avLst/>
          </a:prstGeom>
          <a:solidFill>
            <a:srgbClr val="EBF1FC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SCX_instruction_text_36">
            <a:extLst>
              <a:ext uri="{FF2B5EF4-FFF2-40B4-BE49-F238E27FC236}">
                <a16:creationId xmlns:a16="http://schemas.microsoft.com/office/drawing/2014/main" id="{AD65D210-A554-40C4-18EE-EBAD6C29EF52}"/>
              </a:ext>
            </a:extLst>
          </p:cNvPr>
          <p:cNvSpPr txBox="1"/>
          <p:nvPr/>
        </p:nvSpPr>
        <p:spPr>
          <a:xfrm>
            <a:off x="8064500" y="1765300"/>
            <a:ext cx="3429000" cy="5080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带来的价值</a:t>
            </a:r>
          </a:p>
        </p:txBody>
      </p:sp>
      <p:sp>
        <p:nvSpPr>
          <p:cNvPr id="49" name="SCX_instruction_rect_37">
            <a:extLst>
              <a:ext uri="{FF2B5EF4-FFF2-40B4-BE49-F238E27FC236}">
                <a16:creationId xmlns:a16="http://schemas.microsoft.com/office/drawing/2014/main" id="{A3A1FAE3-9595-2717-B05A-82A559702E37}"/>
              </a:ext>
            </a:extLst>
          </p:cNvPr>
          <p:cNvSpPr/>
          <p:nvPr/>
        </p:nvSpPr>
        <p:spPr>
          <a:xfrm>
            <a:off x="698500" y="2425700"/>
            <a:ext cx="19685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SCX_instruction_text_38">
            <a:extLst>
              <a:ext uri="{FF2B5EF4-FFF2-40B4-BE49-F238E27FC236}">
                <a16:creationId xmlns:a16="http://schemas.microsoft.com/office/drawing/2014/main" id="{393AA4E3-8CA0-2D31-2ECF-2F9196A4E709}"/>
              </a:ext>
            </a:extLst>
          </p:cNvPr>
          <p:cNvSpPr txBox="1"/>
          <p:nvPr/>
        </p:nvSpPr>
        <p:spPr>
          <a:xfrm>
            <a:off x="800100" y="2425700"/>
            <a:ext cx="1765300" cy="10414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250" b="1">
                <a:solidFill>
                  <a:srgbClr val="0F2256"/>
                </a:solidFill>
                <a:latin typeface="Arial" panose="020B0604020202020204" pitchFamily="34" charset="0"/>
              </a:rPr>
              <a:t>tuning_agent</a:t>
            </a:r>
            <a:endParaRPr lang="zh-CN" altLang="en-US" sz="1250" b="1">
              <a:solidFill>
                <a:srgbClr val="0F2256"/>
              </a:solidFill>
              <a:latin typeface="Arial" panose="020B0604020202020204" pitchFamily="34" charset="0"/>
            </a:endParaRPr>
          </a:p>
        </p:txBody>
      </p:sp>
      <p:sp>
        <p:nvSpPr>
          <p:cNvPr id="51" name="SCX_instruction_rect_39">
            <a:extLst>
              <a:ext uri="{FF2B5EF4-FFF2-40B4-BE49-F238E27FC236}">
                <a16:creationId xmlns:a16="http://schemas.microsoft.com/office/drawing/2014/main" id="{EEBAF24F-8D3F-1751-2A3E-F5461AA783BF}"/>
              </a:ext>
            </a:extLst>
          </p:cNvPr>
          <p:cNvSpPr/>
          <p:nvPr/>
        </p:nvSpPr>
        <p:spPr>
          <a:xfrm>
            <a:off x="2794000" y="2425700"/>
            <a:ext cx="51435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SCX_instruction_text_40">
            <a:extLst>
              <a:ext uri="{FF2B5EF4-FFF2-40B4-BE49-F238E27FC236}">
                <a16:creationId xmlns:a16="http://schemas.microsoft.com/office/drawing/2014/main" id="{01695D0C-7074-E1AE-E7E2-14E7AF7DDC83}"/>
              </a:ext>
            </a:extLst>
          </p:cNvPr>
          <p:cNvSpPr txBox="1"/>
          <p:nvPr/>
        </p:nvSpPr>
        <p:spPr>
          <a:xfrm>
            <a:off x="2984500" y="2514600"/>
            <a:ext cx="4762500" cy="863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150">
                <a:solidFill>
                  <a:srgbClr val="1E2C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机制与策略分离：</a:t>
            </a:r>
            <a:r>
              <a:rPr lang="en-US" altLang="zh-CN" sz="1150">
                <a:solidFill>
                  <a:srgbClr val="1E2C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Runtime </a:t>
            </a:r>
            <a:r>
              <a:rPr lang="zh-CN" altLang="en-US" sz="1150">
                <a:solidFill>
                  <a:srgbClr val="1E2C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管理状态、事务与评价，</a:t>
            </a:r>
            <a:r>
              <a:rPr lang="en-US" altLang="zh-CN" sz="1150">
                <a:solidFill>
                  <a:srgbClr val="1E2C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Provider </a:t>
            </a:r>
            <a:r>
              <a:rPr lang="zh-CN" altLang="en-US" sz="1150">
                <a:solidFill>
                  <a:srgbClr val="1E2C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扩展能力，</a:t>
            </a:r>
            <a:r>
              <a:rPr lang="en-US" altLang="zh-CN" sz="1150">
                <a:solidFill>
                  <a:srgbClr val="1E2C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LLM </a:t>
            </a:r>
            <a:r>
              <a:rPr lang="zh-CN" altLang="en-US" sz="1150">
                <a:solidFill>
                  <a:srgbClr val="1E2C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选择目标和实验行为。</a:t>
            </a:r>
          </a:p>
        </p:txBody>
      </p:sp>
      <p:sp>
        <p:nvSpPr>
          <p:cNvPr id="53" name="SCX_instruction_rect_41">
            <a:extLst>
              <a:ext uri="{FF2B5EF4-FFF2-40B4-BE49-F238E27FC236}">
                <a16:creationId xmlns:a16="http://schemas.microsoft.com/office/drawing/2014/main" id="{A40C1AD4-F4B4-B049-B3F4-423A6BD43F93}"/>
              </a:ext>
            </a:extLst>
          </p:cNvPr>
          <p:cNvSpPr/>
          <p:nvPr/>
        </p:nvSpPr>
        <p:spPr>
          <a:xfrm>
            <a:off x="8064500" y="2425700"/>
            <a:ext cx="34290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SCX_instruction_text_42">
            <a:extLst>
              <a:ext uri="{FF2B5EF4-FFF2-40B4-BE49-F238E27FC236}">
                <a16:creationId xmlns:a16="http://schemas.microsoft.com/office/drawing/2014/main" id="{E9D5BA73-04DD-C423-9708-C68B2090F1DA}"/>
              </a:ext>
            </a:extLst>
          </p:cNvPr>
          <p:cNvSpPr txBox="1"/>
          <p:nvPr/>
        </p:nvSpPr>
        <p:spPr>
          <a:xfrm>
            <a:off x="8255000" y="2501900"/>
            <a:ext cx="3048000" cy="8890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15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稳定可控
可扩展
策略灵活</a:t>
            </a:r>
          </a:p>
        </p:txBody>
      </p:sp>
      <p:sp>
        <p:nvSpPr>
          <p:cNvPr id="55" name="SCX_instruction_rect_43">
            <a:extLst>
              <a:ext uri="{FF2B5EF4-FFF2-40B4-BE49-F238E27FC236}">
                <a16:creationId xmlns:a16="http://schemas.microsoft.com/office/drawing/2014/main" id="{EC7E0109-3E04-5700-DDFD-031771B257EA}"/>
              </a:ext>
            </a:extLst>
          </p:cNvPr>
          <p:cNvSpPr/>
          <p:nvPr/>
        </p:nvSpPr>
        <p:spPr>
          <a:xfrm>
            <a:off x="698500" y="3644900"/>
            <a:ext cx="19685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SCX_instruction_text_44">
            <a:extLst>
              <a:ext uri="{FF2B5EF4-FFF2-40B4-BE49-F238E27FC236}">
                <a16:creationId xmlns:a16="http://schemas.microsoft.com/office/drawing/2014/main" id="{09348A0B-B1B4-D2A3-6261-D2EEE861AD86}"/>
              </a:ext>
            </a:extLst>
          </p:cNvPr>
          <p:cNvSpPr txBox="1"/>
          <p:nvPr/>
        </p:nvSpPr>
        <p:spPr>
          <a:xfrm>
            <a:off x="800100" y="3644900"/>
            <a:ext cx="1765300" cy="10414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250" b="1">
                <a:solidFill>
                  <a:srgbClr val="0F2256"/>
                </a:solidFill>
                <a:latin typeface="Arial" panose="020B0604020202020204" pitchFamily="34" charset="0"/>
              </a:rPr>
              <a:t>scx_agent_classed</a:t>
            </a:r>
            <a:endParaRPr lang="zh-CN" altLang="en-US" sz="1250" b="1">
              <a:solidFill>
                <a:srgbClr val="0F2256"/>
              </a:solidFill>
              <a:latin typeface="Arial" panose="020B0604020202020204" pitchFamily="34" charset="0"/>
            </a:endParaRPr>
          </a:p>
        </p:txBody>
      </p:sp>
      <p:sp>
        <p:nvSpPr>
          <p:cNvPr id="57" name="SCX_instruction_rect_45">
            <a:extLst>
              <a:ext uri="{FF2B5EF4-FFF2-40B4-BE49-F238E27FC236}">
                <a16:creationId xmlns:a16="http://schemas.microsoft.com/office/drawing/2014/main" id="{4914CC03-6794-8F34-430D-2850B3F65FAC}"/>
              </a:ext>
            </a:extLst>
          </p:cNvPr>
          <p:cNvSpPr/>
          <p:nvPr/>
        </p:nvSpPr>
        <p:spPr>
          <a:xfrm>
            <a:off x="2794000" y="3644900"/>
            <a:ext cx="51435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SCX_instruction_text_46">
            <a:extLst>
              <a:ext uri="{FF2B5EF4-FFF2-40B4-BE49-F238E27FC236}">
                <a16:creationId xmlns:a16="http://schemas.microsoft.com/office/drawing/2014/main" id="{E4B72386-87FC-0891-43B9-23C3A263DC72}"/>
              </a:ext>
            </a:extLst>
          </p:cNvPr>
          <p:cNvSpPr txBox="1"/>
          <p:nvPr/>
        </p:nvSpPr>
        <p:spPr>
          <a:xfrm>
            <a:off x="2984500" y="3733800"/>
            <a:ext cx="4762500" cy="863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150">
                <a:solidFill>
                  <a:srgbClr val="1E2C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单调度器多 </a:t>
            </a:r>
            <a:r>
              <a:rPr lang="en-US" altLang="zh-CN" sz="1150">
                <a:solidFill>
                  <a:srgbClr val="1E2C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DSQ</a:t>
            </a:r>
            <a:r>
              <a:rPr lang="zh-CN" altLang="en-US" sz="1150">
                <a:solidFill>
                  <a:srgbClr val="1E2C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、冷热路径分离、共享内部建模；热路径近乎无额外开销。</a:t>
            </a:r>
          </a:p>
        </p:txBody>
      </p:sp>
      <p:sp>
        <p:nvSpPr>
          <p:cNvPr id="59" name="SCX_instruction_rect_47">
            <a:extLst>
              <a:ext uri="{FF2B5EF4-FFF2-40B4-BE49-F238E27FC236}">
                <a16:creationId xmlns:a16="http://schemas.microsoft.com/office/drawing/2014/main" id="{629DA10C-A259-E7C6-2D72-2A60C6BCB4BC}"/>
              </a:ext>
            </a:extLst>
          </p:cNvPr>
          <p:cNvSpPr/>
          <p:nvPr/>
        </p:nvSpPr>
        <p:spPr>
          <a:xfrm>
            <a:off x="8064500" y="3644900"/>
            <a:ext cx="34290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SCX_instruction_text_48">
            <a:extLst>
              <a:ext uri="{FF2B5EF4-FFF2-40B4-BE49-F238E27FC236}">
                <a16:creationId xmlns:a16="http://schemas.microsoft.com/office/drawing/2014/main" id="{7355689A-8CFA-FFC4-4FBC-FA5173D5029A}"/>
              </a:ext>
            </a:extLst>
          </p:cNvPr>
          <p:cNvSpPr txBox="1"/>
          <p:nvPr/>
        </p:nvSpPr>
        <p:spPr>
          <a:xfrm>
            <a:off x="8255000" y="3721100"/>
            <a:ext cx="3048000" cy="8890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15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无调度器切换开销
低冷路径开销
易解释</a:t>
            </a:r>
          </a:p>
        </p:txBody>
      </p:sp>
      <p:sp>
        <p:nvSpPr>
          <p:cNvPr id="61" name="SCX_instruction_rect_49">
            <a:extLst>
              <a:ext uri="{FF2B5EF4-FFF2-40B4-BE49-F238E27FC236}">
                <a16:creationId xmlns:a16="http://schemas.microsoft.com/office/drawing/2014/main" id="{DD1090C9-4FB5-12D0-D526-D86826BF8920}"/>
              </a:ext>
            </a:extLst>
          </p:cNvPr>
          <p:cNvSpPr/>
          <p:nvPr/>
        </p:nvSpPr>
        <p:spPr>
          <a:xfrm>
            <a:off x="698500" y="4864100"/>
            <a:ext cx="19685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SCX_instruction_text_50">
            <a:extLst>
              <a:ext uri="{FF2B5EF4-FFF2-40B4-BE49-F238E27FC236}">
                <a16:creationId xmlns:a16="http://schemas.microsoft.com/office/drawing/2014/main" id="{A852769D-67E5-13FC-6A8A-957006518C6A}"/>
              </a:ext>
            </a:extLst>
          </p:cNvPr>
          <p:cNvSpPr txBox="1"/>
          <p:nvPr/>
        </p:nvSpPr>
        <p:spPr>
          <a:xfrm>
            <a:off x="800100" y="4864100"/>
            <a:ext cx="1765300" cy="10414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250" b="1">
                <a:solidFill>
                  <a:srgbClr val="0F2256"/>
                </a:solidFill>
                <a:latin typeface="Arial" panose="020B0604020202020204" pitchFamily="34" charset="0"/>
              </a:rPr>
              <a:t>bench</a:t>
            </a:r>
            <a:endParaRPr lang="zh-CN" altLang="en-US" sz="1250" b="1">
              <a:solidFill>
                <a:srgbClr val="0F2256"/>
              </a:solidFill>
              <a:latin typeface="Arial" panose="020B0604020202020204" pitchFamily="34" charset="0"/>
            </a:endParaRPr>
          </a:p>
        </p:txBody>
      </p:sp>
      <p:sp>
        <p:nvSpPr>
          <p:cNvPr id="63" name="SCX_instruction_rect_51">
            <a:extLst>
              <a:ext uri="{FF2B5EF4-FFF2-40B4-BE49-F238E27FC236}">
                <a16:creationId xmlns:a16="http://schemas.microsoft.com/office/drawing/2014/main" id="{376E2E91-27A6-782B-E3C0-17DECAB84754}"/>
              </a:ext>
            </a:extLst>
          </p:cNvPr>
          <p:cNvSpPr/>
          <p:nvPr/>
        </p:nvSpPr>
        <p:spPr>
          <a:xfrm>
            <a:off x="2794000" y="4864100"/>
            <a:ext cx="51435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SCX_instruction_text_52">
            <a:extLst>
              <a:ext uri="{FF2B5EF4-FFF2-40B4-BE49-F238E27FC236}">
                <a16:creationId xmlns:a16="http://schemas.microsoft.com/office/drawing/2014/main" id="{99B187FD-AD6A-DD23-F55D-C86657C74173}"/>
              </a:ext>
            </a:extLst>
          </p:cNvPr>
          <p:cNvSpPr txBox="1"/>
          <p:nvPr/>
        </p:nvSpPr>
        <p:spPr>
          <a:xfrm>
            <a:off x="2984500" y="4953000"/>
            <a:ext cx="4762500" cy="863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150">
                <a:solidFill>
                  <a:srgbClr val="1E2C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VM </a:t>
            </a:r>
            <a:r>
              <a:rPr lang="zh-CN" altLang="en-US" sz="1150">
                <a:solidFill>
                  <a:srgbClr val="1E2C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隔离、用例插件化、指标规范化，并统一完成统计、分析和结果展示。</a:t>
            </a:r>
          </a:p>
        </p:txBody>
      </p:sp>
      <p:sp>
        <p:nvSpPr>
          <p:cNvPr id="65" name="SCX_instruction_rect_53">
            <a:extLst>
              <a:ext uri="{FF2B5EF4-FFF2-40B4-BE49-F238E27FC236}">
                <a16:creationId xmlns:a16="http://schemas.microsoft.com/office/drawing/2014/main" id="{A7ADBAA1-88C1-377A-38E8-E5545066AF7C}"/>
              </a:ext>
            </a:extLst>
          </p:cNvPr>
          <p:cNvSpPr/>
          <p:nvPr/>
        </p:nvSpPr>
        <p:spPr>
          <a:xfrm>
            <a:off x="8064500" y="4864100"/>
            <a:ext cx="34290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SCX_instruction_text_54">
            <a:extLst>
              <a:ext uri="{FF2B5EF4-FFF2-40B4-BE49-F238E27FC236}">
                <a16:creationId xmlns:a16="http://schemas.microsoft.com/office/drawing/2014/main" id="{40C2872E-F20F-E297-718F-57B373B32C84}"/>
              </a:ext>
            </a:extLst>
          </p:cNvPr>
          <p:cNvSpPr txBox="1"/>
          <p:nvPr/>
        </p:nvSpPr>
        <p:spPr>
          <a:xfrm>
            <a:off x="8255000" y="4940300"/>
            <a:ext cx="3048000" cy="8890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15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易复现
易扩展
统一分析展示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55" y="522605"/>
            <a:ext cx="7624445" cy="491490"/>
          </a:xfrm>
        </p:spPr>
        <p:txBody>
          <a:bodyPr/>
          <a:lstStyle/>
          <a:p>
            <a:r>
              <a:rPr lang="en-US" altLang="zh-CN"/>
              <a:t>1.4  </a:t>
            </a:r>
            <a:r>
              <a:rPr lang="zh-CN" altLang="en-US"/>
              <a:t>作品原创性说明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98500" y="1181100"/>
            <a:ext cx="10795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zh-CN" altLang="en-US" sz="1600">
                <a:solidFill>
                  <a:srgbClr val="5B69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三个功能域均为第一方实现，上游项目仅通过标准依赖方式使用</a:t>
            </a:r>
          </a:p>
        </p:txBody>
      </p:sp>
      <p:sp>
        <p:nvSpPr>
          <p:cNvPr id="5" name="矩形: 圆角 4"/>
          <p:cNvSpPr/>
          <p:nvPr/>
        </p:nvSpPr>
        <p:spPr>
          <a:xfrm>
            <a:off x="698500" y="1778000"/>
            <a:ext cx="3492500" cy="3302000"/>
          </a:xfrm>
          <a:prstGeom prst="roundRect">
            <a:avLst/>
          </a:prstGeom>
          <a:solidFill>
            <a:srgbClr val="EBF1FC"/>
          </a:solidFill>
          <a:ln w="17780">
            <a:solidFill>
              <a:srgbClr val="2757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965200" y="2159000"/>
            <a:ext cx="29845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500" b="1">
                <a:solidFill>
                  <a:srgbClr val="2757E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第一方实现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89000" y="2730500"/>
            <a:ext cx="31115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4400" b="1">
                <a:solidFill>
                  <a:srgbClr val="0F2256"/>
                </a:solidFill>
                <a:latin typeface="Arial" panose="020B0604020202020204" pitchFamily="34" charset="0"/>
              </a:rPr>
              <a:t>48,999</a:t>
            </a:r>
            <a:endParaRPr lang="zh-CN" altLang="en-US" sz="4400" b="1">
              <a:solidFill>
                <a:srgbClr val="0F2256"/>
              </a:solidFill>
              <a:latin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79500" y="3708400"/>
            <a:ext cx="27305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700" b="1">
                <a:solidFill>
                  <a:srgbClr val="0F225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约 </a:t>
            </a:r>
            <a:r>
              <a:rPr lang="en-US" altLang="zh-CN" sz="1700" b="1">
                <a:solidFill>
                  <a:srgbClr val="0F225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4.9 </a:t>
            </a:r>
            <a:r>
              <a:rPr lang="zh-CN" altLang="en-US" sz="1700" b="1">
                <a:solidFill>
                  <a:srgbClr val="0F225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万行代码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066800" y="4292600"/>
            <a:ext cx="2794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5B6985"/>
                </a:solidFill>
                <a:latin typeface="Arial" panose="020B0604020202020204" pitchFamily="34" charset="0"/>
              </a:rPr>
              <a:t>Rust · C · BPF · Python</a:t>
            </a:r>
            <a:endParaRPr lang="zh-CN" altLang="en-US" sz="1200">
              <a:solidFill>
                <a:srgbClr val="5B6985"/>
              </a:solidFill>
              <a:latin typeface="Arial" panose="020B0604020202020204" pitchFamily="34" charset="0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4572000" y="1778000"/>
            <a:ext cx="69215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4572000" y="1778000"/>
            <a:ext cx="88900" cy="914400"/>
          </a:xfrm>
          <a:prstGeom prst="rect">
            <a:avLst/>
          </a:prstGeom>
          <a:solidFill>
            <a:srgbClr val="2454E6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rgbClr val="2454E6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826000" y="1955800"/>
            <a:ext cx="65151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en-US" altLang="zh-CN" sz="1700" b="1">
                <a:solidFill>
                  <a:srgbClr val="1E2C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tuning_agent  ·  23,732 </a:t>
            </a:r>
            <a:r>
              <a:rPr lang="zh-CN" altLang="en-US" sz="1700" b="1">
                <a:solidFill>
                  <a:srgbClr val="1E2C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826000" y="2425700"/>
            <a:ext cx="65151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zh-CN" altLang="en-US" sz="1200">
                <a:solidFill>
                  <a:srgbClr val="5B69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状态机、事务</a:t>
            </a:r>
            <a:r>
              <a:rPr lang="en-US" altLang="zh-CN" sz="1200">
                <a:solidFill>
                  <a:srgbClr val="5B69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>
                <a:solidFill>
                  <a:srgbClr val="5B69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评价内核、能力模型、恢复、审计与 </a:t>
            </a:r>
            <a:r>
              <a:rPr lang="en-US" altLang="zh-CN" sz="1200">
                <a:solidFill>
                  <a:srgbClr val="5B69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LLM/MCP </a:t>
            </a:r>
            <a:r>
              <a:rPr lang="zh-CN" altLang="en-US" sz="1200">
                <a:solidFill>
                  <a:srgbClr val="5B69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适配</a:t>
            </a:r>
          </a:p>
        </p:txBody>
      </p:sp>
      <p:sp>
        <p:nvSpPr>
          <p:cNvPr id="14" name="矩形: 圆角 13"/>
          <p:cNvSpPr/>
          <p:nvPr/>
        </p:nvSpPr>
        <p:spPr>
          <a:xfrm>
            <a:off x="4572000" y="2870200"/>
            <a:ext cx="69215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4572000" y="2870200"/>
            <a:ext cx="88900" cy="914400"/>
          </a:xfrm>
          <a:prstGeom prst="rect">
            <a:avLst/>
          </a:prstGeom>
          <a:solidFill>
            <a:srgbClr val="13C7EF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rgbClr val="13C7E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4826000" y="3048000"/>
            <a:ext cx="65151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en-US" altLang="zh-CN" sz="1700" b="1">
                <a:solidFill>
                  <a:srgbClr val="1E2C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scx_agent_classed  ·  9,661 </a:t>
            </a:r>
            <a:r>
              <a:rPr lang="zh-CN" altLang="en-US" sz="1700" b="1">
                <a:solidFill>
                  <a:srgbClr val="1E2C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4826000" y="3517900"/>
            <a:ext cx="65151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zh-CN" altLang="en-US" sz="1200">
                <a:solidFill>
                  <a:srgbClr val="5B69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两级调度、</a:t>
            </a:r>
            <a:r>
              <a:rPr lang="en-US" altLang="zh-CN" sz="1200">
                <a:solidFill>
                  <a:srgbClr val="5B69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BPF </a:t>
            </a:r>
            <a:r>
              <a:rPr lang="zh-CN" altLang="en-US" sz="1200">
                <a:solidFill>
                  <a:srgbClr val="5B69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热路径、动态规则、</a:t>
            </a:r>
            <a:r>
              <a:rPr lang="en-US" altLang="zh-CN" sz="1200">
                <a:solidFill>
                  <a:srgbClr val="5B69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control API </a:t>
            </a:r>
            <a:r>
              <a:rPr lang="zh-CN" altLang="en-US" sz="1200">
                <a:solidFill>
                  <a:srgbClr val="5B69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1200">
                <a:solidFill>
                  <a:srgbClr val="5B69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MCP </a:t>
            </a:r>
            <a:r>
              <a:rPr lang="zh-CN" altLang="en-US" sz="1200">
                <a:solidFill>
                  <a:srgbClr val="5B69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能力适配</a:t>
            </a:r>
          </a:p>
        </p:txBody>
      </p:sp>
      <p:sp>
        <p:nvSpPr>
          <p:cNvPr id="18" name="矩形: 圆角 17"/>
          <p:cNvSpPr/>
          <p:nvPr/>
        </p:nvSpPr>
        <p:spPr>
          <a:xfrm>
            <a:off x="4572000" y="3962400"/>
            <a:ext cx="69215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4572000" y="3962400"/>
            <a:ext cx="88900" cy="914400"/>
          </a:xfrm>
          <a:prstGeom prst="rect">
            <a:avLst/>
          </a:prstGeom>
          <a:solidFill>
            <a:srgbClr val="6A39F4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rgbClr val="6A39F4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4826000" y="4140200"/>
            <a:ext cx="65151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en-US" altLang="zh-CN" sz="1700" b="1">
                <a:solidFill>
                  <a:srgbClr val="1E2C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bench  ·  15,606 </a:t>
            </a:r>
            <a:r>
              <a:rPr lang="zh-CN" altLang="en-US" sz="1700" b="1">
                <a:solidFill>
                  <a:srgbClr val="1E2C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4826000" y="4610100"/>
            <a:ext cx="65151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zh-CN" altLang="en-US" sz="1200">
                <a:solidFill>
                  <a:srgbClr val="5B69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环境准备、</a:t>
            </a:r>
            <a:r>
              <a:rPr lang="en-US" altLang="zh-CN" sz="1200">
                <a:solidFill>
                  <a:srgbClr val="5B69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VM </a:t>
            </a:r>
            <a:r>
              <a:rPr lang="zh-CN" altLang="en-US" sz="1200">
                <a:solidFill>
                  <a:srgbClr val="5B69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编排、</a:t>
            </a:r>
            <a:r>
              <a:rPr lang="en-US" altLang="zh-CN" sz="1200">
                <a:solidFill>
                  <a:srgbClr val="5B69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Guest Executor</a:t>
            </a:r>
            <a:r>
              <a:rPr lang="zh-CN" altLang="en-US" sz="1200">
                <a:solidFill>
                  <a:srgbClr val="5B69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、配对分析与报告生成</a:t>
            </a:r>
          </a:p>
        </p:txBody>
      </p:sp>
      <p:sp>
        <p:nvSpPr>
          <p:cNvPr id="22" name="矩形: 圆角 21"/>
          <p:cNvSpPr/>
          <p:nvPr/>
        </p:nvSpPr>
        <p:spPr>
          <a:xfrm>
            <a:off x="698500" y="5334000"/>
            <a:ext cx="10795000" cy="59690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2454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914400" y="5384800"/>
            <a:ext cx="103632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300">
                <a:solidFill>
                  <a:srgbClr val="0A1C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sched_ext / libbpf / serde / libvirt </a:t>
            </a:r>
            <a:r>
              <a:rPr lang="zh-CN" altLang="en-US" sz="1300">
                <a:solidFill>
                  <a:srgbClr val="0A1C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等均为标准上游依赖，不复制其源码。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项目亮点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194300" y="3632200"/>
            <a:ext cx="5461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zh-CN" altLang="en-US" sz="15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控制面、执行面与证据面分工协作，形成完整可信闭环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5194300" y="4292600"/>
            <a:ext cx="3441700" cy="0"/>
          </a:xfrm>
          <a:prstGeom prst="line">
            <a:avLst/>
          </a:prstGeom>
          <a:ln w="25400" cap="flat" cmpd="sng" algn="ctr">
            <a:solidFill>
              <a:srgbClr val="13C7EF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55" y="522605"/>
            <a:ext cx="7624445" cy="491490"/>
          </a:xfrm>
        </p:spPr>
        <p:txBody>
          <a:bodyPr/>
          <a:lstStyle/>
          <a:p>
            <a:r>
              <a:rPr lang="en-US" altLang="zh-CN"/>
              <a:t>2.1  tuning_agent</a:t>
            </a:r>
            <a:r>
              <a:rPr lang="zh-CN" altLang="en-US"/>
              <a:t>：可信调优控制面</a:t>
            </a:r>
          </a:p>
        </p:txBody>
      </p:sp>
      <p:sp>
        <p:nvSpPr>
          <p:cNvPr id="4" name="SCX_part2_text_1">
            <a:extLst>
              <a:ext uri="{FF2B5EF4-FFF2-40B4-BE49-F238E27FC236}">
                <a16:creationId xmlns:a16="http://schemas.microsoft.com/office/drawing/2014/main" id="{3D93D8D8-47A5-EE61-4CD6-41914F020918}"/>
              </a:ext>
            </a:extLst>
          </p:cNvPr>
          <p:cNvSpPr txBox="1"/>
          <p:nvPr/>
        </p:nvSpPr>
        <p:spPr>
          <a:xfrm>
            <a:off x="698500" y="1181100"/>
            <a:ext cx="10795000" cy="3810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zh-CN" altLang="en-US" sz="16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机制与策略分离：</a:t>
            </a:r>
            <a:r>
              <a:rPr lang="en-US" altLang="zh-CN" sz="16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LLM </a:t>
            </a:r>
            <a:r>
              <a:rPr lang="zh-CN" altLang="en-US" sz="16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选择目标，</a:t>
            </a:r>
            <a:r>
              <a:rPr lang="en-US" altLang="zh-CN" sz="16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Provider </a:t>
            </a:r>
            <a:r>
              <a:rPr lang="zh-CN" altLang="en-US" sz="16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扩展能力，</a:t>
            </a:r>
            <a:r>
              <a:rPr lang="en-US" altLang="zh-CN" sz="16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Runtime </a:t>
            </a:r>
            <a:r>
              <a:rPr lang="zh-CN" altLang="en-US" sz="16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负责状态、事务、评价与恢复。</a:t>
            </a:r>
          </a:p>
        </p:txBody>
      </p:sp>
      <p:sp>
        <p:nvSpPr>
          <p:cNvPr id="5" name="SCX_part2_rect_2">
            <a:extLst>
              <a:ext uri="{FF2B5EF4-FFF2-40B4-BE49-F238E27FC236}">
                <a16:creationId xmlns:a16="http://schemas.microsoft.com/office/drawing/2014/main" id="{DCB8726A-3AB1-AD14-F709-0BDFF670DFF8}"/>
              </a:ext>
            </a:extLst>
          </p:cNvPr>
          <p:cNvSpPr/>
          <p:nvPr/>
        </p:nvSpPr>
        <p:spPr>
          <a:xfrm>
            <a:off x="698500" y="1816100"/>
            <a:ext cx="1905000" cy="2222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SCX_part2_rect_3">
            <a:extLst>
              <a:ext uri="{FF2B5EF4-FFF2-40B4-BE49-F238E27FC236}">
                <a16:creationId xmlns:a16="http://schemas.microsoft.com/office/drawing/2014/main" id="{385C8C94-A329-1A68-2311-5D069236F528}"/>
              </a:ext>
            </a:extLst>
          </p:cNvPr>
          <p:cNvSpPr/>
          <p:nvPr/>
        </p:nvSpPr>
        <p:spPr>
          <a:xfrm>
            <a:off x="914400" y="2006600"/>
            <a:ext cx="1473200" cy="342900"/>
          </a:xfrm>
          <a:prstGeom prst="roundRect">
            <a:avLst/>
          </a:prstGeom>
          <a:solidFill>
            <a:srgbClr val="EBF1FC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EBF1FC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SCX_part2_text_4">
            <a:extLst>
              <a:ext uri="{FF2B5EF4-FFF2-40B4-BE49-F238E27FC236}">
                <a16:creationId xmlns:a16="http://schemas.microsoft.com/office/drawing/2014/main" id="{CFEB0BAF-1A70-F541-C6DD-5D1551415BE2}"/>
              </a:ext>
            </a:extLst>
          </p:cNvPr>
          <p:cNvSpPr txBox="1"/>
          <p:nvPr/>
        </p:nvSpPr>
        <p:spPr>
          <a:xfrm>
            <a:off x="914400" y="2006600"/>
            <a:ext cx="1473200" cy="3429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95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ACTIVATION</a:t>
            </a:r>
            <a:endParaRPr lang="zh-CN" altLang="en-US" sz="950" b="1">
              <a:solidFill>
                <a:srgbClr val="0F225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SCX_part2_text_5">
            <a:extLst>
              <a:ext uri="{FF2B5EF4-FFF2-40B4-BE49-F238E27FC236}">
                <a16:creationId xmlns:a16="http://schemas.microsoft.com/office/drawing/2014/main" id="{3ACD0AD5-BDCF-2CBC-3841-2864EDF88131}"/>
              </a:ext>
            </a:extLst>
          </p:cNvPr>
          <p:cNvSpPr txBox="1"/>
          <p:nvPr/>
        </p:nvSpPr>
        <p:spPr>
          <a:xfrm>
            <a:off x="914400" y="2501900"/>
            <a:ext cx="1473200" cy="4445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激活入口</a:t>
            </a:r>
          </a:p>
        </p:txBody>
      </p:sp>
      <p:sp>
        <p:nvSpPr>
          <p:cNvPr id="9" name="SCX_part2_text_6">
            <a:extLst>
              <a:ext uri="{FF2B5EF4-FFF2-40B4-BE49-F238E27FC236}">
                <a16:creationId xmlns:a16="http://schemas.microsoft.com/office/drawing/2014/main" id="{017707FC-7F82-8EB8-410F-620887A874B4}"/>
              </a:ext>
            </a:extLst>
          </p:cNvPr>
          <p:cNvSpPr txBox="1"/>
          <p:nvPr/>
        </p:nvSpPr>
        <p:spPr>
          <a:xfrm>
            <a:off x="914400" y="3022600"/>
            <a:ext cx="1473200" cy="7874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5B6985"/>
                </a:solidFill>
                <a:latin typeface="Arial" panose="020B0604020202020204" pitchFamily="34" charset="0"/>
              </a:rPr>
              <a:t>comm miss
CLI / Unix socket
timer</a:t>
            </a:r>
            <a:endParaRPr lang="zh-CN" altLang="en-US" sz="1200">
              <a:solidFill>
                <a:srgbClr val="5B6985"/>
              </a:solidFill>
              <a:latin typeface="Arial" panose="020B0604020202020204" pitchFamily="34" charset="0"/>
            </a:endParaRPr>
          </a:p>
        </p:txBody>
      </p:sp>
      <p:cxnSp>
        <p:nvCxnSpPr>
          <p:cNvPr id="10" name="SCX_part2_line_7">
            <a:extLst>
              <a:ext uri="{FF2B5EF4-FFF2-40B4-BE49-F238E27FC236}">
                <a16:creationId xmlns:a16="http://schemas.microsoft.com/office/drawing/2014/main" id="{430A5D79-1D28-4160-10C3-43883FD955E2}"/>
              </a:ext>
            </a:extLst>
          </p:cNvPr>
          <p:cNvCxnSpPr/>
          <p:nvPr/>
        </p:nvCxnSpPr>
        <p:spPr>
          <a:xfrm>
            <a:off x="2667000" y="2921000"/>
            <a:ext cx="355600" cy="0"/>
          </a:xfrm>
          <a:prstGeom prst="line">
            <a:avLst/>
          </a:prstGeom>
          <a:ln w="25400">
            <a:solidFill>
              <a:srgbClr val="C2CDE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CX_part2_rect_8">
            <a:extLst>
              <a:ext uri="{FF2B5EF4-FFF2-40B4-BE49-F238E27FC236}">
                <a16:creationId xmlns:a16="http://schemas.microsoft.com/office/drawing/2014/main" id="{4CDEE7F6-A1F1-FCCD-1B34-2FE3C41898C6}"/>
              </a:ext>
            </a:extLst>
          </p:cNvPr>
          <p:cNvSpPr/>
          <p:nvPr/>
        </p:nvSpPr>
        <p:spPr>
          <a:xfrm>
            <a:off x="3111500" y="1816100"/>
            <a:ext cx="2159000" cy="2222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SCX_part2_rect_9">
            <a:extLst>
              <a:ext uri="{FF2B5EF4-FFF2-40B4-BE49-F238E27FC236}">
                <a16:creationId xmlns:a16="http://schemas.microsoft.com/office/drawing/2014/main" id="{3B1CF9C3-E667-CDC0-85C1-8079006BDDFF}"/>
              </a:ext>
            </a:extLst>
          </p:cNvPr>
          <p:cNvSpPr/>
          <p:nvPr/>
        </p:nvSpPr>
        <p:spPr>
          <a:xfrm>
            <a:off x="3340100" y="2006600"/>
            <a:ext cx="1701800" cy="342900"/>
          </a:xfrm>
          <a:prstGeom prst="roundRect">
            <a:avLst/>
          </a:prstGeom>
          <a:solidFill>
            <a:srgbClr val="EBF1FC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EBF1FC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SCX_part2_text_10">
            <a:extLst>
              <a:ext uri="{FF2B5EF4-FFF2-40B4-BE49-F238E27FC236}">
                <a16:creationId xmlns:a16="http://schemas.microsoft.com/office/drawing/2014/main" id="{277789F3-5BF2-3B3A-E172-D2CDBBEB9E51}"/>
              </a:ext>
            </a:extLst>
          </p:cNvPr>
          <p:cNvSpPr txBox="1"/>
          <p:nvPr/>
        </p:nvSpPr>
        <p:spPr>
          <a:xfrm>
            <a:off x="3340100" y="2006600"/>
            <a:ext cx="1701800" cy="3429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95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REASONER</a:t>
            </a:r>
            <a:endParaRPr lang="zh-CN" altLang="en-US" sz="950" b="1">
              <a:solidFill>
                <a:srgbClr val="0F225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SCX_part2_text_11">
            <a:extLst>
              <a:ext uri="{FF2B5EF4-FFF2-40B4-BE49-F238E27FC236}">
                <a16:creationId xmlns:a16="http://schemas.microsoft.com/office/drawing/2014/main" id="{14E81373-AFC9-0DD9-8DF3-ED39B0928BB1}"/>
              </a:ext>
            </a:extLst>
          </p:cNvPr>
          <p:cNvSpPr txBox="1"/>
          <p:nvPr/>
        </p:nvSpPr>
        <p:spPr>
          <a:xfrm>
            <a:off x="3365500" y="2501900"/>
            <a:ext cx="1651000" cy="4445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提出调优假设</a:t>
            </a:r>
          </a:p>
        </p:txBody>
      </p:sp>
      <p:sp>
        <p:nvSpPr>
          <p:cNvPr id="15" name="SCX_part2_text_12">
            <a:extLst>
              <a:ext uri="{FF2B5EF4-FFF2-40B4-BE49-F238E27FC236}">
                <a16:creationId xmlns:a16="http://schemas.microsoft.com/office/drawing/2014/main" id="{E6A5BF5C-DE06-3677-3F9B-357C576CC7C2}"/>
              </a:ext>
            </a:extLst>
          </p:cNvPr>
          <p:cNvSpPr txBox="1"/>
          <p:nvPr/>
        </p:nvSpPr>
        <p:spPr>
          <a:xfrm>
            <a:off x="3378200" y="3022600"/>
            <a:ext cx="1625600" cy="7874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2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选择探测目标
提出评价合同
生成候选变更</a:t>
            </a:r>
          </a:p>
        </p:txBody>
      </p:sp>
      <p:cxnSp>
        <p:nvCxnSpPr>
          <p:cNvPr id="16" name="SCX_part2_line_13">
            <a:extLst>
              <a:ext uri="{FF2B5EF4-FFF2-40B4-BE49-F238E27FC236}">
                <a16:creationId xmlns:a16="http://schemas.microsoft.com/office/drawing/2014/main" id="{764CBCE4-98C3-F049-6E36-D66D23E9AD93}"/>
              </a:ext>
            </a:extLst>
          </p:cNvPr>
          <p:cNvCxnSpPr/>
          <p:nvPr/>
        </p:nvCxnSpPr>
        <p:spPr>
          <a:xfrm>
            <a:off x="5334000" y="2921000"/>
            <a:ext cx="355600" cy="0"/>
          </a:xfrm>
          <a:prstGeom prst="line">
            <a:avLst/>
          </a:prstGeom>
          <a:ln w="25400">
            <a:solidFill>
              <a:srgbClr val="C2CDE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CX_part2_rect_14">
            <a:extLst>
              <a:ext uri="{FF2B5EF4-FFF2-40B4-BE49-F238E27FC236}">
                <a16:creationId xmlns:a16="http://schemas.microsoft.com/office/drawing/2014/main" id="{C907296B-3E10-E285-FFB0-BDAA4FC1D135}"/>
              </a:ext>
            </a:extLst>
          </p:cNvPr>
          <p:cNvSpPr/>
          <p:nvPr/>
        </p:nvSpPr>
        <p:spPr>
          <a:xfrm>
            <a:off x="5778500" y="1651000"/>
            <a:ext cx="3810000" cy="2552700"/>
          </a:xfrm>
          <a:prstGeom prst="roundRect">
            <a:avLst/>
          </a:prstGeom>
          <a:solidFill>
            <a:srgbClr val="EBF1FC"/>
          </a:solidFill>
          <a:ln w="16510">
            <a:solidFill>
              <a:srgbClr val="2757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SCX_part2_text_15">
            <a:extLst>
              <a:ext uri="{FF2B5EF4-FFF2-40B4-BE49-F238E27FC236}">
                <a16:creationId xmlns:a16="http://schemas.microsoft.com/office/drawing/2014/main" id="{B0A6E18E-89FA-CFCC-617F-7667AED5831F}"/>
              </a:ext>
            </a:extLst>
          </p:cNvPr>
          <p:cNvSpPr txBox="1"/>
          <p:nvPr/>
        </p:nvSpPr>
        <p:spPr>
          <a:xfrm>
            <a:off x="6045200" y="1854200"/>
            <a:ext cx="3276600" cy="3937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2000" b="1">
                <a:solidFill>
                  <a:srgbClr val="0F2256"/>
                </a:solidFill>
                <a:latin typeface="Arial" panose="020B0604020202020204" pitchFamily="34" charset="0"/>
              </a:rPr>
              <a:t>Trusted Runtime</a:t>
            </a:r>
            <a:endParaRPr lang="zh-CN" altLang="en-US" sz="2000" b="1">
              <a:solidFill>
                <a:srgbClr val="0F2256"/>
              </a:solidFill>
              <a:latin typeface="Arial" panose="020B0604020202020204" pitchFamily="34" charset="0"/>
            </a:endParaRPr>
          </a:p>
        </p:txBody>
      </p:sp>
      <p:sp>
        <p:nvSpPr>
          <p:cNvPr id="19" name="SCX_part2_rect_16">
            <a:extLst>
              <a:ext uri="{FF2B5EF4-FFF2-40B4-BE49-F238E27FC236}">
                <a16:creationId xmlns:a16="http://schemas.microsoft.com/office/drawing/2014/main" id="{030F307D-21A7-8421-F9FC-76AD300B82D5}"/>
              </a:ext>
            </a:extLst>
          </p:cNvPr>
          <p:cNvSpPr/>
          <p:nvPr/>
        </p:nvSpPr>
        <p:spPr>
          <a:xfrm>
            <a:off x="6032500" y="2413000"/>
            <a:ext cx="1587500" cy="63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SCX_part2_text_17">
            <a:extLst>
              <a:ext uri="{FF2B5EF4-FFF2-40B4-BE49-F238E27FC236}">
                <a16:creationId xmlns:a16="http://schemas.microsoft.com/office/drawing/2014/main" id="{DE5B234C-719B-9FDE-D572-FD463B01AEE8}"/>
              </a:ext>
            </a:extLst>
          </p:cNvPr>
          <p:cNvSpPr txBox="1"/>
          <p:nvPr/>
        </p:nvSpPr>
        <p:spPr>
          <a:xfrm>
            <a:off x="6096000" y="2451100"/>
            <a:ext cx="1460500" cy="2921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050" b="1">
                <a:solidFill>
                  <a:srgbClr val="0F2256"/>
                </a:solidFill>
                <a:latin typeface="Arial" panose="020B0604020202020204" pitchFamily="34" charset="0"/>
              </a:rPr>
              <a:t>目标与权限</a:t>
            </a:r>
          </a:p>
        </p:txBody>
      </p:sp>
      <p:sp>
        <p:nvSpPr>
          <p:cNvPr id="21" name="SCX_part2_text_18">
            <a:extLst>
              <a:ext uri="{FF2B5EF4-FFF2-40B4-BE49-F238E27FC236}">
                <a16:creationId xmlns:a16="http://schemas.microsoft.com/office/drawing/2014/main" id="{3308770D-633E-E8B6-C676-120F3D6A9F47}"/>
              </a:ext>
            </a:extLst>
          </p:cNvPr>
          <p:cNvSpPr txBox="1"/>
          <p:nvPr/>
        </p:nvSpPr>
        <p:spPr>
          <a:xfrm>
            <a:off x="6096000" y="2743200"/>
            <a:ext cx="1460500" cy="2540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88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冻结目标与工具边界</a:t>
            </a:r>
          </a:p>
        </p:txBody>
      </p:sp>
      <p:sp>
        <p:nvSpPr>
          <p:cNvPr id="22" name="SCX_part2_rect_19">
            <a:extLst>
              <a:ext uri="{FF2B5EF4-FFF2-40B4-BE49-F238E27FC236}">
                <a16:creationId xmlns:a16="http://schemas.microsoft.com/office/drawing/2014/main" id="{9FB0A669-FBCF-6F1D-0C86-08ED85B7BBD4}"/>
              </a:ext>
            </a:extLst>
          </p:cNvPr>
          <p:cNvSpPr/>
          <p:nvPr/>
        </p:nvSpPr>
        <p:spPr>
          <a:xfrm>
            <a:off x="7747000" y="2413000"/>
            <a:ext cx="1587500" cy="63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SCX_part2_text_20">
            <a:extLst>
              <a:ext uri="{FF2B5EF4-FFF2-40B4-BE49-F238E27FC236}">
                <a16:creationId xmlns:a16="http://schemas.microsoft.com/office/drawing/2014/main" id="{36FBE68C-55FF-356B-FBDC-5875903028BF}"/>
              </a:ext>
            </a:extLst>
          </p:cNvPr>
          <p:cNvSpPr txBox="1"/>
          <p:nvPr/>
        </p:nvSpPr>
        <p:spPr>
          <a:xfrm>
            <a:off x="7810500" y="2451100"/>
            <a:ext cx="1460500" cy="2921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050" b="1">
                <a:solidFill>
                  <a:srgbClr val="0F2256"/>
                </a:solidFill>
                <a:latin typeface="Arial" panose="020B0604020202020204" pitchFamily="34" charset="0"/>
              </a:rPr>
              <a:t>实验编排</a:t>
            </a:r>
          </a:p>
        </p:txBody>
      </p:sp>
      <p:sp>
        <p:nvSpPr>
          <p:cNvPr id="24" name="SCX_part2_text_21">
            <a:extLst>
              <a:ext uri="{FF2B5EF4-FFF2-40B4-BE49-F238E27FC236}">
                <a16:creationId xmlns:a16="http://schemas.microsoft.com/office/drawing/2014/main" id="{F94E842E-D245-7BFA-D918-89E4CC262F43}"/>
              </a:ext>
            </a:extLst>
          </p:cNvPr>
          <p:cNvSpPr txBox="1"/>
          <p:nvPr/>
        </p:nvSpPr>
        <p:spPr>
          <a:xfrm>
            <a:off x="7810500" y="2743200"/>
            <a:ext cx="1460500" cy="2540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88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组织一次完整 </a:t>
            </a:r>
            <a:r>
              <a:rPr lang="en-US" altLang="zh-CN" sz="88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Episode</a:t>
            </a:r>
            <a:endParaRPr lang="zh-CN" altLang="en-US" sz="880">
              <a:solidFill>
                <a:srgbClr val="5B69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SCX_part2_rect_22">
            <a:extLst>
              <a:ext uri="{FF2B5EF4-FFF2-40B4-BE49-F238E27FC236}">
                <a16:creationId xmlns:a16="http://schemas.microsoft.com/office/drawing/2014/main" id="{0DEB0C10-056B-9B33-F87A-A21EE8F7B3A0}"/>
              </a:ext>
            </a:extLst>
          </p:cNvPr>
          <p:cNvSpPr/>
          <p:nvPr/>
        </p:nvSpPr>
        <p:spPr>
          <a:xfrm>
            <a:off x="6032500" y="3187700"/>
            <a:ext cx="1587500" cy="63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SCX_part2_text_23">
            <a:extLst>
              <a:ext uri="{FF2B5EF4-FFF2-40B4-BE49-F238E27FC236}">
                <a16:creationId xmlns:a16="http://schemas.microsoft.com/office/drawing/2014/main" id="{9D70238B-BB13-2868-3498-AE19C37F642D}"/>
              </a:ext>
            </a:extLst>
          </p:cNvPr>
          <p:cNvSpPr txBox="1"/>
          <p:nvPr/>
        </p:nvSpPr>
        <p:spPr>
          <a:xfrm>
            <a:off x="6096000" y="3225800"/>
            <a:ext cx="1460500" cy="2921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050" b="1">
                <a:solidFill>
                  <a:srgbClr val="0F2256"/>
                </a:solidFill>
                <a:latin typeface="Arial" panose="020B0604020202020204" pitchFamily="34" charset="0"/>
              </a:rPr>
              <a:t>恢复与审计</a:t>
            </a:r>
          </a:p>
        </p:txBody>
      </p:sp>
      <p:sp>
        <p:nvSpPr>
          <p:cNvPr id="27" name="SCX_part2_text_24">
            <a:extLst>
              <a:ext uri="{FF2B5EF4-FFF2-40B4-BE49-F238E27FC236}">
                <a16:creationId xmlns:a16="http://schemas.microsoft.com/office/drawing/2014/main" id="{2590E414-672D-95B0-685C-47F5D5DF1436}"/>
              </a:ext>
            </a:extLst>
          </p:cNvPr>
          <p:cNvSpPr txBox="1"/>
          <p:nvPr/>
        </p:nvSpPr>
        <p:spPr>
          <a:xfrm>
            <a:off x="6096000" y="3517900"/>
            <a:ext cx="1460500" cy="2540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88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基线记录与异常恢复</a:t>
            </a:r>
          </a:p>
        </p:txBody>
      </p:sp>
      <p:sp>
        <p:nvSpPr>
          <p:cNvPr id="91" name="SCX_part2_rect_25">
            <a:extLst>
              <a:ext uri="{FF2B5EF4-FFF2-40B4-BE49-F238E27FC236}">
                <a16:creationId xmlns:a16="http://schemas.microsoft.com/office/drawing/2014/main" id="{333A6CD6-DCCB-BC22-3023-0CDB61B857FC}"/>
              </a:ext>
            </a:extLst>
          </p:cNvPr>
          <p:cNvSpPr/>
          <p:nvPr/>
        </p:nvSpPr>
        <p:spPr>
          <a:xfrm>
            <a:off x="7747000" y="3187700"/>
            <a:ext cx="1587500" cy="63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SCX_part2_text_26">
            <a:extLst>
              <a:ext uri="{FF2B5EF4-FFF2-40B4-BE49-F238E27FC236}">
                <a16:creationId xmlns:a16="http://schemas.microsoft.com/office/drawing/2014/main" id="{69767808-AA3A-BAF8-D20D-B4009CD0FBF6}"/>
              </a:ext>
            </a:extLst>
          </p:cNvPr>
          <p:cNvSpPr txBox="1"/>
          <p:nvPr/>
        </p:nvSpPr>
        <p:spPr>
          <a:xfrm>
            <a:off x="7810500" y="3225800"/>
            <a:ext cx="1460500" cy="2921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050" b="1">
                <a:solidFill>
                  <a:srgbClr val="0F2256"/>
                </a:solidFill>
                <a:latin typeface="Arial" panose="020B0604020202020204" pitchFamily="34" charset="0"/>
              </a:rPr>
              <a:t>提交判决</a:t>
            </a:r>
          </a:p>
        </p:txBody>
      </p:sp>
      <p:sp>
        <p:nvSpPr>
          <p:cNvPr id="93" name="SCX_part2_text_27">
            <a:extLst>
              <a:ext uri="{FF2B5EF4-FFF2-40B4-BE49-F238E27FC236}">
                <a16:creationId xmlns:a16="http://schemas.microsoft.com/office/drawing/2014/main" id="{FF5607BF-8457-7CF7-742B-056DBB4EC6C4}"/>
              </a:ext>
            </a:extLst>
          </p:cNvPr>
          <p:cNvSpPr txBox="1"/>
          <p:nvPr/>
        </p:nvSpPr>
        <p:spPr>
          <a:xfrm>
            <a:off x="7810500" y="3517900"/>
            <a:ext cx="1460500" cy="2540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88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依据证据提交或回滚</a:t>
            </a:r>
          </a:p>
        </p:txBody>
      </p:sp>
      <p:cxnSp>
        <p:nvCxnSpPr>
          <p:cNvPr id="94" name="SCX_part2_line_28">
            <a:extLst>
              <a:ext uri="{FF2B5EF4-FFF2-40B4-BE49-F238E27FC236}">
                <a16:creationId xmlns:a16="http://schemas.microsoft.com/office/drawing/2014/main" id="{5876757B-06B6-E6D0-6BC4-E0CDCC04C39F}"/>
              </a:ext>
            </a:extLst>
          </p:cNvPr>
          <p:cNvCxnSpPr/>
          <p:nvPr/>
        </p:nvCxnSpPr>
        <p:spPr>
          <a:xfrm>
            <a:off x="9652000" y="2921000"/>
            <a:ext cx="292100" cy="0"/>
          </a:xfrm>
          <a:prstGeom prst="line">
            <a:avLst/>
          </a:prstGeom>
          <a:ln w="25400">
            <a:solidFill>
              <a:srgbClr val="C2CDE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SCX_part2_rect_29">
            <a:extLst>
              <a:ext uri="{FF2B5EF4-FFF2-40B4-BE49-F238E27FC236}">
                <a16:creationId xmlns:a16="http://schemas.microsoft.com/office/drawing/2014/main" id="{047BE374-9A98-FD8C-4180-F91112A75464}"/>
              </a:ext>
            </a:extLst>
          </p:cNvPr>
          <p:cNvSpPr/>
          <p:nvPr/>
        </p:nvSpPr>
        <p:spPr>
          <a:xfrm>
            <a:off x="10033000" y="1816100"/>
            <a:ext cx="1460500" cy="2222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SCX_part2_rect_30">
            <a:extLst>
              <a:ext uri="{FF2B5EF4-FFF2-40B4-BE49-F238E27FC236}">
                <a16:creationId xmlns:a16="http://schemas.microsoft.com/office/drawing/2014/main" id="{2D42530D-3226-9A8F-4F1E-9D15340B2ADD}"/>
              </a:ext>
            </a:extLst>
          </p:cNvPr>
          <p:cNvSpPr/>
          <p:nvPr/>
        </p:nvSpPr>
        <p:spPr>
          <a:xfrm>
            <a:off x="10198100" y="2006600"/>
            <a:ext cx="1130300" cy="342900"/>
          </a:xfrm>
          <a:prstGeom prst="roundRect">
            <a:avLst/>
          </a:prstGeom>
          <a:solidFill>
            <a:srgbClr val="EBF1FC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EBF1FC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SCX_part2_text_31">
            <a:extLst>
              <a:ext uri="{FF2B5EF4-FFF2-40B4-BE49-F238E27FC236}">
                <a16:creationId xmlns:a16="http://schemas.microsoft.com/office/drawing/2014/main" id="{84945282-959A-B358-4607-7980B6F19967}"/>
              </a:ext>
            </a:extLst>
          </p:cNvPr>
          <p:cNvSpPr txBox="1"/>
          <p:nvPr/>
        </p:nvSpPr>
        <p:spPr>
          <a:xfrm>
            <a:off x="10198100" y="2006600"/>
            <a:ext cx="1130300" cy="3429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95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PROVIDERS</a:t>
            </a:r>
            <a:endParaRPr lang="zh-CN" altLang="en-US" sz="950" b="1">
              <a:solidFill>
                <a:srgbClr val="0F225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8" name="SCX_part2_text_32">
            <a:extLst>
              <a:ext uri="{FF2B5EF4-FFF2-40B4-BE49-F238E27FC236}">
                <a16:creationId xmlns:a16="http://schemas.microsoft.com/office/drawing/2014/main" id="{41878301-266C-2281-98A0-D45FCEFCFCF1}"/>
              </a:ext>
            </a:extLst>
          </p:cNvPr>
          <p:cNvSpPr txBox="1"/>
          <p:nvPr/>
        </p:nvSpPr>
        <p:spPr>
          <a:xfrm>
            <a:off x="10198100" y="2540000"/>
            <a:ext cx="1130300" cy="4064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7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受限执行</a:t>
            </a:r>
          </a:p>
        </p:txBody>
      </p:sp>
      <p:sp>
        <p:nvSpPr>
          <p:cNvPr id="99" name="SCX_part2_text_33">
            <a:extLst>
              <a:ext uri="{FF2B5EF4-FFF2-40B4-BE49-F238E27FC236}">
                <a16:creationId xmlns:a16="http://schemas.microsoft.com/office/drawing/2014/main" id="{47F5D128-7EF6-2CD9-0E2A-F4A64EC1D536}"/>
              </a:ext>
            </a:extLst>
          </p:cNvPr>
          <p:cNvSpPr txBox="1"/>
          <p:nvPr/>
        </p:nvSpPr>
        <p:spPr>
          <a:xfrm>
            <a:off x="10198100" y="3060700"/>
            <a:ext cx="1130300" cy="6985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100">
                <a:solidFill>
                  <a:srgbClr val="5B6985"/>
                </a:solidFill>
                <a:latin typeface="Arial" panose="020B0604020202020204" pitchFamily="34" charset="0"/>
              </a:rPr>
              <a:t>Local binding
MCP manifest
allowlist</a:t>
            </a:r>
            <a:endParaRPr lang="zh-CN" altLang="en-US" sz="1100">
              <a:solidFill>
                <a:srgbClr val="5B6985"/>
              </a:solidFill>
              <a:latin typeface="Arial" panose="020B0604020202020204" pitchFamily="34" charset="0"/>
            </a:endParaRPr>
          </a:p>
        </p:txBody>
      </p:sp>
      <p:sp>
        <p:nvSpPr>
          <p:cNvPr id="100" name="SCX_part2_rect_34">
            <a:extLst>
              <a:ext uri="{FF2B5EF4-FFF2-40B4-BE49-F238E27FC236}">
                <a16:creationId xmlns:a16="http://schemas.microsoft.com/office/drawing/2014/main" id="{4E5F4AAD-9BA7-627F-DC5B-15BF0F79F16A}"/>
              </a:ext>
            </a:extLst>
          </p:cNvPr>
          <p:cNvSpPr/>
          <p:nvPr/>
        </p:nvSpPr>
        <p:spPr>
          <a:xfrm>
            <a:off x="698500" y="4508500"/>
            <a:ext cx="3429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SCX_part2_rect_35">
            <a:extLst>
              <a:ext uri="{FF2B5EF4-FFF2-40B4-BE49-F238E27FC236}">
                <a16:creationId xmlns:a16="http://schemas.microsoft.com/office/drawing/2014/main" id="{CBF671E1-99AA-B8BC-B6B9-6D45B6B5B65B}"/>
              </a:ext>
            </a:extLst>
          </p:cNvPr>
          <p:cNvSpPr/>
          <p:nvPr/>
        </p:nvSpPr>
        <p:spPr>
          <a:xfrm>
            <a:off x="698500" y="4508500"/>
            <a:ext cx="76200" cy="1168400"/>
          </a:xfrm>
          <a:prstGeom prst="rect">
            <a:avLst/>
          </a:prstGeom>
          <a:solidFill>
            <a:srgbClr val="2757E0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2757E0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SCX_part2_text_36">
            <a:extLst>
              <a:ext uri="{FF2B5EF4-FFF2-40B4-BE49-F238E27FC236}">
                <a16:creationId xmlns:a16="http://schemas.microsoft.com/office/drawing/2014/main" id="{EBD71681-F6F3-1B83-B992-656C8CA54039}"/>
              </a:ext>
            </a:extLst>
          </p:cNvPr>
          <p:cNvSpPr txBox="1"/>
          <p:nvPr/>
        </p:nvSpPr>
        <p:spPr>
          <a:xfrm>
            <a:off x="927100" y="4610100"/>
            <a:ext cx="3048000" cy="355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zh-CN" altLang="en-US" sz="14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事务操作</a:t>
            </a:r>
          </a:p>
        </p:txBody>
      </p:sp>
      <p:sp>
        <p:nvSpPr>
          <p:cNvPr id="103" name="SCX_part2_text_37">
            <a:extLst>
              <a:ext uri="{FF2B5EF4-FFF2-40B4-BE49-F238E27FC236}">
                <a16:creationId xmlns:a16="http://schemas.microsoft.com/office/drawing/2014/main" id="{F2207176-6525-4513-74DE-150AA703335C}"/>
              </a:ext>
            </a:extLst>
          </p:cNvPr>
          <p:cNvSpPr txBox="1"/>
          <p:nvPr/>
        </p:nvSpPr>
        <p:spPr>
          <a:xfrm>
            <a:off x="927100" y="4978400"/>
            <a:ext cx="3048000" cy="6223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zh-CN" altLang="en-US" sz="11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每次变更记录基线并经过 </a:t>
            </a:r>
            <a:r>
              <a:rPr lang="en-US" altLang="zh-CN" sz="11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apply / readback</a:t>
            </a:r>
            <a:r>
              <a:rPr lang="zh-CN" altLang="en-US" sz="11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，形成可追溯事务。</a:t>
            </a:r>
          </a:p>
        </p:txBody>
      </p:sp>
      <p:sp>
        <p:nvSpPr>
          <p:cNvPr id="104" name="SCX_part2_rect_38">
            <a:extLst>
              <a:ext uri="{FF2B5EF4-FFF2-40B4-BE49-F238E27FC236}">
                <a16:creationId xmlns:a16="http://schemas.microsoft.com/office/drawing/2014/main" id="{785F5EE0-3B27-9EFC-750B-E89C35AF2001}"/>
              </a:ext>
            </a:extLst>
          </p:cNvPr>
          <p:cNvSpPr/>
          <p:nvPr/>
        </p:nvSpPr>
        <p:spPr>
          <a:xfrm>
            <a:off x="4381500" y="4508500"/>
            <a:ext cx="3429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SCX_part2_rect_39">
            <a:extLst>
              <a:ext uri="{FF2B5EF4-FFF2-40B4-BE49-F238E27FC236}">
                <a16:creationId xmlns:a16="http://schemas.microsoft.com/office/drawing/2014/main" id="{D50E6E73-72EB-EC53-535D-87F1FB9577B7}"/>
              </a:ext>
            </a:extLst>
          </p:cNvPr>
          <p:cNvSpPr/>
          <p:nvPr/>
        </p:nvSpPr>
        <p:spPr>
          <a:xfrm>
            <a:off x="4381500" y="4508500"/>
            <a:ext cx="76200" cy="1168400"/>
          </a:xfrm>
          <a:prstGeom prst="rect">
            <a:avLst/>
          </a:prstGeom>
          <a:solidFill>
            <a:srgbClr val="2757E0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2757E0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SCX_part2_text_40">
            <a:extLst>
              <a:ext uri="{FF2B5EF4-FFF2-40B4-BE49-F238E27FC236}">
                <a16:creationId xmlns:a16="http://schemas.microsoft.com/office/drawing/2014/main" id="{75FBBE0F-24F6-95B6-6E85-7662514B435C}"/>
              </a:ext>
            </a:extLst>
          </p:cNvPr>
          <p:cNvSpPr txBox="1"/>
          <p:nvPr/>
        </p:nvSpPr>
        <p:spPr>
          <a:xfrm>
            <a:off x="4610100" y="4610100"/>
            <a:ext cx="3048000" cy="355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en-US" altLang="zh-CN" sz="14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A/B Evaluate</a:t>
            </a:r>
            <a:endParaRPr lang="zh-CN" altLang="en-US" sz="1400" b="1">
              <a:solidFill>
                <a:srgbClr val="0F225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7" name="SCX_part2_text_41">
            <a:extLst>
              <a:ext uri="{FF2B5EF4-FFF2-40B4-BE49-F238E27FC236}">
                <a16:creationId xmlns:a16="http://schemas.microsoft.com/office/drawing/2014/main" id="{36E669C4-2C83-1D23-BA72-C36AAF91C0EC}"/>
              </a:ext>
            </a:extLst>
          </p:cNvPr>
          <p:cNvSpPr txBox="1"/>
          <p:nvPr/>
        </p:nvSpPr>
        <p:spPr>
          <a:xfrm>
            <a:off x="4610100" y="4978400"/>
            <a:ext cx="3048000" cy="6223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zh-CN" altLang="en-US" sz="11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无改善自动恢复 </a:t>
            </a:r>
            <a:r>
              <a:rPr lang="en-US" altLang="zh-CN" sz="11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baseline</a:t>
            </a:r>
            <a:r>
              <a:rPr lang="zh-CN" altLang="en-US" sz="11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；状态不明进入 </a:t>
            </a:r>
            <a:r>
              <a:rPr lang="en-US" altLang="zh-CN" sz="11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RecoveryRequired</a:t>
            </a:r>
            <a:r>
              <a:rPr lang="zh-CN" altLang="en-US" sz="11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108" name="SCX_part2_rect_42">
            <a:extLst>
              <a:ext uri="{FF2B5EF4-FFF2-40B4-BE49-F238E27FC236}">
                <a16:creationId xmlns:a16="http://schemas.microsoft.com/office/drawing/2014/main" id="{2AC6F7E7-1852-AD9E-771F-61B188791FA5}"/>
              </a:ext>
            </a:extLst>
          </p:cNvPr>
          <p:cNvSpPr/>
          <p:nvPr/>
        </p:nvSpPr>
        <p:spPr>
          <a:xfrm>
            <a:off x="8064500" y="4508500"/>
            <a:ext cx="3429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SCX_part2_rect_43">
            <a:extLst>
              <a:ext uri="{FF2B5EF4-FFF2-40B4-BE49-F238E27FC236}">
                <a16:creationId xmlns:a16="http://schemas.microsoft.com/office/drawing/2014/main" id="{76021C3C-5E95-C6DE-DC96-67AB0FFCAF8C}"/>
              </a:ext>
            </a:extLst>
          </p:cNvPr>
          <p:cNvSpPr/>
          <p:nvPr/>
        </p:nvSpPr>
        <p:spPr>
          <a:xfrm>
            <a:off x="8064500" y="4508500"/>
            <a:ext cx="76200" cy="1168400"/>
          </a:xfrm>
          <a:prstGeom prst="rect">
            <a:avLst/>
          </a:prstGeom>
          <a:solidFill>
            <a:srgbClr val="2757E0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2757E0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SCX_part2_text_44">
            <a:extLst>
              <a:ext uri="{FF2B5EF4-FFF2-40B4-BE49-F238E27FC236}">
                <a16:creationId xmlns:a16="http://schemas.microsoft.com/office/drawing/2014/main" id="{8E290DFA-F64F-32DD-D2D2-5F2057D17CC7}"/>
              </a:ext>
            </a:extLst>
          </p:cNvPr>
          <p:cNvSpPr txBox="1"/>
          <p:nvPr/>
        </p:nvSpPr>
        <p:spPr>
          <a:xfrm>
            <a:off x="8293100" y="4610100"/>
            <a:ext cx="3048000" cy="355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zh-CN" altLang="en-US" sz="14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失败回滚</a:t>
            </a:r>
          </a:p>
        </p:txBody>
      </p:sp>
      <p:sp>
        <p:nvSpPr>
          <p:cNvPr id="111" name="SCX_part2_text_45">
            <a:extLst>
              <a:ext uri="{FF2B5EF4-FFF2-40B4-BE49-F238E27FC236}">
                <a16:creationId xmlns:a16="http://schemas.microsoft.com/office/drawing/2014/main" id="{AF029232-D196-3773-31EC-82DCA6896836}"/>
              </a:ext>
            </a:extLst>
          </p:cNvPr>
          <p:cNvSpPr txBox="1"/>
          <p:nvPr/>
        </p:nvSpPr>
        <p:spPr>
          <a:xfrm>
            <a:off x="8293100" y="4978400"/>
            <a:ext cx="3048000" cy="6223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zh-CN" altLang="en-US" sz="11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固定比较 </a:t>
            </a:r>
            <a:r>
              <a:rPr lang="en-US" altLang="zh-CN" sz="11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baseline </a:t>
            </a:r>
            <a:r>
              <a:rPr lang="zh-CN" altLang="en-US" sz="11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11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candidate</a:t>
            </a:r>
            <a:r>
              <a:rPr lang="zh-CN" altLang="en-US" sz="11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，模型不能选择有利结果。</a:t>
            </a:r>
          </a:p>
        </p:txBody>
      </p:sp>
      <p:sp>
        <p:nvSpPr>
          <p:cNvPr id="112" name="SCX_part2_rect_46">
            <a:extLst>
              <a:ext uri="{FF2B5EF4-FFF2-40B4-BE49-F238E27FC236}">
                <a16:creationId xmlns:a16="http://schemas.microsoft.com/office/drawing/2014/main" id="{9D8F4520-DFA8-8007-C939-316AF38B0095}"/>
              </a:ext>
            </a:extLst>
          </p:cNvPr>
          <p:cNvSpPr/>
          <p:nvPr/>
        </p:nvSpPr>
        <p:spPr>
          <a:xfrm>
            <a:off x="698500" y="5880100"/>
            <a:ext cx="10795000" cy="368300"/>
          </a:xfrm>
          <a:prstGeom prst="roundRect">
            <a:avLst/>
          </a:prstGeom>
          <a:solidFill>
            <a:srgbClr val="EBF1FC"/>
          </a:solidFill>
          <a:ln w="12700">
            <a:solidFill>
              <a:srgbClr val="2757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SCX_part2_text_47">
            <a:extLst>
              <a:ext uri="{FF2B5EF4-FFF2-40B4-BE49-F238E27FC236}">
                <a16:creationId xmlns:a16="http://schemas.microsoft.com/office/drawing/2014/main" id="{5FC461F5-E617-BEE8-875C-7A9987BFAE51}"/>
              </a:ext>
            </a:extLst>
          </p:cNvPr>
          <p:cNvSpPr txBox="1"/>
          <p:nvPr/>
        </p:nvSpPr>
        <p:spPr>
          <a:xfrm>
            <a:off x="889000" y="5880100"/>
            <a:ext cx="10414000" cy="3683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25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LLM </a:t>
            </a:r>
            <a:r>
              <a:rPr lang="zh-CN" altLang="en-US" sz="125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负责策略选择，</a:t>
            </a:r>
            <a:r>
              <a:rPr lang="en-US" altLang="zh-CN" sz="125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Provider </a:t>
            </a:r>
            <a:r>
              <a:rPr lang="zh-CN" altLang="en-US" sz="125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提供能力扩展，</a:t>
            </a:r>
            <a:r>
              <a:rPr lang="en-US" altLang="zh-CN" sz="125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Runtime </a:t>
            </a:r>
            <a:r>
              <a:rPr lang="zh-CN" altLang="en-US" sz="125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独占副作用、评价和提交权。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55" y="522605"/>
            <a:ext cx="7624445" cy="491490"/>
          </a:xfrm>
        </p:spPr>
        <p:txBody>
          <a:bodyPr/>
          <a:lstStyle/>
          <a:p>
            <a:r>
              <a:rPr lang="en-US" altLang="zh-CN"/>
              <a:t>2.2  scx_agent_classed</a:t>
            </a:r>
            <a:r>
              <a:rPr lang="zh-CN" altLang="en-US"/>
              <a:t>：两级分类调度器</a:t>
            </a:r>
          </a:p>
        </p:txBody>
      </p:sp>
      <p:sp>
        <p:nvSpPr>
          <p:cNvPr id="4" name="SCX_part2_text_48">
            <a:extLst>
              <a:ext uri="{FF2B5EF4-FFF2-40B4-BE49-F238E27FC236}">
                <a16:creationId xmlns:a16="http://schemas.microsoft.com/office/drawing/2014/main" id="{F4A01DD0-4D43-4694-CD84-2C7792C97515}"/>
              </a:ext>
            </a:extLst>
          </p:cNvPr>
          <p:cNvSpPr txBox="1"/>
          <p:nvPr/>
        </p:nvSpPr>
        <p:spPr>
          <a:xfrm>
            <a:off x="698500" y="1181100"/>
            <a:ext cx="10795000" cy="3810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zh-CN" altLang="en-US" sz="16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单调度器维护多个 </a:t>
            </a:r>
            <a:r>
              <a:rPr lang="en-US" altLang="zh-CN" sz="16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DSQ</a:t>
            </a:r>
            <a:r>
              <a:rPr lang="zh-CN" altLang="en-US" sz="16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，共用同一内部模型，避免调度器切换开销。</a:t>
            </a:r>
          </a:p>
        </p:txBody>
      </p:sp>
      <p:sp>
        <p:nvSpPr>
          <p:cNvPr id="5" name="SCX_part2_rect_49">
            <a:extLst>
              <a:ext uri="{FF2B5EF4-FFF2-40B4-BE49-F238E27FC236}">
                <a16:creationId xmlns:a16="http://schemas.microsoft.com/office/drawing/2014/main" id="{ABD545E8-47A6-F0C9-F480-EDDB01CD6EF2}"/>
              </a:ext>
            </a:extLst>
          </p:cNvPr>
          <p:cNvSpPr/>
          <p:nvPr/>
        </p:nvSpPr>
        <p:spPr>
          <a:xfrm>
            <a:off x="698500" y="1905000"/>
            <a:ext cx="2095500" cy="2349500"/>
          </a:xfrm>
          <a:prstGeom prst="roundRect">
            <a:avLst/>
          </a:prstGeom>
          <a:solidFill>
            <a:srgbClr val="EBF1FC"/>
          </a:solidFill>
          <a:ln w="15240">
            <a:solidFill>
              <a:srgbClr val="2757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SCX_part2_text_50">
            <a:extLst>
              <a:ext uri="{FF2B5EF4-FFF2-40B4-BE49-F238E27FC236}">
                <a16:creationId xmlns:a16="http://schemas.microsoft.com/office/drawing/2014/main" id="{F44290E3-B459-2401-5212-A257E43FE517}"/>
              </a:ext>
            </a:extLst>
          </p:cNvPr>
          <p:cNvSpPr txBox="1"/>
          <p:nvPr/>
        </p:nvSpPr>
        <p:spPr>
          <a:xfrm>
            <a:off x="914400" y="2108200"/>
            <a:ext cx="1663700" cy="3937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任务与规则</a:t>
            </a:r>
          </a:p>
        </p:txBody>
      </p:sp>
      <p:sp>
        <p:nvSpPr>
          <p:cNvPr id="7" name="SCX_part2_rect_51">
            <a:extLst>
              <a:ext uri="{FF2B5EF4-FFF2-40B4-BE49-F238E27FC236}">
                <a16:creationId xmlns:a16="http://schemas.microsoft.com/office/drawing/2014/main" id="{BFABB3C0-FC18-BAC0-E28D-E20F435A4012}"/>
              </a:ext>
            </a:extLst>
          </p:cNvPr>
          <p:cNvSpPr/>
          <p:nvPr/>
        </p:nvSpPr>
        <p:spPr>
          <a:xfrm>
            <a:off x="965200" y="2730500"/>
            <a:ext cx="1562100" cy="381000"/>
          </a:xfrm>
          <a:prstGeom prst="roundRect">
            <a:avLst/>
          </a:prstGeom>
          <a:solidFill>
            <a:srgbClr val="EBF1FC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EBF1FC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SCX_part2_text_52">
            <a:extLst>
              <a:ext uri="{FF2B5EF4-FFF2-40B4-BE49-F238E27FC236}">
                <a16:creationId xmlns:a16="http://schemas.microsoft.com/office/drawing/2014/main" id="{4757E307-39A8-767F-5D06-2AFB191AB4CF}"/>
              </a:ext>
            </a:extLst>
          </p:cNvPr>
          <p:cNvSpPr txBox="1"/>
          <p:nvPr/>
        </p:nvSpPr>
        <p:spPr>
          <a:xfrm>
            <a:off x="965200" y="2730500"/>
            <a:ext cx="1562100" cy="3810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05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comm / cgroup</a:t>
            </a:r>
            <a:endParaRPr lang="zh-CN" altLang="en-US" sz="1050" b="1">
              <a:solidFill>
                <a:srgbClr val="0F225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SCX_part2_rect_53">
            <a:extLst>
              <a:ext uri="{FF2B5EF4-FFF2-40B4-BE49-F238E27FC236}">
                <a16:creationId xmlns:a16="http://schemas.microsoft.com/office/drawing/2014/main" id="{BCC7EFDF-562C-8F7E-3F67-91B62DC1E001}"/>
              </a:ext>
            </a:extLst>
          </p:cNvPr>
          <p:cNvSpPr/>
          <p:nvPr/>
        </p:nvSpPr>
        <p:spPr>
          <a:xfrm>
            <a:off x="965200" y="3251200"/>
            <a:ext cx="1562100" cy="381000"/>
          </a:xfrm>
          <a:prstGeom prst="roundRect">
            <a:avLst/>
          </a:prstGeom>
          <a:solidFill>
            <a:srgbClr val="EBF1FC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EBF1FC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SCX_part2_text_54">
            <a:extLst>
              <a:ext uri="{FF2B5EF4-FFF2-40B4-BE49-F238E27FC236}">
                <a16:creationId xmlns:a16="http://schemas.microsoft.com/office/drawing/2014/main" id="{90BD3100-B6AD-16E8-BB14-FB561EAFBAAF}"/>
              </a:ext>
            </a:extLst>
          </p:cNvPr>
          <p:cNvSpPr txBox="1"/>
          <p:nvPr/>
        </p:nvSpPr>
        <p:spPr>
          <a:xfrm>
            <a:off x="965200" y="3251200"/>
            <a:ext cx="1562100" cy="3810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05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base rules</a:t>
            </a:r>
            <a:endParaRPr lang="zh-CN" altLang="en-US" sz="1050" b="1">
              <a:solidFill>
                <a:srgbClr val="0F225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SCX_part2_rect_55">
            <a:extLst>
              <a:ext uri="{FF2B5EF4-FFF2-40B4-BE49-F238E27FC236}">
                <a16:creationId xmlns:a16="http://schemas.microsoft.com/office/drawing/2014/main" id="{5990770E-0D57-9942-06E8-AA98849FD335}"/>
              </a:ext>
            </a:extLst>
          </p:cNvPr>
          <p:cNvSpPr/>
          <p:nvPr/>
        </p:nvSpPr>
        <p:spPr>
          <a:xfrm>
            <a:off x="965200" y="3771900"/>
            <a:ext cx="1562100" cy="381000"/>
          </a:xfrm>
          <a:prstGeom prst="roundRect">
            <a:avLst/>
          </a:prstGeom>
          <a:solidFill>
            <a:srgbClr val="EBF1FC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EBF1FC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SCX_part2_text_56">
            <a:extLst>
              <a:ext uri="{FF2B5EF4-FFF2-40B4-BE49-F238E27FC236}">
                <a16:creationId xmlns:a16="http://schemas.microsoft.com/office/drawing/2014/main" id="{6858B15C-D796-36DC-135A-F99D7EE8FC7E}"/>
              </a:ext>
            </a:extLst>
          </p:cNvPr>
          <p:cNvSpPr txBox="1"/>
          <p:nvPr/>
        </p:nvSpPr>
        <p:spPr>
          <a:xfrm>
            <a:off x="965200" y="3771900"/>
            <a:ext cx="1562100" cy="3810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05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learned rules</a:t>
            </a:r>
            <a:endParaRPr lang="zh-CN" altLang="en-US" sz="1050" b="1">
              <a:solidFill>
                <a:srgbClr val="0F225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3" name="SCX_part2_line_57">
            <a:extLst>
              <a:ext uri="{FF2B5EF4-FFF2-40B4-BE49-F238E27FC236}">
                <a16:creationId xmlns:a16="http://schemas.microsoft.com/office/drawing/2014/main" id="{D70EAB82-BF1C-F911-9B4E-0996AB33D451}"/>
              </a:ext>
            </a:extLst>
          </p:cNvPr>
          <p:cNvCxnSpPr/>
          <p:nvPr/>
        </p:nvCxnSpPr>
        <p:spPr>
          <a:xfrm>
            <a:off x="2857500" y="3073400"/>
            <a:ext cx="355600" cy="0"/>
          </a:xfrm>
          <a:prstGeom prst="line">
            <a:avLst/>
          </a:prstGeom>
          <a:ln w="25400">
            <a:solidFill>
              <a:srgbClr val="C2CDE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CX_part2_rect_58">
            <a:extLst>
              <a:ext uri="{FF2B5EF4-FFF2-40B4-BE49-F238E27FC236}">
                <a16:creationId xmlns:a16="http://schemas.microsoft.com/office/drawing/2014/main" id="{F378D7F1-6973-88E5-C703-532CE7FE5A70}"/>
              </a:ext>
            </a:extLst>
          </p:cNvPr>
          <p:cNvSpPr/>
          <p:nvPr/>
        </p:nvSpPr>
        <p:spPr>
          <a:xfrm>
            <a:off x="3302000" y="1905000"/>
            <a:ext cx="2222500" cy="2349500"/>
          </a:xfrm>
          <a:prstGeom prst="roundRect">
            <a:avLst/>
          </a:prstGeom>
          <a:solidFill>
            <a:srgbClr val="EBF1FC"/>
          </a:solidFill>
          <a:ln w="15240">
            <a:solidFill>
              <a:srgbClr val="2757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SCX_part2_text_59">
            <a:extLst>
              <a:ext uri="{FF2B5EF4-FFF2-40B4-BE49-F238E27FC236}">
                <a16:creationId xmlns:a16="http://schemas.microsoft.com/office/drawing/2014/main" id="{8EB45884-0E3E-2B2D-144B-29735D47B536}"/>
              </a:ext>
            </a:extLst>
          </p:cNvPr>
          <p:cNvSpPr txBox="1"/>
          <p:nvPr/>
        </p:nvSpPr>
        <p:spPr>
          <a:xfrm>
            <a:off x="3530600" y="2108200"/>
            <a:ext cx="1765300" cy="3937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语义分类</a:t>
            </a:r>
          </a:p>
        </p:txBody>
      </p:sp>
      <p:sp>
        <p:nvSpPr>
          <p:cNvPr id="16" name="SCX_part2_rect_60">
            <a:extLst>
              <a:ext uri="{FF2B5EF4-FFF2-40B4-BE49-F238E27FC236}">
                <a16:creationId xmlns:a16="http://schemas.microsoft.com/office/drawing/2014/main" id="{047D624A-7C12-0449-B0D4-D3B3D7D23448}"/>
              </a:ext>
            </a:extLst>
          </p:cNvPr>
          <p:cNvSpPr/>
          <p:nvPr/>
        </p:nvSpPr>
        <p:spPr>
          <a:xfrm>
            <a:off x="3594100" y="2755900"/>
            <a:ext cx="1638300" cy="533400"/>
          </a:xfrm>
          <a:prstGeom prst="roundRect">
            <a:avLst/>
          </a:prstGeom>
          <a:solidFill>
            <a:srgbClr val="E8F8FB"/>
          </a:solidFill>
          <a:ln w="12700">
            <a:solidFill>
              <a:srgbClr val="14BE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SCX_part2_text_61">
            <a:extLst>
              <a:ext uri="{FF2B5EF4-FFF2-40B4-BE49-F238E27FC236}">
                <a16:creationId xmlns:a16="http://schemas.microsoft.com/office/drawing/2014/main" id="{A764F9AB-F1DA-31D1-8060-4BFF064ADB97}"/>
              </a:ext>
            </a:extLst>
          </p:cNvPr>
          <p:cNvSpPr txBox="1"/>
          <p:nvPr/>
        </p:nvSpPr>
        <p:spPr>
          <a:xfrm>
            <a:off x="3594100" y="2755900"/>
            <a:ext cx="1638300" cy="5334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400" b="1">
                <a:solidFill>
                  <a:srgbClr val="0F2256"/>
                </a:solidFill>
                <a:latin typeface="Arial" panose="020B0604020202020204" pitchFamily="34" charset="0"/>
              </a:rPr>
              <a:t>LATENCY</a:t>
            </a:r>
            <a:endParaRPr lang="zh-CN" altLang="en-US" sz="1400" b="1">
              <a:solidFill>
                <a:srgbClr val="0F2256"/>
              </a:solidFill>
              <a:latin typeface="Arial" panose="020B0604020202020204" pitchFamily="34" charset="0"/>
            </a:endParaRPr>
          </a:p>
        </p:txBody>
      </p:sp>
      <p:sp>
        <p:nvSpPr>
          <p:cNvPr id="18" name="SCX_part2_rect_62">
            <a:extLst>
              <a:ext uri="{FF2B5EF4-FFF2-40B4-BE49-F238E27FC236}">
                <a16:creationId xmlns:a16="http://schemas.microsoft.com/office/drawing/2014/main" id="{4A3DD637-1818-CAD2-B8EE-D1F7EE4589FE}"/>
              </a:ext>
            </a:extLst>
          </p:cNvPr>
          <p:cNvSpPr/>
          <p:nvPr/>
        </p:nvSpPr>
        <p:spPr>
          <a:xfrm>
            <a:off x="3594100" y="3479800"/>
            <a:ext cx="1638300" cy="53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57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SCX_part2_text_63">
            <a:extLst>
              <a:ext uri="{FF2B5EF4-FFF2-40B4-BE49-F238E27FC236}">
                <a16:creationId xmlns:a16="http://schemas.microsoft.com/office/drawing/2014/main" id="{7F35361B-C4EE-1807-7CAA-F4C0625F159A}"/>
              </a:ext>
            </a:extLst>
          </p:cNvPr>
          <p:cNvSpPr txBox="1"/>
          <p:nvPr/>
        </p:nvSpPr>
        <p:spPr>
          <a:xfrm>
            <a:off x="3594100" y="3479800"/>
            <a:ext cx="1638300" cy="5334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400" b="1">
                <a:solidFill>
                  <a:srgbClr val="0F2256"/>
                </a:solidFill>
                <a:latin typeface="Arial" panose="020B0604020202020204" pitchFamily="34" charset="0"/>
              </a:rPr>
              <a:t>BATCH</a:t>
            </a:r>
            <a:endParaRPr lang="zh-CN" altLang="en-US" sz="1400" b="1">
              <a:solidFill>
                <a:srgbClr val="0F2256"/>
              </a:solidFill>
              <a:latin typeface="Arial" panose="020B0604020202020204" pitchFamily="34" charset="0"/>
            </a:endParaRPr>
          </a:p>
        </p:txBody>
      </p:sp>
      <p:cxnSp>
        <p:nvCxnSpPr>
          <p:cNvPr id="20" name="SCX_part2_line_64">
            <a:extLst>
              <a:ext uri="{FF2B5EF4-FFF2-40B4-BE49-F238E27FC236}">
                <a16:creationId xmlns:a16="http://schemas.microsoft.com/office/drawing/2014/main" id="{307FC550-A2E2-9734-8F1A-A95F3CD28833}"/>
              </a:ext>
            </a:extLst>
          </p:cNvPr>
          <p:cNvCxnSpPr/>
          <p:nvPr/>
        </p:nvCxnSpPr>
        <p:spPr>
          <a:xfrm>
            <a:off x="5588000" y="3073400"/>
            <a:ext cx="355600" cy="0"/>
          </a:xfrm>
          <a:prstGeom prst="line">
            <a:avLst/>
          </a:prstGeom>
          <a:ln w="25400">
            <a:solidFill>
              <a:srgbClr val="C2CDE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CX_part2_rect_65">
            <a:extLst>
              <a:ext uri="{FF2B5EF4-FFF2-40B4-BE49-F238E27FC236}">
                <a16:creationId xmlns:a16="http://schemas.microsoft.com/office/drawing/2014/main" id="{47F481F5-7B30-A390-0902-DB65BF36E055}"/>
              </a:ext>
            </a:extLst>
          </p:cNvPr>
          <p:cNvSpPr/>
          <p:nvPr/>
        </p:nvSpPr>
        <p:spPr>
          <a:xfrm>
            <a:off x="6032500" y="1905000"/>
            <a:ext cx="3111500" cy="2349500"/>
          </a:xfrm>
          <a:prstGeom prst="roundRect">
            <a:avLst/>
          </a:prstGeom>
          <a:solidFill>
            <a:srgbClr val="EBF1FC"/>
          </a:solidFill>
          <a:ln w="15240">
            <a:solidFill>
              <a:srgbClr val="2757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SCX_part2_text_66">
            <a:extLst>
              <a:ext uri="{FF2B5EF4-FFF2-40B4-BE49-F238E27FC236}">
                <a16:creationId xmlns:a16="http://schemas.microsoft.com/office/drawing/2014/main" id="{DFBB0337-8B54-D268-DFBC-1BDCA9667092}"/>
              </a:ext>
            </a:extLst>
          </p:cNvPr>
          <p:cNvSpPr txBox="1"/>
          <p:nvPr/>
        </p:nvSpPr>
        <p:spPr>
          <a:xfrm>
            <a:off x="6286500" y="2108200"/>
            <a:ext cx="2603500" cy="3937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 </a:t>
            </a:r>
            <a:r>
              <a:rPr lang="en-US" altLang="zh-CN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CPU </a:t>
            </a:r>
            <a:r>
              <a:rPr lang="zh-CN" altLang="en-US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双 </a:t>
            </a:r>
            <a:r>
              <a:rPr lang="en-US" altLang="zh-CN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DSQ</a:t>
            </a:r>
            <a:endParaRPr lang="zh-CN" altLang="en-US" b="1">
              <a:solidFill>
                <a:srgbClr val="0F225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SCX_part2_rect_67">
            <a:extLst>
              <a:ext uri="{FF2B5EF4-FFF2-40B4-BE49-F238E27FC236}">
                <a16:creationId xmlns:a16="http://schemas.microsoft.com/office/drawing/2014/main" id="{93F0B6B8-8A64-CFCA-8873-4B66705331EA}"/>
              </a:ext>
            </a:extLst>
          </p:cNvPr>
          <p:cNvSpPr/>
          <p:nvPr/>
        </p:nvSpPr>
        <p:spPr>
          <a:xfrm>
            <a:off x="6350000" y="2590800"/>
            <a:ext cx="2476500" cy="673100"/>
          </a:xfrm>
          <a:prstGeom prst="roundRect">
            <a:avLst/>
          </a:prstGeom>
          <a:solidFill>
            <a:srgbClr val="E8F8FB"/>
          </a:solidFill>
          <a:ln w="12700">
            <a:solidFill>
              <a:srgbClr val="14BE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SCX_part2_text_68">
            <a:extLst>
              <a:ext uri="{FF2B5EF4-FFF2-40B4-BE49-F238E27FC236}">
                <a16:creationId xmlns:a16="http://schemas.microsoft.com/office/drawing/2014/main" id="{4660F792-4344-5EF9-AB2D-96AF5C1CE0A5}"/>
              </a:ext>
            </a:extLst>
          </p:cNvPr>
          <p:cNvSpPr txBox="1"/>
          <p:nvPr/>
        </p:nvSpPr>
        <p:spPr>
          <a:xfrm>
            <a:off x="6502400" y="2603500"/>
            <a:ext cx="2171700" cy="3175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300" b="1">
                <a:solidFill>
                  <a:srgbClr val="0F2256"/>
                </a:solidFill>
                <a:latin typeface="Arial" panose="020B0604020202020204" pitchFamily="34" charset="0"/>
              </a:rPr>
              <a:t>LATENCY DSQ</a:t>
            </a:r>
            <a:endParaRPr lang="zh-CN" altLang="en-US" sz="1300" b="1">
              <a:solidFill>
                <a:srgbClr val="0F2256"/>
              </a:solidFill>
              <a:latin typeface="Arial" panose="020B0604020202020204" pitchFamily="34" charset="0"/>
            </a:endParaRPr>
          </a:p>
        </p:txBody>
      </p:sp>
      <p:sp>
        <p:nvSpPr>
          <p:cNvPr id="25" name="SCX_part2_text_69">
            <a:extLst>
              <a:ext uri="{FF2B5EF4-FFF2-40B4-BE49-F238E27FC236}">
                <a16:creationId xmlns:a16="http://schemas.microsoft.com/office/drawing/2014/main" id="{4081C8B2-5560-AAE4-219B-1EAB10FB35FC}"/>
              </a:ext>
            </a:extLst>
          </p:cNvPr>
          <p:cNvSpPr txBox="1"/>
          <p:nvPr/>
        </p:nvSpPr>
        <p:spPr>
          <a:xfrm>
            <a:off x="6502400" y="2921000"/>
            <a:ext cx="2171700" cy="2921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0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短 </a:t>
            </a:r>
            <a:r>
              <a:rPr lang="en-US" altLang="zh-CN" sz="10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slice · </a:t>
            </a:r>
            <a:r>
              <a:rPr lang="zh-CN" altLang="en-US" sz="10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有界 </a:t>
            </a:r>
            <a:r>
              <a:rPr lang="en-US" altLang="zh-CN" sz="10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burst</a:t>
            </a:r>
            <a:endParaRPr lang="zh-CN" altLang="en-US" sz="1000">
              <a:solidFill>
                <a:srgbClr val="5B69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SCX_part2_rect_70">
            <a:extLst>
              <a:ext uri="{FF2B5EF4-FFF2-40B4-BE49-F238E27FC236}">
                <a16:creationId xmlns:a16="http://schemas.microsoft.com/office/drawing/2014/main" id="{34EAAAC9-7CD2-E9DF-3E5A-BA83FA948726}"/>
              </a:ext>
            </a:extLst>
          </p:cNvPr>
          <p:cNvSpPr/>
          <p:nvPr/>
        </p:nvSpPr>
        <p:spPr>
          <a:xfrm>
            <a:off x="6350000" y="3467100"/>
            <a:ext cx="2476500" cy="673100"/>
          </a:xfrm>
          <a:prstGeom prst="roundRect">
            <a:avLst/>
          </a:prstGeom>
          <a:solidFill>
            <a:srgbClr val="EBF1FC"/>
          </a:solidFill>
          <a:ln w="12700">
            <a:solidFill>
              <a:srgbClr val="2757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SCX_part2_text_71">
            <a:extLst>
              <a:ext uri="{FF2B5EF4-FFF2-40B4-BE49-F238E27FC236}">
                <a16:creationId xmlns:a16="http://schemas.microsoft.com/office/drawing/2014/main" id="{C6E0D928-E798-9686-C870-F7BA70608FB2}"/>
              </a:ext>
            </a:extLst>
          </p:cNvPr>
          <p:cNvSpPr txBox="1"/>
          <p:nvPr/>
        </p:nvSpPr>
        <p:spPr>
          <a:xfrm>
            <a:off x="6502400" y="3479800"/>
            <a:ext cx="2171700" cy="3175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300" b="1">
                <a:solidFill>
                  <a:srgbClr val="0F2256"/>
                </a:solidFill>
                <a:latin typeface="Arial" panose="020B0604020202020204" pitchFamily="34" charset="0"/>
              </a:rPr>
              <a:t>BATCH DSQ</a:t>
            </a:r>
            <a:endParaRPr lang="zh-CN" altLang="en-US" sz="1300" b="1">
              <a:solidFill>
                <a:srgbClr val="0F2256"/>
              </a:solidFill>
              <a:latin typeface="Arial" panose="020B0604020202020204" pitchFamily="34" charset="0"/>
            </a:endParaRPr>
          </a:p>
        </p:txBody>
      </p:sp>
      <p:sp>
        <p:nvSpPr>
          <p:cNvPr id="91" name="SCX_part2_text_72">
            <a:extLst>
              <a:ext uri="{FF2B5EF4-FFF2-40B4-BE49-F238E27FC236}">
                <a16:creationId xmlns:a16="http://schemas.microsoft.com/office/drawing/2014/main" id="{83DDFF8E-8753-111A-8872-18E8DF1F3E34}"/>
              </a:ext>
            </a:extLst>
          </p:cNvPr>
          <p:cNvSpPr txBox="1"/>
          <p:nvPr/>
        </p:nvSpPr>
        <p:spPr>
          <a:xfrm>
            <a:off x="6502400" y="3797300"/>
            <a:ext cx="2171700" cy="2921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0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自适应 </a:t>
            </a:r>
            <a:r>
              <a:rPr lang="en-US" altLang="zh-CN" sz="10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epoch</a:t>
            </a:r>
            <a:endParaRPr lang="zh-CN" altLang="en-US" sz="1000">
              <a:solidFill>
                <a:srgbClr val="5B69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92" name="SCX_part2_line_73">
            <a:extLst>
              <a:ext uri="{FF2B5EF4-FFF2-40B4-BE49-F238E27FC236}">
                <a16:creationId xmlns:a16="http://schemas.microsoft.com/office/drawing/2014/main" id="{C3A95056-C75D-93D7-BEEE-3F128C9DABA2}"/>
              </a:ext>
            </a:extLst>
          </p:cNvPr>
          <p:cNvCxnSpPr/>
          <p:nvPr/>
        </p:nvCxnSpPr>
        <p:spPr>
          <a:xfrm>
            <a:off x="9207500" y="3073400"/>
            <a:ext cx="355600" cy="0"/>
          </a:xfrm>
          <a:prstGeom prst="line">
            <a:avLst/>
          </a:prstGeom>
          <a:ln w="25400">
            <a:solidFill>
              <a:srgbClr val="C2CDE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SCX_part2_rect_74">
            <a:extLst>
              <a:ext uri="{FF2B5EF4-FFF2-40B4-BE49-F238E27FC236}">
                <a16:creationId xmlns:a16="http://schemas.microsoft.com/office/drawing/2014/main" id="{D8241440-A42C-010E-EECB-A25F51141FFB}"/>
              </a:ext>
            </a:extLst>
          </p:cNvPr>
          <p:cNvSpPr/>
          <p:nvPr/>
        </p:nvSpPr>
        <p:spPr>
          <a:xfrm>
            <a:off x="9652000" y="1905000"/>
            <a:ext cx="1841500" cy="2349500"/>
          </a:xfrm>
          <a:prstGeom prst="roundRect">
            <a:avLst/>
          </a:prstGeom>
          <a:solidFill>
            <a:srgbClr val="EBF1FC"/>
          </a:solidFill>
          <a:ln w="15240">
            <a:solidFill>
              <a:srgbClr val="2757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SCX_part2_text_75">
            <a:extLst>
              <a:ext uri="{FF2B5EF4-FFF2-40B4-BE49-F238E27FC236}">
                <a16:creationId xmlns:a16="http://schemas.microsoft.com/office/drawing/2014/main" id="{C76EBBC0-410E-37FD-3077-46F8D92FE7FD}"/>
              </a:ext>
            </a:extLst>
          </p:cNvPr>
          <p:cNvSpPr txBox="1"/>
          <p:nvPr/>
        </p:nvSpPr>
        <p:spPr>
          <a:xfrm>
            <a:off x="9842500" y="2108200"/>
            <a:ext cx="1460500" cy="3937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统一仲裁</a:t>
            </a:r>
          </a:p>
        </p:txBody>
      </p:sp>
      <p:sp>
        <p:nvSpPr>
          <p:cNvPr id="95" name="SCX_part2_text_76">
            <a:extLst>
              <a:ext uri="{FF2B5EF4-FFF2-40B4-BE49-F238E27FC236}">
                <a16:creationId xmlns:a16="http://schemas.microsoft.com/office/drawing/2014/main" id="{85214B25-F23D-829E-107E-F2F2419B1BF3}"/>
              </a:ext>
            </a:extLst>
          </p:cNvPr>
          <p:cNvSpPr txBox="1"/>
          <p:nvPr/>
        </p:nvSpPr>
        <p:spPr>
          <a:xfrm>
            <a:off x="9842500" y="2654300"/>
            <a:ext cx="1460500" cy="9525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2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在延迟响应
与批处理吞吐间
持续权衡</a:t>
            </a:r>
          </a:p>
        </p:txBody>
      </p:sp>
      <p:sp>
        <p:nvSpPr>
          <p:cNvPr id="96" name="SCX_part2_rect_77">
            <a:extLst>
              <a:ext uri="{FF2B5EF4-FFF2-40B4-BE49-F238E27FC236}">
                <a16:creationId xmlns:a16="http://schemas.microsoft.com/office/drawing/2014/main" id="{D4A9EC92-0894-4CC8-6E9F-F55A994D6E81}"/>
              </a:ext>
            </a:extLst>
          </p:cNvPr>
          <p:cNvSpPr/>
          <p:nvPr/>
        </p:nvSpPr>
        <p:spPr>
          <a:xfrm>
            <a:off x="9842500" y="3733800"/>
            <a:ext cx="1460500" cy="342900"/>
          </a:xfrm>
          <a:prstGeom prst="roundRect">
            <a:avLst/>
          </a:prstGeom>
          <a:solidFill>
            <a:srgbClr val="FFFFFF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SCX_part2_text_78">
            <a:extLst>
              <a:ext uri="{FF2B5EF4-FFF2-40B4-BE49-F238E27FC236}">
                <a16:creationId xmlns:a16="http://schemas.microsoft.com/office/drawing/2014/main" id="{7C338148-CF2D-DD4E-9548-779A73EF5942}"/>
              </a:ext>
            </a:extLst>
          </p:cNvPr>
          <p:cNvSpPr txBox="1"/>
          <p:nvPr/>
        </p:nvSpPr>
        <p:spPr>
          <a:xfrm>
            <a:off x="9842500" y="3733800"/>
            <a:ext cx="1460500" cy="3429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95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统一选择下一类别</a:t>
            </a:r>
          </a:p>
        </p:txBody>
      </p:sp>
      <p:sp>
        <p:nvSpPr>
          <p:cNvPr id="98" name="SCX_part2_rect_79">
            <a:extLst>
              <a:ext uri="{FF2B5EF4-FFF2-40B4-BE49-F238E27FC236}">
                <a16:creationId xmlns:a16="http://schemas.microsoft.com/office/drawing/2014/main" id="{F16F384E-A4F9-3BB0-9957-66D9B21C3097}"/>
              </a:ext>
            </a:extLst>
          </p:cNvPr>
          <p:cNvSpPr/>
          <p:nvPr/>
        </p:nvSpPr>
        <p:spPr>
          <a:xfrm>
            <a:off x="698500" y="4737100"/>
            <a:ext cx="25400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SCX_part2_rect_80">
            <a:extLst>
              <a:ext uri="{FF2B5EF4-FFF2-40B4-BE49-F238E27FC236}">
                <a16:creationId xmlns:a16="http://schemas.microsoft.com/office/drawing/2014/main" id="{EA40259C-24B2-A2B8-B003-1198D04B9B56}"/>
              </a:ext>
            </a:extLst>
          </p:cNvPr>
          <p:cNvSpPr/>
          <p:nvPr/>
        </p:nvSpPr>
        <p:spPr>
          <a:xfrm>
            <a:off x="698500" y="4737100"/>
            <a:ext cx="76200" cy="1041400"/>
          </a:xfrm>
          <a:prstGeom prst="rect">
            <a:avLst/>
          </a:prstGeom>
          <a:solidFill>
            <a:srgbClr val="2757E0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2757E0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SCX_part2_text_81">
            <a:extLst>
              <a:ext uri="{FF2B5EF4-FFF2-40B4-BE49-F238E27FC236}">
                <a16:creationId xmlns:a16="http://schemas.microsoft.com/office/drawing/2014/main" id="{9A20F5E0-B036-A0F9-802A-5FE8B1CE24AA}"/>
              </a:ext>
            </a:extLst>
          </p:cNvPr>
          <p:cNvSpPr txBox="1"/>
          <p:nvPr/>
        </p:nvSpPr>
        <p:spPr>
          <a:xfrm>
            <a:off x="927100" y="4838700"/>
            <a:ext cx="2159000" cy="355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zh-CN" altLang="en-US" sz="14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单调度器多 </a:t>
            </a:r>
            <a:r>
              <a:rPr lang="en-US" altLang="zh-CN" sz="14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DSQ</a:t>
            </a:r>
            <a:endParaRPr lang="zh-CN" altLang="en-US" sz="1400" b="1">
              <a:solidFill>
                <a:srgbClr val="0F225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1" name="SCX_part2_text_82">
            <a:extLst>
              <a:ext uri="{FF2B5EF4-FFF2-40B4-BE49-F238E27FC236}">
                <a16:creationId xmlns:a16="http://schemas.microsoft.com/office/drawing/2014/main" id="{DF90CD6F-BCA4-F2BA-EA08-C3BD8D85AAE6}"/>
              </a:ext>
            </a:extLst>
          </p:cNvPr>
          <p:cNvSpPr txBox="1"/>
          <p:nvPr/>
        </p:nvSpPr>
        <p:spPr>
          <a:xfrm>
            <a:off x="927100" y="5207000"/>
            <a:ext cx="2159000" cy="4953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en-US" altLang="zh-CN" sz="11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LATENCY </a:t>
            </a:r>
            <a:r>
              <a:rPr lang="zh-CN" altLang="en-US" sz="11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11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BATCH </a:t>
            </a:r>
            <a:r>
              <a:rPr lang="zh-CN" altLang="en-US" sz="11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在同一调度器内使用不同策略，无需切换 </a:t>
            </a:r>
            <a:r>
              <a:rPr lang="en-US" altLang="zh-CN" sz="11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scx </a:t>
            </a:r>
            <a:r>
              <a:rPr lang="zh-CN" altLang="en-US" sz="11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调度器。</a:t>
            </a:r>
          </a:p>
        </p:txBody>
      </p:sp>
      <p:sp>
        <p:nvSpPr>
          <p:cNvPr id="102" name="SCX_part2_rect_83">
            <a:extLst>
              <a:ext uri="{FF2B5EF4-FFF2-40B4-BE49-F238E27FC236}">
                <a16:creationId xmlns:a16="http://schemas.microsoft.com/office/drawing/2014/main" id="{8AD15101-CBC4-4794-C45B-DFC92474D756}"/>
              </a:ext>
            </a:extLst>
          </p:cNvPr>
          <p:cNvSpPr/>
          <p:nvPr/>
        </p:nvSpPr>
        <p:spPr>
          <a:xfrm>
            <a:off x="3454400" y="4737100"/>
            <a:ext cx="25400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SCX_part2_rect_84">
            <a:extLst>
              <a:ext uri="{FF2B5EF4-FFF2-40B4-BE49-F238E27FC236}">
                <a16:creationId xmlns:a16="http://schemas.microsoft.com/office/drawing/2014/main" id="{E155320E-3D75-4B0C-6623-332F6C2EDF55}"/>
              </a:ext>
            </a:extLst>
          </p:cNvPr>
          <p:cNvSpPr/>
          <p:nvPr/>
        </p:nvSpPr>
        <p:spPr>
          <a:xfrm>
            <a:off x="3454400" y="4737100"/>
            <a:ext cx="76200" cy="1041400"/>
          </a:xfrm>
          <a:prstGeom prst="rect">
            <a:avLst/>
          </a:prstGeom>
          <a:solidFill>
            <a:srgbClr val="2757E0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2757E0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SCX_part2_text_85">
            <a:extLst>
              <a:ext uri="{FF2B5EF4-FFF2-40B4-BE49-F238E27FC236}">
                <a16:creationId xmlns:a16="http://schemas.microsoft.com/office/drawing/2014/main" id="{CDDD91A1-6942-E051-6C02-35C3D4091CBD}"/>
              </a:ext>
            </a:extLst>
          </p:cNvPr>
          <p:cNvSpPr txBox="1"/>
          <p:nvPr/>
        </p:nvSpPr>
        <p:spPr>
          <a:xfrm>
            <a:off x="3683000" y="4838700"/>
            <a:ext cx="2159000" cy="355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zh-CN" altLang="en-US" sz="14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冷热路径分离</a:t>
            </a:r>
          </a:p>
        </p:txBody>
      </p:sp>
      <p:sp>
        <p:nvSpPr>
          <p:cNvPr id="105" name="SCX_part2_text_86">
            <a:extLst>
              <a:ext uri="{FF2B5EF4-FFF2-40B4-BE49-F238E27FC236}">
                <a16:creationId xmlns:a16="http://schemas.microsoft.com/office/drawing/2014/main" id="{95310003-30DE-0BD6-669C-A4F267BE7B56}"/>
              </a:ext>
            </a:extLst>
          </p:cNvPr>
          <p:cNvSpPr txBox="1"/>
          <p:nvPr/>
        </p:nvSpPr>
        <p:spPr>
          <a:xfrm>
            <a:off x="3683000" y="5207000"/>
            <a:ext cx="2159000" cy="4953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zh-CN" altLang="en-US" sz="11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热路径只保留有界整数计算，规则学习和发布位于低频冷路径。</a:t>
            </a:r>
          </a:p>
        </p:txBody>
      </p:sp>
      <p:sp>
        <p:nvSpPr>
          <p:cNvPr id="106" name="SCX_part2_rect_87">
            <a:extLst>
              <a:ext uri="{FF2B5EF4-FFF2-40B4-BE49-F238E27FC236}">
                <a16:creationId xmlns:a16="http://schemas.microsoft.com/office/drawing/2014/main" id="{97E1D65B-0D91-2723-50AF-B9C59E471A55}"/>
              </a:ext>
            </a:extLst>
          </p:cNvPr>
          <p:cNvSpPr/>
          <p:nvPr/>
        </p:nvSpPr>
        <p:spPr>
          <a:xfrm>
            <a:off x="6210300" y="4737100"/>
            <a:ext cx="25400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SCX_part2_rect_88">
            <a:extLst>
              <a:ext uri="{FF2B5EF4-FFF2-40B4-BE49-F238E27FC236}">
                <a16:creationId xmlns:a16="http://schemas.microsoft.com/office/drawing/2014/main" id="{AE3127CA-5AF4-2291-7A99-524C6C70C05C}"/>
              </a:ext>
            </a:extLst>
          </p:cNvPr>
          <p:cNvSpPr/>
          <p:nvPr/>
        </p:nvSpPr>
        <p:spPr>
          <a:xfrm>
            <a:off x="6210300" y="4737100"/>
            <a:ext cx="76200" cy="1041400"/>
          </a:xfrm>
          <a:prstGeom prst="rect">
            <a:avLst/>
          </a:prstGeom>
          <a:solidFill>
            <a:srgbClr val="2757E0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2757E0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SCX_part2_text_89">
            <a:extLst>
              <a:ext uri="{FF2B5EF4-FFF2-40B4-BE49-F238E27FC236}">
                <a16:creationId xmlns:a16="http://schemas.microsoft.com/office/drawing/2014/main" id="{C113A0EB-D8C9-CC15-2AAD-9A6F7B4181DE}"/>
              </a:ext>
            </a:extLst>
          </p:cNvPr>
          <p:cNvSpPr txBox="1"/>
          <p:nvPr/>
        </p:nvSpPr>
        <p:spPr>
          <a:xfrm>
            <a:off x="6438900" y="4838700"/>
            <a:ext cx="2159000" cy="355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zh-CN" altLang="en-US" sz="14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统一内部建模</a:t>
            </a:r>
          </a:p>
        </p:txBody>
      </p:sp>
      <p:sp>
        <p:nvSpPr>
          <p:cNvPr id="109" name="SCX_part2_text_90">
            <a:extLst>
              <a:ext uri="{FF2B5EF4-FFF2-40B4-BE49-F238E27FC236}">
                <a16:creationId xmlns:a16="http://schemas.microsoft.com/office/drawing/2014/main" id="{0D6D4B63-D6C6-73D8-80F8-7DFD1BB2929A}"/>
              </a:ext>
            </a:extLst>
          </p:cNvPr>
          <p:cNvSpPr txBox="1"/>
          <p:nvPr/>
        </p:nvSpPr>
        <p:spPr>
          <a:xfrm>
            <a:off x="6438900" y="5207000"/>
            <a:ext cx="2159000" cy="4953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zh-CN" altLang="en-US" sz="11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所有类别共享 </a:t>
            </a:r>
            <a:r>
              <a:rPr lang="en-US" altLang="zh-CN" sz="11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vruntime </a:t>
            </a:r>
            <a:r>
              <a:rPr lang="zh-CN" altLang="en-US" sz="11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与统一仲裁模型，行为简洁且容易解释。</a:t>
            </a:r>
          </a:p>
        </p:txBody>
      </p:sp>
      <p:sp>
        <p:nvSpPr>
          <p:cNvPr id="110" name="SCX_part2_rect_91">
            <a:extLst>
              <a:ext uri="{FF2B5EF4-FFF2-40B4-BE49-F238E27FC236}">
                <a16:creationId xmlns:a16="http://schemas.microsoft.com/office/drawing/2014/main" id="{43249C1A-3EFF-94F4-28EB-DBD9C2F08B65}"/>
              </a:ext>
            </a:extLst>
          </p:cNvPr>
          <p:cNvSpPr/>
          <p:nvPr/>
        </p:nvSpPr>
        <p:spPr>
          <a:xfrm>
            <a:off x="8966200" y="4737100"/>
            <a:ext cx="25273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SCX_part2_rect_92">
            <a:extLst>
              <a:ext uri="{FF2B5EF4-FFF2-40B4-BE49-F238E27FC236}">
                <a16:creationId xmlns:a16="http://schemas.microsoft.com/office/drawing/2014/main" id="{06BFFFAB-07F4-2324-2B51-1FAC7394F0D5}"/>
              </a:ext>
            </a:extLst>
          </p:cNvPr>
          <p:cNvSpPr/>
          <p:nvPr/>
        </p:nvSpPr>
        <p:spPr>
          <a:xfrm>
            <a:off x="8966200" y="4737100"/>
            <a:ext cx="76200" cy="1041400"/>
          </a:xfrm>
          <a:prstGeom prst="rect">
            <a:avLst/>
          </a:prstGeom>
          <a:solidFill>
            <a:srgbClr val="2757E0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2757E0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SCX_part2_text_93">
            <a:extLst>
              <a:ext uri="{FF2B5EF4-FFF2-40B4-BE49-F238E27FC236}">
                <a16:creationId xmlns:a16="http://schemas.microsoft.com/office/drawing/2014/main" id="{03BF4A87-4B92-2571-0AE1-56EFA0FE6090}"/>
              </a:ext>
            </a:extLst>
          </p:cNvPr>
          <p:cNvSpPr txBox="1"/>
          <p:nvPr/>
        </p:nvSpPr>
        <p:spPr>
          <a:xfrm>
            <a:off x="9194800" y="4838700"/>
            <a:ext cx="2146300" cy="355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zh-CN" altLang="en-US" sz="14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动态规则</a:t>
            </a:r>
          </a:p>
        </p:txBody>
      </p:sp>
      <p:sp>
        <p:nvSpPr>
          <p:cNvPr id="113" name="SCX_part2_text_94">
            <a:extLst>
              <a:ext uri="{FF2B5EF4-FFF2-40B4-BE49-F238E27FC236}">
                <a16:creationId xmlns:a16="http://schemas.microsoft.com/office/drawing/2014/main" id="{1815565A-D22E-E133-78B4-91A30090F5EA}"/>
              </a:ext>
            </a:extLst>
          </p:cNvPr>
          <p:cNvSpPr txBox="1"/>
          <p:nvPr/>
        </p:nvSpPr>
        <p:spPr>
          <a:xfrm>
            <a:off x="9194800" y="5207000"/>
            <a:ext cx="2146300" cy="4953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zh-CN" altLang="en-US" sz="11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冷路径学习分类规则，调度器以单写者方式安全发布。</a:t>
            </a:r>
          </a:p>
        </p:txBody>
      </p:sp>
    </p:spTree>
    <p:extLst>
      <p:ext uri="{BB962C8B-B14F-4D97-AF65-F5344CB8AC3E}">
        <p14:creationId xmlns:p14="http://schemas.microsoft.com/office/powerpoint/2010/main" val="3162110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55" y="522605"/>
            <a:ext cx="7624445" cy="491490"/>
          </a:xfrm>
        </p:spPr>
        <p:txBody>
          <a:bodyPr/>
          <a:lstStyle/>
          <a:p>
            <a:r>
              <a:rPr lang="en-US" altLang="zh-CN"/>
              <a:t>2.3  bench</a:t>
            </a:r>
            <a:r>
              <a:rPr lang="zh-CN" altLang="en-US"/>
              <a:t>：可复现实验证据框架</a:t>
            </a:r>
          </a:p>
        </p:txBody>
      </p:sp>
      <p:sp>
        <p:nvSpPr>
          <p:cNvPr id="2" name="SCX_bench_text_1">
            <a:extLst>
              <a:ext uri="{FF2B5EF4-FFF2-40B4-BE49-F238E27FC236}">
                <a16:creationId xmlns:a16="http://schemas.microsoft.com/office/drawing/2014/main" id="{0122504D-71C3-2C02-DF40-C108B3498EA5}"/>
              </a:ext>
            </a:extLst>
          </p:cNvPr>
          <p:cNvSpPr txBox="1"/>
          <p:nvPr/>
        </p:nvSpPr>
        <p:spPr>
          <a:xfrm>
            <a:off x="698500" y="1181100"/>
            <a:ext cx="10795000" cy="3810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en-US" altLang="zh-CN" sz="16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VM </a:t>
            </a:r>
            <a:r>
              <a:rPr lang="zh-CN" altLang="en-US" sz="16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隔离保证可复现，统一指标契约支持用例扩展、统计分析和结果展示。</a:t>
            </a:r>
          </a:p>
        </p:txBody>
      </p:sp>
      <p:sp>
        <p:nvSpPr>
          <p:cNvPr id="28" name="SCX_bench_rect_2">
            <a:extLst>
              <a:ext uri="{FF2B5EF4-FFF2-40B4-BE49-F238E27FC236}">
                <a16:creationId xmlns:a16="http://schemas.microsoft.com/office/drawing/2014/main" id="{211CAFBA-7664-A02D-7194-676AE30FA142}"/>
              </a:ext>
            </a:extLst>
          </p:cNvPr>
          <p:cNvSpPr/>
          <p:nvPr/>
        </p:nvSpPr>
        <p:spPr>
          <a:xfrm>
            <a:off x="698500" y="1739900"/>
            <a:ext cx="1841500" cy="1041400"/>
          </a:xfrm>
          <a:prstGeom prst="roundRect">
            <a:avLst/>
          </a:prstGeom>
          <a:solidFill>
            <a:srgbClr val="EBF1FC"/>
          </a:solidFill>
          <a:ln w="15240">
            <a:solidFill>
              <a:srgbClr val="2757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SCX_bench_text_3">
            <a:extLst>
              <a:ext uri="{FF2B5EF4-FFF2-40B4-BE49-F238E27FC236}">
                <a16:creationId xmlns:a16="http://schemas.microsoft.com/office/drawing/2014/main" id="{F92AD3AD-53F5-ABFE-EF44-47C4580ADE98}"/>
              </a:ext>
            </a:extLst>
          </p:cNvPr>
          <p:cNvSpPr txBox="1"/>
          <p:nvPr/>
        </p:nvSpPr>
        <p:spPr>
          <a:xfrm>
            <a:off x="850900" y="1866900"/>
            <a:ext cx="1536700" cy="3810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6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Host </a:t>
            </a:r>
            <a:r>
              <a:rPr lang="zh-CN" altLang="en-US" sz="16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编排</a:t>
            </a:r>
          </a:p>
        </p:txBody>
      </p:sp>
      <p:sp>
        <p:nvSpPr>
          <p:cNvPr id="30" name="SCX_bench_text_4">
            <a:extLst>
              <a:ext uri="{FF2B5EF4-FFF2-40B4-BE49-F238E27FC236}">
                <a16:creationId xmlns:a16="http://schemas.microsoft.com/office/drawing/2014/main" id="{71E8BE90-1773-897F-DB95-72A21884D55A}"/>
              </a:ext>
            </a:extLst>
          </p:cNvPr>
          <p:cNvSpPr txBox="1"/>
          <p:nvPr/>
        </p:nvSpPr>
        <p:spPr>
          <a:xfrm>
            <a:off x="850900" y="2260600"/>
            <a:ext cx="1536700" cy="4318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0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配置与资源调度</a:t>
            </a:r>
          </a:p>
        </p:txBody>
      </p:sp>
      <p:sp>
        <p:nvSpPr>
          <p:cNvPr id="31" name="SCX_bench_rect_5">
            <a:extLst>
              <a:ext uri="{FF2B5EF4-FFF2-40B4-BE49-F238E27FC236}">
                <a16:creationId xmlns:a16="http://schemas.microsoft.com/office/drawing/2014/main" id="{F271E1DF-3CD9-7C20-1206-9434F30E9B0D}"/>
              </a:ext>
            </a:extLst>
          </p:cNvPr>
          <p:cNvSpPr/>
          <p:nvPr/>
        </p:nvSpPr>
        <p:spPr>
          <a:xfrm>
            <a:off x="2667000" y="1739900"/>
            <a:ext cx="8826500" cy="10414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SCX_bench_line_6">
            <a:extLst>
              <a:ext uri="{FF2B5EF4-FFF2-40B4-BE49-F238E27FC236}">
                <a16:creationId xmlns:a16="http://schemas.microsoft.com/office/drawing/2014/main" id="{9A378B82-2ED2-6BF3-9273-057DBC24C94D}"/>
              </a:ext>
            </a:extLst>
          </p:cNvPr>
          <p:cNvCxnSpPr/>
          <p:nvPr/>
        </p:nvCxnSpPr>
        <p:spPr>
          <a:xfrm>
            <a:off x="4635500" y="2260600"/>
            <a:ext cx="215900" cy="0"/>
          </a:xfrm>
          <a:prstGeom prst="line">
            <a:avLst/>
          </a:prstGeom>
          <a:ln w="19050">
            <a:solidFill>
              <a:srgbClr val="C2CDE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CX_bench_line_7">
            <a:extLst>
              <a:ext uri="{FF2B5EF4-FFF2-40B4-BE49-F238E27FC236}">
                <a16:creationId xmlns:a16="http://schemas.microsoft.com/office/drawing/2014/main" id="{043EC102-5DED-854B-2682-C180D629FA80}"/>
              </a:ext>
            </a:extLst>
          </p:cNvPr>
          <p:cNvCxnSpPr/>
          <p:nvPr/>
        </p:nvCxnSpPr>
        <p:spPr>
          <a:xfrm>
            <a:off x="6731000" y="2260600"/>
            <a:ext cx="215900" cy="0"/>
          </a:xfrm>
          <a:prstGeom prst="line">
            <a:avLst/>
          </a:prstGeom>
          <a:ln w="19050">
            <a:solidFill>
              <a:srgbClr val="C2CDE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CX_bench_line_8">
            <a:extLst>
              <a:ext uri="{FF2B5EF4-FFF2-40B4-BE49-F238E27FC236}">
                <a16:creationId xmlns:a16="http://schemas.microsoft.com/office/drawing/2014/main" id="{35A2AB15-86C2-368E-504A-87D92B9B9CD3}"/>
              </a:ext>
            </a:extLst>
          </p:cNvPr>
          <p:cNvCxnSpPr/>
          <p:nvPr/>
        </p:nvCxnSpPr>
        <p:spPr>
          <a:xfrm>
            <a:off x="8826500" y="2260600"/>
            <a:ext cx="215900" cy="0"/>
          </a:xfrm>
          <a:prstGeom prst="line">
            <a:avLst/>
          </a:prstGeom>
          <a:ln w="19050">
            <a:solidFill>
              <a:srgbClr val="C2CDE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SCX_bench_rect_9">
            <a:extLst>
              <a:ext uri="{FF2B5EF4-FFF2-40B4-BE49-F238E27FC236}">
                <a16:creationId xmlns:a16="http://schemas.microsoft.com/office/drawing/2014/main" id="{358FF8B0-F4F5-8133-C43A-DC48EF27E8DE}"/>
              </a:ext>
            </a:extLst>
          </p:cNvPr>
          <p:cNvSpPr/>
          <p:nvPr/>
        </p:nvSpPr>
        <p:spPr>
          <a:xfrm>
            <a:off x="2857500" y="1917700"/>
            <a:ext cx="1778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SCX_bench_text_10">
            <a:extLst>
              <a:ext uri="{FF2B5EF4-FFF2-40B4-BE49-F238E27FC236}">
                <a16:creationId xmlns:a16="http://schemas.microsoft.com/office/drawing/2014/main" id="{F8739625-4FE7-3666-0519-44908AEA9FBB}"/>
              </a:ext>
            </a:extLst>
          </p:cNvPr>
          <p:cNvSpPr txBox="1"/>
          <p:nvPr/>
        </p:nvSpPr>
        <p:spPr>
          <a:xfrm>
            <a:off x="2933700" y="1968500"/>
            <a:ext cx="1625600" cy="3175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150" b="1">
                <a:solidFill>
                  <a:srgbClr val="1E2C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严格加载配置</a:t>
            </a:r>
          </a:p>
        </p:txBody>
      </p:sp>
      <p:sp>
        <p:nvSpPr>
          <p:cNvPr id="37" name="SCX_bench_text_11">
            <a:extLst>
              <a:ext uri="{FF2B5EF4-FFF2-40B4-BE49-F238E27FC236}">
                <a16:creationId xmlns:a16="http://schemas.microsoft.com/office/drawing/2014/main" id="{94642F2A-F8ED-104B-284E-5B3D884B6687}"/>
              </a:ext>
            </a:extLst>
          </p:cNvPr>
          <p:cNvSpPr txBox="1"/>
          <p:nvPr/>
        </p:nvSpPr>
        <p:spPr>
          <a:xfrm>
            <a:off x="2933700" y="2286000"/>
            <a:ext cx="1625600" cy="2667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9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environment / benches / plan</a:t>
            </a:r>
            <a:endParaRPr lang="zh-CN" altLang="en-US" sz="950">
              <a:solidFill>
                <a:srgbClr val="5B69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SCX_bench_rect_12">
            <a:extLst>
              <a:ext uri="{FF2B5EF4-FFF2-40B4-BE49-F238E27FC236}">
                <a16:creationId xmlns:a16="http://schemas.microsoft.com/office/drawing/2014/main" id="{AD617DBA-16AA-0019-DEC5-E8465BF7AA08}"/>
              </a:ext>
            </a:extLst>
          </p:cNvPr>
          <p:cNvSpPr/>
          <p:nvPr/>
        </p:nvSpPr>
        <p:spPr>
          <a:xfrm>
            <a:off x="4953000" y="1917700"/>
            <a:ext cx="1778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SCX_bench_text_13">
            <a:extLst>
              <a:ext uri="{FF2B5EF4-FFF2-40B4-BE49-F238E27FC236}">
                <a16:creationId xmlns:a16="http://schemas.microsoft.com/office/drawing/2014/main" id="{FA7001B5-A0C3-A8D2-6445-E71B007FDB31}"/>
              </a:ext>
            </a:extLst>
          </p:cNvPr>
          <p:cNvSpPr txBox="1"/>
          <p:nvPr/>
        </p:nvSpPr>
        <p:spPr>
          <a:xfrm>
            <a:off x="5029200" y="1968500"/>
            <a:ext cx="1625600" cy="3175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150" b="1">
                <a:solidFill>
                  <a:srgbClr val="1E2C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构造 </a:t>
            </a:r>
            <a:r>
              <a:rPr lang="en-US" altLang="zh-CN" sz="1150" b="1">
                <a:solidFill>
                  <a:srgbClr val="1E2C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comparison pair</a:t>
            </a:r>
            <a:endParaRPr lang="zh-CN" altLang="en-US" sz="1150" b="1">
              <a:solidFill>
                <a:srgbClr val="1E2C4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SCX_bench_text_14">
            <a:extLst>
              <a:ext uri="{FF2B5EF4-FFF2-40B4-BE49-F238E27FC236}">
                <a16:creationId xmlns:a16="http://schemas.microsoft.com/office/drawing/2014/main" id="{9E6B78CC-3777-4013-DE59-DC31F9D69DAA}"/>
              </a:ext>
            </a:extLst>
          </p:cNvPr>
          <p:cNvSpPr txBox="1"/>
          <p:nvPr/>
        </p:nvSpPr>
        <p:spPr>
          <a:xfrm>
            <a:off x="5029200" y="2286000"/>
            <a:ext cx="1625600" cy="2667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9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baseline ↔ candidate</a:t>
            </a:r>
            <a:endParaRPr lang="zh-CN" altLang="en-US" sz="950">
              <a:solidFill>
                <a:srgbClr val="5B69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1" name="SCX_bench_rect_15">
            <a:extLst>
              <a:ext uri="{FF2B5EF4-FFF2-40B4-BE49-F238E27FC236}">
                <a16:creationId xmlns:a16="http://schemas.microsoft.com/office/drawing/2014/main" id="{FF1678D9-76BF-1CEE-CED6-C85CBA0E5ADD}"/>
              </a:ext>
            </a:extLst>
          </p:cNvPr>
          <p:cNvSpPr/>
          <p:nvPr/>
        </p:nvSpPr>
        <p:spPr>
          <a:xfrm>
            <a:off x="7048500" y="1917700"/>
            <a:ext cx="1778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SCX_bench_text_16">
            <a:extLst>
              <a:ext uri="{FF2B5EF4-FFF2-40B4-BE49-F238E27FC236}">
                <a16:creationId xmlns:a16="http://schemas.microsoft.com/office/drawing/2014/main" id="{F1E89792-0AF9-2175-C593-6F8A05501C17}"/>
              </a:ext>
            </a:extLst>
          </p:cNvPr>
          <p:cNvSpPr txBox="1"/>
          <p:nvPr/>
        </p:nvSpPr>
        <p:spPr>
          <a:xfrm>
            <a:off x="7124700" y="1968500"/>
            <a:ext cx="1625600" cy="3175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150" b="1">
                <a:solidFill>
                  <a:srgbClr val="1E2C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编排顺序与 </a:t>
            </a:r>
            <a:r>
              <a:rPr lang="en-US" altLang="zh-CN" sz="1150" b="1">
                <a:solidFill>
                  <a:srgbClr val="1E2C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CPU</a:t>
            </a:r>
            <a:endParaRPr lang="zh-CN" altLang="en-US" sz="1150" b="1">
              <a:solidFill>
                <a:srgbClr val="1E2C4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SCX_bench_text_17">
            <a:extLst>
              <a:ext uri="{FF2B5EF4-FFF2-40B4-BE49-F238E27FC236}">
                <a16:creationId xmlns:a16="http://schemas.microsoft.com/office/drawing/2014/main" id="{FCFA818B-7438-9945-C0A2-F650948CA738}"/>
              </a:ext>
            </a:extLst>
          </p:cNvPr>
          <p:cNvSpPr txBox="1"/>
          <p:nvPr/>
        </p:nvSpPr>
        <p:spPr>
          <a:xfrm>
            <a:off x="7124700" y="2286000"/>
            <a:ext cx="1625600" cy="2667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9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alternating · placement</a:t>
            </a:r>
            <a:endParaRPr lang="zh-CN" altLang="en-US" sz="950">
              <a:solidFill>
                <a:srgbClr val="5B69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SCX_bench_rect_18">
            <a:extLst>
              <a:ext uri="{FF2B5EF4-FFF2-40B4-BE49-F238E27FC236}">
                <a16:creationId xmlns:a16="http://schemas.microsoft.com/office/drawing/2014/main" id="{3E5B01B4-3250-EE82-A4BF-775149EAC036}"/>
              </a:ext>
            </a:extLst>
          </p:cNvPr>
          <p:cNvSpPr/>
          <p:nvPr/>
        </p:nvSpPr>
        <p:spPr>
          <a:xfrm>
            <a:off x="9144000" y="1917700"/>
            <a:ext cx="1778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SCX_bench_text_19">
            <a:extLst>
              <a:ext uri="{FF2B5EF4-FFF2-40B4-BE49-F238E27FC236}">
                <a16:creationId xmlns:a16="http://schemas.microsoft.com/office/drawing/2014/main" id="{AD94F821-F200-6D24-2984-F5DA085C9918}"/>
              </a:ext>
            </a:extLst>
          </p:cNvPr>
          <p:cNvSpPr txBox="1"/>
          <p:nvPr/>
        </p:nvSpPr>
        <p:spPr>
          <a:xfrm>
            <a:off x="9220200" y="1968500"/>
            <a:ext cx="1625600" cy="3175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150" b="1">
                <a:solidFill>
                  <a:srgbClr val="1E2C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创建独立 </a:t>
            </a:r>
            <a:r>
              <a:rPr lang="en-US" altLang="zh-CN" sz="1150" b="1">
                <a:solidFill>
                  <a:srgbClr val="1E2C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VM</a:t>
            </a:r>
            <a:endParaRPr lang="zh-CN" altLang="en-US" sz="1150" b="1">
              <a:solidFill>
                <a:srgbClr val="1E2C4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SCX_bench_text_20">
            <a:extLst>
              <a:ext uri="{FF2B5EF4-FFF2-40B4-BE49-F238E27FC236}">
                <a16:creationId xmlns:a16="http://schemas.microsoft.com/office/drawing/2014/main" id="{F6C05C37-0EAB-1DA7-8D90-CC55F8478139}"/>
              </a:ext>
            </a:extLst>
          </p:cNvPr>
          <p:cNvSpPr txBox="1"/>
          <p:nvPr/>
        </p:nvSpPr>
        <p:spPr>
          <a:xfrm>
            <a:off x="9220200" y="2286000"/>
            <a:ext cx="1625600" cy="2667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9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qcow2 overlay · direct boot</a:t>
            </a:r>
            <a:endParaRPr lang="zh-CN" altLang="en-US" sz="950">
              <a:solidFill>
                <a:srgbClr val="5B69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SCX_bench_rect_21">
            <a:extLst>
              <a:ext uri="{FF2B5EF4-FFF2-40B4-BE49-F238E27FC236}">
                <a16:creationId xmlns:a16="http://schemas.microsoft.com/office/drawing/2014/main" id="{4C3C1276-F9E4-6694-76A5-50DD7F680361}"/>
              </a:ext>
            </a:extLst>
          </p:cNvPr>
          <p:cNvSpPr/>
          <p:nvPr/>
        </p:nvSpPr>
        <p:spPr>
          <a:xfrm>
            <a:off x="698500" y="2959100"/>
            <a:ext cx="1841500" cy="1371600"/>
          </a:xfrm>
          <a:prstGeom prst="roundRect">
            <a:avLst/>
          </a:prstGeom>
          <a:solidFill>
            <a:srgbClr val="E8F8FB"/>
          </a:solidFill>
          <a:ln w="15240">
            <a:solidFill>
              <a:srgbClr val="2757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SCX_bench_text_22">
            <a:extLst>
              <a:ext uri="{FF2B5EF4-FFF2-40B4-BE49-F238E27FC236}">
                <a16:creationId xmlns:a16="http://schemas.microsoft.com/office/drawing/2014/main" id="{A792CE2C-C373-6598-CB2B-D1BBE31E39A5}"/>
              </a:ext>
            </a:extLst>
          </p:cNvPr>
          <p:cNvSpPr txBox="1"/>
          <p:nvPr/>
        </p:nvSpPr>
        <p:spPr>
          <a:xfrm>
            <a:off x="850900" y="3086100"/>
            <a:ext cx="1536700" cy="3810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6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Guest </a:t>
            </a:r>
            <a:r>
              <a:rPr lang="zh-CN" altLang="en-US" sz="16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执行</a:t>
            </a:r>
          </a:p>
        </p:txBody>
      </p:sp>
      <p:sp>
        <p:nvSpPr>
          <p:cNvPr id="49" name="SCX_bench_text_23">
            <a:extLst>
              <a:ext uri="{FF2B5EF4-FFF2-40B4-BE49-F238E27FC236}">
                <a16:creationId xmlns:a16="http://schemas.microsoft.com/office/drawing/2014/main" id="{6CE0FA07-5F80-3F43-0E19-E5735D3B8D2C}"/>
              </a:ext>
            </a:extLst>
          </p:cNvPr>
          <p:cNvSpPr txBox="1"/>
          <p:nvPr/>
        </p:nvSpPr>
        <p:spPr>
          <a:xfrm>
            <a:off x="850900" y="3479800"/>
            <a:ext cx="1536700" cy="7620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0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静态计划与阶段门禁</a:t>
            </a:r>
          </a:p>
        </p:txBody>
      </p:sp>
      <p:sp>
        <p:nvSpPr>
          <p:cNvPr id="50" name="SCX_bench_rect_24">
            <a:extLst>
              <a:ext uri="{FF2B5EF4-FFF2-40B4-BE49-F238E27FC236}">
                <a16:creationId xmlns:a16="http://schemas.microsoft.com/office/drawing/2014/main" id="{80EB24C4-44BF-E524-8CDF-F3F5388F3490}"/>
              </a:ext>
            </a:extLst>
          </p:cNvPr>
          <p:cNvSpPr/>
          <p:nvPr/>
        </p:nvSpPr>
        <p:spPr>
          <a:xfrm>
            <a:off x="2667000" y="2959100"/>
            <a:ext cx="88265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" name="SCX_bench_line_25">
            <a:extLst>
              <a:ext uri="{FF2B5EF4-FFF2-40B4-BE49-F238E27FC236}">
                <a16:creationId xmlns:a16="http://schemas.microsoft.com/office/drawing/2014/main" id="{560FE903-2652-E72C-A305-0BF75283FD5D}"/>
              </a:ext>
            </a:extLst>
          </p:cNvPr>
          <p:cNvCxnSpPr/>
          <p:nvPr/>
        </p:nvCxnSpPr>
        <p:spPr>
          <a:xfrm>
            <a:off x="4343400" y="3644900"/>
            <a:ext cx="101600" cy="0"/>
          </a:xfrm>
          <a:prstGeom prst="line">
            <a:avLst/>
          </a:prstGeom>
          <a:ln w="19050">
            <a:solidFill>
              <a:srgbClr val="C2CDE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CX_bench_line_26">
            <a:extLst>
              <a:ext uri="{FF2B5EF4-FFF2-40B4-BE49-F238E27FC236}">
                <a16:creationId xmlns:a16="http://schemas.microsoft.com/office/drawing/2014/main" id="{D8B28EA1-4E47-F557-E21F-77F9B6074ED3}"/>
              </a:ext>
            </a:extLst>
          </p:cNvPr>
          <p:cNvCxnSpPr/>
          <p:nvPr/>
        </p:nvCxnSpPr>
        <p:spPr>
          <a:xfrm>
            <a:off x="6045200" y="3644900"/>
            <a:ext cx="101600" cy="0"/>
          </a:xfrm>
          <a:prstGeom prst="line">
            <a:avLst/>
          </a:prstGeom>
          <a:ln w="19050">
            <a:solidFill>
              <a:srgbClr val="C2CDE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CX_bench_line_27">
            <a:extLst>
              <a:ext uri="{FF2B5EF4-FFF2-40B4-BE49-F238E27FC236}">
                <a16:creationId xmlns:a16="http://schemas.microsoft.com/office/drawing/2014/main" id="{A641CABA-61A0-E146-2F92-39815E5E2CF1}"/>
              </a:ext>
            </a:extLst>
          </p:cNvPr>
          <p:cNvCxnSpPr/>
          <p:nvPr/>
        </p:nvCxnSpPr>
        <p:spPr>
          <a:xfrm>
            <a:off x="7747000" y="3644900"/>
            <a:ext cx="101600" cy="0"/>
          </a:xfrm>
          <a:prstGeom prst="line">
            <a:avLst/>
          </a:prstGeom>
          <a:ln w="19050">
            <a:solidFill>
              <a:srgbClr val="C2CDE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CX_bench_line_28">
            <a:extLst>
              <a:ext uri="{FF2B5EF4-FFF2-40B4-BE49-F238E27FC236}">
                <a16:creationId xmlns:a16="http://schemas.microsoft.com/office/drawing/2014/main" id="{48AC0CB8-25C9-16D8-4345-4234C8CB6D86}"/>
              </a:ext>
            </a:extLst>
          </p:cNvPr>
          <p:cNvCxnSpPr/>
          <p:nvPr/>
        </p:nvCxnSpPr>
        <p:spPr>
          <a:xfrm>
            <a:off x="9448800" y="3644900"/>
            <a:ext cx="101600" cy="0"/>
          </a:xfrm>
          <a:prstGeom prst="line">
            <a:avLst/>
          </a:prstGeom>
          <a:ln w="19050">
            <a:solidFill>
              <a:srgbClr val="C2CDE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SCX_bench_rect_29">
            <a:extLst>
              <a:ext uri="{FF2B5EF4-FFF2-40B4-BE49-F238E27FC236}">
                <a16:creationId xmlns:a16="http://schemas.microsoft.com/office/drawing/2014/main" id="{7D674BA0-5602-2C3A-14C8-9809965B8295}"/>
              </a:ext>
            </a:extLst>
          </p:cNvPr>
          <p:cNvSpPr/>
          <p:nvPr/>
        </p:nvSpPr>
        <p:spPr>
          <a:xfrm>
            <a:off x="2844800" y="3187700"/>
            <a:ext cx="1498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SCX_bench_text_30">
            <a:extLst>
              <a:ext uri="{FF2B5EF4-FFF2-40B4-BE49-F238E27FC236}">
                <a16:creationId xmlns:a16="http://schemas.microsoft.com/office/drawing/2014/main" id="{29937C62-76B4-4C52-5042-DCBB148BD630}"/>
              </a:ext>
            </a:extLst>
          </p:cNvPr>
          <p:cNvSpPr txBox="1"/>
          <p:nvPr/>
        </p:nvSpPr>
        <p:spPr>
          <a:xfrm>
            <a:off x="2921000" y="3238500"/>
            <a:ext cx="1346200" cy="3175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150" b="1">
                <a:solidFill>
                  <a:srgbClr val="1E2C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启动调度器</a:t>
            </a:r>
          </a:p>
        </p:txBody>
      </p:sp>
      <p:sp>
        <p:nvSpPr>
          <p:cNvPr id="57" name="SCX_bench_text_31">
            <a:extLst>
              <a:ext uri="{FF2B5EF4-FFF2-40B4-BE49-F238E27FC236}">
                <a16:creationId xmlns:a16="http://schemas.microsoft.com/office/drawing/2014/main" id="{BB2DA093-0F97-895F-A2EB-BD489AF87466}"/>
              </a:ext>
            </a:extLst>
          </p:cNvPr>
          <p:cNvSpPr txBox="1"/>
          <p:nvPr/>
        </p:nvSpPr>
        <p:spPr>
          <a:xfrm>
            <a:off x="2921000" y="3556000"/>
            <a:ext cx="1346200" cy="4953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9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scheduler settle</a:t>
            </a:r>
            <a:endParaRPr lang="zh-CN" altLang="en-US" sz="950">
              <a:solidFill>
                <a:srgbClr val="5B69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8" name="SCX_bench_rect_32">
            <a:extLst>
              <a:ext uri="{FF2B5EF4-FFF2-40B4-BE49-F238E27FC236}">
                <a16:creationId xmlns:a16="http://schemas.microsoft.com/office/drawing/2014/main" id="{2AC92B02-D098-4B64-2241-EDFD4C045BEF}"/>
              </a:ext>
            </a:extLst>
          </p:cNvPr>
          <p:cNvSpPr/>
          <p:nvPr/>
        </p:nvSpPr>
        <p:spPr>
          <a:xfrm>
            <a:off x="4546600" y="3187700"/>
            <a:ext cx="1498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SCX_bench_text_33">
            <a:extLst>
              <a:ext uri="{FF2B5EF4-FFF2-40B4-BE49-F238E27FC236}">
                <a16:creationId xmlns:a16="http://schemas.microsoft.com/office/drawing/2014/main" id="{F475CA31-CB45-5522-5E2C-5461673DAA14}"/>
              </a:ext>
            </a:extLst>
          </p:cNvPr>
          <p:cNvSpPr txBox="1"/>
          <p:nvPr/>
        </p:nvSpPr>
        <p:spPr>
          <a:xfrm>
            <a:off x="4622800" y="3238500"/>
            <a:ext cx="1346200" cy="3175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150" b="1">
                <a:solidFill>
                  <a:srgbClr val="1E2C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执行 </a:t>
            </a:r>
            <a:r>
              <a:rPr lang="en-US" altLang="zh-CN" sz="1150" b="1">
                <a:solidFill>
                  <a:srgbClr val="1E2C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treatment</a:t>
            </a:r>
            <a:endParaRPr lang="zh-CN" altLang="en-US" sz="1150" b="1">
              <a:solidFill>
                <a:srgbClr val="1E2C4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0" name="SCX_bench_text_34">
            <a:extLst>
              <a:ext uri="{FF2B5EF4-FFF2-40B4-BE49-F238E27FC236}">
                <a16:creationId xmlns:a16="http://schemas.microsoft.com/office/drawing/2014/main" id="{3B6C020C-D615-C548-EA4C-E399A3FDBB78}"/>
              </a:ext>
            </a:extLst>
          </p:cNvPr>
          <p:cNvSpPr txBox="1"/>
          <p:nvPr/>
        </p:nvSpPr>
        <p:spPr>
          <a:xfrm>
            <a:off x="4622800" y="3556000"/>
            <a:ext cx="1346200" cy="4953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9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Outcome V2 </a:t>
            </a:r>
            <a:r>
              <a:rPr lang="zh-CN" altLang="en-US" sz="9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门禁</a:t>
            </a:r>
          </a:p>
        </p:txBody>
      </p:sp>
      <p:sp>
        <p:nvSpPr>
          <p:cNvPr id="61" name="SCX_bench_rect_35">
            <a:extLst>
              <a:ext uri="{FF2B5EF4-FFF2-40B4-BE49-F238E27FC236}">
                <a16:creationId xmlns:a16="http://schemas.microsoft.com/office/drawing/2014/main" id="{A541A938-17DF-A8E3-0BB1-25806BE00081}"/>
              </a:ext>
            </a:extLst>
          </p:cNvPr>
          <p:cNvSpPr/>
          <p:nvPr/>
        </p:nvSpPr>
        <p:spPr>
          <a:xfrm>
            <a:off x="6248400" y="3187700"/>
            <a:ext cx="1498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SCX_bench_text_36">
            <a:extLst>
              <a:ext uri="{FF2B5EF4-FFF2-40B4-BE49-F238E27FC236}">
                <a16:creationId xmlns:a16="http://schemas.microsoft.com/office/drawing/2014/main" id="{547800DF-6AC2-9EB9-5681-785D6F64DAFC}"/>
              </a:ext>
            </a:extLst>
          </p:cNvPr>
          <p:cNvSpPr txBox="1"/>
          <p:nvPr/>
        </p:nvSpPr>
        <p:spPr>
          <a:xfrm>
            <a:off x="6324600" y="3238500"/>
            <a:ext cx="1346200" cy="3175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150" b="1">
                <a:solidFill>
                  <a:srgbClr val="1E2C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warmup / settle</a:t>
            </a:r>
            <a:endParaRPr lang="zh-CN" altLang="en-US" sz="1150" b="1">
              <a:solidFill>
                <a:srgbClr val="1E2C4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3" name="SCX_bench_text_37">
            <a:extLst>
              <a:ext uri="{FF2B5EF4-FFF2-40B4-BE49-F238E27FC236}">
                <a16:creationId xmlns:a16="http://schemas.microsoft.com/office/drawing/2014/main" id="{E6E901B4-B8D4-1D3C-F314-78A50B7E47BC}"/>
              </a:ext>
            </a:extLst>
          </p:cNvPr>
          <p:cNvSpPr txBox="1"/>
          <p:nvPr/>
        </p:nvSpPr>
        <p:spPr>
          <a:xfrm>
            <a:off x="6324600" y="3556000"/>
            <a:ext cx="1346200" cy="4953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9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失败或泄漏即停止</a:t>
            </a:r>
          </a:p>
        </p:txBody>
      </p:sp>
      <p:sp>
        <p:nvSpPr>
          <p:cNvPr id="64" name="SCX_bench_rect_38">
            <a:extLst>
              <a:ext uri="{FF2B5EF4-FFF2-40B4-BE49-F238E27FC236}">
                <a16:creationId xmlns:a16="http://schemas.microsoft.com/office/drawing/2014/main" id="{031A1E21-8205-980A-22C9-914FA86EB41E}"/>
              </a:ext>
            </a:extLst>
          </p:cNvPr>
          <p:cNvSpPr/>
          <p:nvPr/>
        </p:nvSpPr>
        <p:spPr>
          <a:xfrm>
            <a:off x="7950200" y="3187700"/>
            <a:ext cx="1498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SCX_bench_text_39">
            <a:extLst>
              <a:ext uri="{FF2B5EF4-FFF2-40B4-BE49-F238E27FC236}">
                <a16:creationId xmlns:a16="http://schemas.microsoft.com/office/drawing/2014/main" id="{47B549DA-93B0-9005-D4B3-C9D05A7DC820}"/>
              </a:ext>
            </a:extLst>
          </p:cNvPr>
          <p:cNvSpPr txBox="1"/>
          <p:nvPr/>
        </p:nvSpPr>
        <p:spPr>
          <a:xfrm>
            <a:off x="8026400" y="3238500"/>
            <a:ext cx="1346200" cy="3175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150" b="1">
                <a:solidFill>
                  <a:srgbClr val="1E2C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正式 </a:t>
            </a:r>
            <a:r>
              <a:rPr lang="en-US" altLang="zh-CN" sz="1150" b="1">
                <a:solidFill>
                  <a:srgbClr val="1E2C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measurement</a:t>
            </a:r>
            <a:endParaRPr lang="zh-CN" altLang="en-US" sz="1150" b="1">
              <a:solidFill>
                <a:srgbClr val="1E2C4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6" name="SCX_bench_text_40">
            <a:extLst>
              <a:ext uri="{FF2B5EF4-FFF2-40B4-BE49-F238E27FC236}">
                <a16:creationId xmlns:a16="http://schemas.microsoft.com/office/drawing/2014/main" id="{6DF0E9D1-3F59-08FE-D3C2-79DEDEA23D04}"/>
              </a:ext>
            </a:extLst>
          </p:cNvPr>
          <p:cNvSpPr txBox="1"/>
          <p:nvPr/>
        </p:nvSpPr>
        <p:spPr>
          <a:xfrm>
            <a:off x="8026400" y="3556000"/>
            <a:ext cx="1346200" cy="4953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9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独立超时与进程组</a:t>
            </a:r>
          </a:p>
        </p:txBody>
      </p:sp>
      <p:sp>
        <p:nvSpPr>
          <p:cNvPr id="67" name="SCX_bench_rect_41">
            <a:extLst>
              <a:ext uri="{FF2B5EF4-FFF2-40B4-BE49-F238E27FC236}">
                <a16:creationId xmlns:a16="http://schemas.microsoft.com/office/drawing/2014/main" id="{B70D4EDB-2966-CFDF-C4F2-ADCA3FF25AB2}"/>
              </a:ext>
            </a:extLst>
          </p:cNvPr>
          <p:cNvSpPr/>
          <p:nvPr/>
        </p:nvSpPr>
        <p:spPr>
          <a:xfrm>
            <a:off x="9652000" y="3187700"/>
            <a:ext cx="1498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SCX_bench_text_42">
            <a:extLst>
              <a:ext uri="{FF2B5EF4-FFF2-40B4-BE49-F238E27FC236}">
                <a16:creationId xmlns:a16="http://schemas.microsoft.com/office/drawing/2014/main" id="{BEAB3484-13B1-8386-E8EB-FA630EAE5F31}"/>
              </a:ext>
            </a:extLst>
          </p:cNvPr>
          <p:cNvSpPr txBox="1"/>
          <p:nvPr/>
        </p:nvSpPr>
        <p:spPr>
          <a:xfrm>
            <a:off x="9728200" y="3238500"/>
            <a:ext cx="1346200" cy="3175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150" b="1">
                <a:solidFill>
                  <a:srgbClr val="1E2C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系统快照</a:t>
            </a:r>
          </a:p>
        </p:txBody>
      </p:sp>
      <p:sp>
        <p:nvSpPr>
          <p:cNvPr id="69" name="SCX_bench_text_43">
            <a:extLst>
              <a:ext uri="{FF2B5EF4-FFF2-40B4-BE49-F238E27FC236}">
                <a16:creationId xmlns:a16="http://schemas.microsoft.com/office/drawing/2014/main" id="{665B8C6B-53D0-0D92-B7EA-E90A58D7020F}"/>
              </a:ext>
            </a:extLst>
          </p:cNvPr>
          <p:cNvSpPr txBox="1"/>
          <p:nvPr/>
        </p:nvSpPr>
        <p:spPr>
          <a:xfrm>
            <a:off x="9728200" y="3556000"/>
            <a:ext cx="1346200" cy="4953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9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before / after / </a:t>
            </a:r>
            <a:r>
              <a:rPr lang="zh-CN" altLang="en-US" sz="9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存活检查</a:t>
            </a:r>
          </a:p>
        </p:txBody>
      </p:sp>
      <p:sp>
        <p:nvSpPr>
          <p:cNvPr id="70" name="SCX_bench_rect_44">
            <a:extLst>
              <a:ext uri="{FF2B5EF4-FFF2-40B4-BE49-F238E27FC236}">
                <a16:creationId xmlns:a16="http://schemas.microsoft.com/office/drawing/2014/main" id="{3D72C4D1-DDB3-DCA8-AD30-A8B9BAA1F5C4}"/>
              </a:ext>
            </a:extLst>
          </p:cNvPr>
          <p:cNvSpPr/>
          <p:nvPr/>
        </p:nvSpPr>
        <p:spPr>
          <a:xfrm>
            <a:off x="698500" y="4508500"/>
            <a:ext cx="1841500" cy="1168400"/>
          </a:xfrm>
          <a:prstGeom prst="roundRect">
            <a:avLst/>
          </a:prstGeom>
          <a:solidFill>
            <a:srgbClr val="EBF1FC"/>
          </a:solidFill>
          <a:ln w="15240">
            <a:solidFill>
              <a:srgbClr val="2757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SCX_bench_text_45">
            <a:extLst>
              <a:ext uri="{FF2B5EF4-FFF2-40B4-BE49-F238E27FC236}">
                <a16:creationId xmlns:a16="http://schemas.microsoft.com/office/drawing/2014/main" id="{77042076-5769-6779-CE38-86424009931E}"/>
              </a:ext>
            </a:extLst>
          </p:cNvPr>
          <p:cNvSpPr txBox="1"/>
          <p:nvPr/>
        </p:nvSpPr>
        <p:spPr>
          <a:xfrm>
            <a:off x="850900" y="4635500"/>
            <a:ext cx="1536700" cy="3810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6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证据分析</a:t>
            </a:r>
          </a:p>
        </p:txBody>
      </p:sp>
      <p:sp>
        <p:nvSpPr>
          <p:cNvPr id="72" name="SCX_bench_text_46">
            <a:extLst>
              <a:ext uri="{FF2B5EF4-FFF2-40B4-BE49-F238E27FC236}">
                <a16:creationId xmlns:a16="http://schemas.microsoft.com/office/drawing/2014/main" id="{CBCD7559-BDE2-3ED2-EDD7-87CC076B2F62}"/>
              </a:ext>
            </a:extLst>
          </p:cNvPr>
          <p:cNvSpPr txBox="1"/>
          <p:nvPr/>
        </p:nvSpPr>
        <p:spPr>
          <a:xfrm>
            <a:off x="850900" y="5029200"/>
            <a:ext cx="1536700" cy="5588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0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只消费实验产物</a:t>
            </a:r>
          </a:p>
        </p:txBody>
      </p:sp>
      <p:sp>
        <p:nvSpPr>
          <p:cNvPr id="73" name="SCX_bench_rect_47">
            <a:extLst>
              <a:ext uri="{FF2B5EF4-FFF2-40B4-BE49-F238E27FC236}">
                <a16:creationId xmlns:a16="http://schemas.microsoft.com/office/drawing/2014/main" id="{4535BA70-4044-810A-F3BF-2F233613C22B}"/>
              </a:ext>
            </a:extLst>
          </p:cNvPr>
          <p:cNvSpPr/>
          <p:nvPr/>
        </p:nvSpPr>
        <p:spPr>
          <a:xfrm>
            <a:off x="2667000" y="4508500"/>
            <a:ext cx="8826500" cy="11684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4" name="SCX_bench_line_48">
            <a:extLst>
              <a:ext uri="{FF2B5EF4-FFF2-40B4-BE49-F238E27FC236}">
                <a16:creationId xmlns:a16="http://schemas.microsoft.com/office/drawing/2014/main" id="{03B4F428-C855-BFDD-21FC-BBB8A9AE822A}"/>
              </a:ext>
            </a:extLst>
          </p:cNvPr>
          <p:cNvCxnSpPr/>
          <p:nvPr/>
        </p:nvCxnSpPr>
        <p:spPr>
          <a:xfrm>
            <a:off x="4635500" y="5092700"/>
            <a:ext cx="215900" cy="0"/>
          </a:xfrm>
          <a:prstGeom prst="line">
            <a:avLst/>
          </a:prstGeom>
          <a:ln w="19050">
            <a:solidFill>
              <a:srgbClr val="C2CDE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CX_bench_line_49">
            <a:extLst>
              <a:ext uri="{FF2B5EF4-FFF2-40B4-BE49-F238E27FC236}">
                <a16:creationId xmlns:a16="http://schemas.microsoft.com/office/drawing/2014/main" id="{D8A86126-70AB-C94D-92AD-1302F774B1FD}"/>
              </a:ext>
            </a:extLst>
          </p:cNvPr>
          <p:cNvCxnSpPr/>
          <p:nvPr/>
        </p:nvCxnSpPr>
        <p:spPr>
          <a:xfrm>
            <a:off x="6731000" y="5092700"/>
            <a:ext cx="215900" cy="0"/>
          </a:xfrm>
          <a:prstGeom prst="line">
            <a:avLst/>
          </a:prstGeom>
          <a:ln w="19050">
            <a:solidFill>
              <a:srgbClr val="C2CDE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CX_bench_line_50">
            <a:extLst>
              <a:ext uri="{FF2B5EF4-FFF2-40B4-BE49-F238E27FC236}">
                <a16:creationId xmlns:a16="http://schemas.microsoft.com/office/drawing/2014/main" id="{D36144DF-D81E-CBCA-9894-7CA2247298D6}"/>
              </a:ext>
            </a:extLst>
          </p:cNvPr>
          <p:cNvCxnSpPr/>
          <p:nvPr/>
        </p:nvCxnSpPr>
        <p:spPr>
          <a:xfrm>
            <a:off x="8826500" y="5092700"/>
            <a:ext cx="215900" cy="0"/>
          </a:xfrm>
          <a:prstGeom prst="line">
            <a:avLst/>
          </a:prstGeom>
          <a:ln w="19050">
            <a:solidFill>
              <a:srgbClr val="C2CDE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SCX_bench_rect_51">
            <a:extLst>
              <a:ext uri="{FF2B5EF4-FFF2-40B4-BE49-F238E27FC236}">
                <a16:creationId xmlns:a16="http://schemas.microsoft.com/office/drawing/2014/main" id="{1F49C669-D499-4B91-069E-03923AC111D4}"/>
              </a:ext>
            </a:extLst>
          </p:cNvPr>
          <p:cNvSpPr/>
          <p:nvPr/>
        </p:nvSpPr>
        <p:spPr>
          <a:xfrm>
            <a:off x="2857500" y="4749800"/>
            <a:ext cx="1778000" cy="698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SCX_bench_text_52">
            <a:extLst>
              <a:ext uri="{FF2B5EF4-FFF2-40B4-BE49-F238E27FC236}">
                <a16:creationId xmlns:a16="http://schemas.microsoft.com/office/drawing/2014/main" id="{E5E89508-2F10-D836-C00E-7C4824303EFA}"/>
              </a:ext>
            </a:extLst>
          </p:cNvPr>
          <p:cNvSpPr txBox="1"/>
          <p:nvPr/>
        </p:nvSpPr>
        <p:spPr>
          <a:xfrm>
            <a:off x="2933700" y="4800600"/>
            <a:ext cx="1625600" cy="3175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150" b="1">
                <a:solidFill>
                  <a:srgbClr val="1E2C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回收原始 </a:t>
            </a:r>
            <a:r>
              <a:rPr lang="en-US" altLang="zh-CN" sz="1150" b="1">
                <a:solidFill>
                  <a:srgbClr val="1E2C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artifacts</a:t>
            </a:r>
            <a:endParaRPr lang="zh-CN" altLang="en-US" sz="1150" b="1">
              <a:solidFill>
                <a:srgbClr val="1E2C4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9" name="SCX_bench_text_53">
            <a:extLst>
              <a:ext uri="{FF2B5EF4-FFF2-40B4-BE49-F238E27FC236}">
                <a16:creationId xmlns:a16="http://schemas.microsoft.com/office/drawing/2014/main" id="{6F757A2F-CA9E-090D-9D6B-C4956814E723}"/>
              </a:ext>
            </a:extLst>
          </p:cNvPr>
          <p:cNvSpPr txBox="1"/>
          <p:nvPr/>
        </p:nvSpPr>
        <p:spPr>
          <a:xfrm>
            <a:off x="2933700" y="5118100"/>
            <a:ext cx="1625600" cy="2794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9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结果、日志、快照、哈希</a:t>
            </a:r>
          </a:p>
        </p:txBody>
      </p:sp>
      <p:sp>
        <p:nvSpPr>
          <p:cNvPr id="80" name="SCX_bench_rect_54">
            <a:extLst>
              <a:ext uri="{FF2B5EF4-FFF2-40B4-BE49-F238E27FC236}">
                <a16:creationId xmlns:a16="http://schemas.microsoft.com/office/drawing/2014/main" id="{550ACA7F-758D-F386-FA60-33330E060008}"/>
              </a:ext>
            </a:extLst>
          </p:cNvPr>
          <p:cNvSpPr/>
          <p:nvPr/>
        </p:nvSpPr>
        <p:spPr>
          <a:xfrm>
            <a:off x="4953000" y="4749800"/>
            <a:ext cx="1778000" cy="698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SCX_bench_text_55">
            <a:extLst>
              <a:ext uri="{FF2B5EF4-FFF2-40B4-BE49-F238E27FC236}">
                <a16:creationId xmlns:a16="http://schemas.microsoft.com/office/drawing/2014/main" id="{27A8402E-4736-5CAA-09B5-BD8E0CA9A0AE}"/>
              </a:ext>
            </a:extLst>
          </p:cNvPr>
          <p:cNvSpPr txBox="1"/>
          <p:nvPr/>
        </p:nvSpPr>
        <p:spPr>
          <a:xfrm>
            <a:off x="5029200" y="4800600"/>
            <a:ext cx="1625600" cy="3175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150" b="1">
                <a:solidFill>
                  <a:srgbClr val="1E2C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精确配对</a:t>
            </a:r>
          </a:p>
        </p:txBody>
      </p:sp>
      <p:sp>
        <p:nvSpPr>
          <p:cNvPr id="82" name="SCX_bench_text_56">
            <a:extLst>
              <a:ext uri="{FF2B5EF4-FFF2-40B4-BE49-F238E27FC236}">
                <a16:creationId xmlns:a16="http://schemas.microsoft.com/office/drawing/2014/main" id="{C1259892-CF55-3686-2514-D79CE061C6C7}"/>
              </a:ext>
            </a:extLst>
          </p:cNvPr>
          <p:cNvSpPr txBox="1"/>
          <p:nvPr/>
        </p:nvSpPr>
        <p:spPr>
          <a:xfrm>
            <a:off x="5029200" y="5118100"/>
            <a:ext cx="1625600" cy="2794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9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只接受双方 </a:t>
            </a:r>
            <a:r>
              <a:rPr lang="en-US" altLang="zh-CN" sz="9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PASS</a:t>
            </a:r>
            <a:endParaRPr lang="zh-CN" altLang="en-US" sz="950">
              <a:solidFill>
                <a:srgbClr val="5B69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3" name="SCX_bench_rect_57">
            <a:extLst>
              <a:ext uri="{FF2B5EF4-FFF2-40B4-BE49-F238E27FC236}">
                <a16:creationId xmlns:a16="http://schemas.microsoft.com/office/drawing/2014/main" id="{6E2B1182-3544-74E9-BAF0-6EAB348AAF6C}"/>
              </a:ext>
            </a:extLst>
          </p:cNvPr>
          <p:cNvSpPr/>
          <p:nvPr/>
        </p:nvSpPr>
        <p:spPr>
          <a:xfrm>
            <a:off x="7048500" y="4749800"/>
            <a:ext cx="1778000" cy="698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SCX_bench_text_58">
            <a:extLst>
              <a:ext uri="{FF2B5EF4-FFF2-40B4-BE49-F238E27FC236}">
                <a16:creationId xmlns:a16="http://schemas.microsoft.com/office/drawing/2014/main" id="{80018843-9AAA-AB0E-F8B4-0FC009369FAA}"/>
              </a:ext>
            </a:extLst>
          </p:cNvPr>
          <p:cNvSpPr txBox="1"/>
          <p:nvPr/>
        </p:nvSpPr>
        <p:spPr>
          <a:xfrm>
            <a:off x="7124700" y="4800600"/>
            <a:ext cx="1625600" cy="3175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150" b="1">
                <a:solidFill>
                  <a:srgbClr val="1E2C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配对统计</a:t>
            </a:r>
          </a:p>
        </p:txBody>
      </p:sp>
      <p:sp>
        <p:nvSpPr>
          <p:cNvPr id="85" name="SCX_bench_text_59">
            <a:extLst>
              <a:ext uri="{FF2B5EF4-FFF2-40B4-BE49-F238E27FC236}">
                <a16:creationId xmlns:a16="http://schemas.microsoft.com/office/drawing/2014/main" id="{E7EAA328-200C-50BD-300D-DB3E1B856435}"/>
              </a:ext>
            </a:extLst>
          </p:cNvPr>
          <p:cNvSpPr txBox="1"/>
          <p:nvPr/>
        </p:nvSpPr>
        <p:spPr>
          <a:xfrm>
            <a:off x="7124700" y="5118100"/>
            <a:ext cx="1625600" cy="2794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9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delta + Student-t 95% CI</a:t>
            </a:r>
            <a:endParaRPr lang="zh-CN" altLang="en-US" sz="950">
              <a:solidFill>
                <a:srgbClr val="5B69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6" name="SCX_bench_rect_60">
            <a:extLst>
              <a:ext uri="{FF2B5EF4-FFF2-40B4-BE49-F238E27FC236}">
                <a16:creationId xmlns:a16="http://schemas.microsoft.com/office/drawing/2014/main" id="{33FF24C8-2968-FA27-6309-7D2B97E78113}"/>
              </a:ext>
            </a:extLst>
          </p:cNvPr>
          <p:cNvSpPr/>
          <p:nvPr/>
        </p:nvSpPr>
        <p:spPr>
          <a:xfrm>
            <a:off x="9144000" y="4749800"/>
            <a:ext cx="1778000" cy="698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SCX_bench_text_61">
            <a:extLst>
              <a:ext uri="{FF2B5EF4-FFF2-40B4-BE49-F238E27FC236}">
                <a16:creationId xmlns:a16="http://schemas.microsoft.com/office/drawing/2014/main" id="{BCFE307D-D574-DE10-F139-695CA177AFA4}"/>
              </a:ext>
            </a:extLst>
          </p:cNvPr>
          <p:cNvSpPr txBox="1"/>
          <p:nvPr/>
        </p:nvSpPr>
        <p:spPr>
          <a:xfrm>
            <a:off x="9220200" y="4800600"/>
            <a:ext cx="1625600" cy="3175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150" b="1">
                <a:solidFill>
                  <a:srgbClr val="1E2C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统一报告</a:t>
            </a:r>
          </a:p>
        </p:txBody>
      </p:sp>
      <p:sp>
        <p:nvSpPr>
          <p:cNvPr id="88" name="SCX_bench_text_62">
            <a:extLst>
              <a:ext uri="{FF2B5EF4-FFF2-40B4-BE49-F238E27FC236}">
                <a16:creationId xmlns:a16="http://schemas.microsoft.com/office/drawing/2014/main" id="{0C547712-E2CE-EF33-19EE-8BC6A2C6C0B5}"/>
              </a:ext>
            </a:extLst>
          </p:cNvPr>
          <p:cNvSpPr txBox="1"/>
          <p:nvPr/>
        </p:nvSpPr>
        <p:spPr>
          <a:xfrm>
            <a:off x="9220200" y="5118100"/>
            <a:ext cx="1625600" cy="2794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9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analysis.json / CSV / HTML</a:t>
            </a:r>
            <a:endParaRPr lang="zh-CN" altLang="en-US" sz="950">
              <a:solidFill>
                <a:srgbClr val="5B69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9" name="SCX_bench_rect_63">
            <a:extLst>
              <a:ext uri="{FF2B5EF4-FFF2-40B4-BE49-F238E27FC236}">
                <a16:creationId xmlns:a16="http://schemas.microsoft.com/office/drawing/2014/main" id="{FFB1760A-A159-77D4-FE45-B7D1274138DC}"/>
              </a:ext>
            </a:extLst>
          </p:cNvPr>
          <p:cNvSpPr/>
          <p:nvPr/>
        </p:nvSpPr>
        <p:spPr>
          <a:xfrm>
            <a:off x="698500" y="5854700"/>
            <a:ext cx="10795000" cy="381000"/>
          </a:xfrm>
          <a:prstGeom prst="roundRect">
            <a:avLst/>
          </a:prstGeom>
          <a:solidFill>
            <a:srgbClr val="EBF1FC"/>
          </a:solidFill>
          <a:ln w="13970">
            <a:solidFill>
              <a:srgbClr val="2757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SCX_bench_text_64">
            <a:extLst>
              <a:ext uri="{FF2B5EF4-FFF2-40B4-BE49-F238E27FC236}">
                <a16:creationId xmlns:a16="http://schemas.microsoft.com/office/drawing/2014/main" id="{F80D78D8-6AB3-C9D6-5207-49B69EAD17C3}"/>
              </a:ext>
            </a:extLst>
          </p:cNvPr>
          <p:cNvSpPr txBox="1"/>
          <p:nvPr/>
        </p:nvSpPr>
        <p:spPr>
          <a:xfrm>
            <a:off x="889000" y="5867400"/>
            <a:ext cx="10414000" cy="3429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25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隔离环境  </a:t>
            </a:r>
            <a:r>
              <a:rPr lang="en-US" altLang="zh-CN" sz="125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 </a:t>
            </a:r>
            <a:r>
              <a:rPr lang="zh-CN" altLang="en-US" sz="125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交替运行  </a:t>
            </a:r>
            <a:r>
              <a:rPr lang="en-US" altLang="zh-CN" sz="125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 </a:t>
            </a:r>
            <a:r>
              <a:rPr lang="zh-CN" altLang="en-US" sz="125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双方 </a:t>
            </a:r>
            <a:r>
              <a:rPr lang="en-US" altLang="zh-CN" sz="125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PASS </a:t>
            </a:r>
            <a:r>
              <a:rPr lang="zh-CN" altLang="en-US" sz="125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精确配对  →  结果可复现、可归因</a:t>
            </a:r>
          </a:p>
        </p:txBody>
      </p:sp>
    </p:spTree>
    <p:extLst>
      <p:ext uri="{BB962C8B-B14F-4D97-AF65-F5344CB8AC3E}">
        <p14:creationId xmlns:p14="http://schemas.microsoft.com/office/powerpoint/2010/main" val="1896119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55" y="522605"/>
            <a:ext cx="7624445" cy="491490"/>
          </a:xfrm>
        </p:spPr>
        <p:txBody>
          <a:bodyPr/>
          <a:lstStyle/>
          <a:p>
            <a:r>
              <a:rPr lang="en-US" altLang="zh-CN"/>
              <a:t>2.4  </a:t>
            </a:r>
            <a:r>
              <a:rPr lang="zh-CN" altLang="en-US"/>
              <a:t>三部分协同：端到端可信闭环</a:t>
            </a:r>
          </a:p>
        </p:txBody>
      </p:sp>
      <p:sp>
        <p:nvSpPr>
          <p:cNvPr id="4" name="SCX_refine_text_70">
            <a:extLst>
              <a:ext uri="{FF2B5EF4-FFF2-40B4-BE49-F238E27FC236}">
                <a16:creationId xmlns:a16="http://schemas.microsoft.com/office/drawing/2014/main" id="{B1F21CB5-F9C0-3194-C205-51E232C86563}"/>
              </a:ext>
            </a:extLst>
          </p:cNvPr>
          <p:cNvSpPr txBox="1"/>
          <p:nvPr/>
        </p:nvSpPr>
        <p:spPr>
          <a:xfrm>
            <a:off x="698500" y="1181100"/>
            <a:ext cx="10795000" cy="3810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zh-CN" altLang="en-US" sz="16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三个组件通过 </a:t>
            </a:r>
            <a:r>
              <a:rPr lang="en-US" altLang="zh-CN" sz="16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MCP</a:t>
            </a:r>
            <a:r>
              <a:rPr lang="zh-CN" altLang="en-US" sz="16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Unix socket </a:t>
            </a:r>
            <a:r>
              <a:rPr lang="zh-CN" altLang="en-US" sz="16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和实验 </a:t>
            </a:r>
            <a:r>
              <a:rPr lang="en-US" altLang="zh-CN" sz="16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artifacts </a:t>
            </a:r>
            <a:r>
              <a:rPr lang="zh-CN" altLang="en-US" sz="16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协作，不共享可绕过边界的内部句柄。</a:t>
            </a:r>
          </a:p>
        </p:txBody>
      </p:sp>
      <p:cxnSp>
        <p:nvCxnSpPr>
          <p:cNvPr id="5" name="SCX_refine_line_71">
            <a:extLst>
              <a:ext uri="{FF2B5EF4-FFF2-40B4-BE49-F238E27FC236}">
                <a16:creationId xmlns:a16="http://schemas.microsoft.com/office/drawing/2014/main" id="{C487C615-276D-6349-3985-293397A4A38A}"/>
              </a:ext>
            </a:extLst>
          </p:cNvPr>
          <p:cNvCxnSpPr/>
          <p:nvPr/>
        </p:nvCxnSpPr>
        <p:spPr>
          <a:xfrm>
            <a:off x="2349500" y="2997200"/>
            <a:ext cx="50800" cy="0"/>
          </a:xfrm>
          <a:prstGeom prst="line">
            <a:avLst/>
          </a:prstGeom>
          <a:ln w="22860">
            <a:solidFill>
              <a:srgbClr val="C2CDE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CX_refine_line_72">
            <a:extLst>
              <a:ext uri="{FF2B5EF4-FFF2-40B4-BE49-F238E27FC236}">
                <a16:creationId xmlns:a16="http://schemas.microsoft.com/office/drawing/2014/main" id="{3689A111-8A6E-857F-947D-2A1089BD92D1}"/>
              </a:ext>
            </a:extLst>
          </p:cNvPr>
          <p:cNvCxnSpPr/>
          <p:nvPr/>
        </p:nvCxnSpPr>
        <p:spPr>
          <a:xfrm>
            <a:off x="4152900" y="2997200"/>
            <a:ext cx="50800" cy="0"/>
          </a:xfrm>
          <a:prstGeom prst="line">
            <a:avLst/>
          </a:prstGeom>
          <a:ln w="22860">
            <a:solidFill>
              <a:srgbClr val="C2CDE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CX_refine_line_73">
            <a:extLst>
              <a:ext uri="{FF2B5EF4-FFF2-40B4-BE49-F238E27FC236}">
                <a16:creationId xmlns:a16="http://schemas.microsoft.com/office/drawing/2014/main" id="{8EC2E158-F777-35CA-B303-63C28E004256}"/>
              </a:ext>
            </a:extLst>
          </p:cNvPr>
          <p:cNvCxnSpPr/>
          <p:nvPr/>
        </p:nvCxnSpPr>
        <p:spPr>
          <a:xfrm>
            <a:off x="5956300" y="2997200"/>
            <a:ext cx="50800" cy="0"/>
          </a:xfrm>
          <a:prstGeom prst="line">
            <a:avLst/>
          </a:prstGeom>
          <a:ln w="22860">
            <a:solidFill>
              <a:srgbClr val="C2CDE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CX_refine_line_74">
            <a:extLst>
              <a:ext uri="{FF2B5EF4-FFF2-40B4-BE49-F238E27FC236}">
                <a16:creationId xmlns:a16="http://schemas.microsoft.com/office/drawing/2014/main" id="{19EA4F70-DDBA-801B-E428-05B45A5CFEBA}"/>
              </a:ext>
            </a:extLst>
          </p:cNvPr>
          <p:cNvCxnSpPr/>
          <p:nvPr/>
        </p:nvCxnSpPr>
        <p:spPr>
          <a:xfrm>
            <a:off x="7759700" y="2997200"/>
            <a:ext cx="50800" cy="0"/>
          </a:xfrm>
          <a:prstGeom prst="line">
            <a:avLst/>
          </a:prstGeom>
          <a:ln w="22860">
            <a:solidFill>
              <a:srgbClr val="C2CDE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CX_refine_line_75">
            <a:extLst>
              <a:ext uri="{FF2B5EF4-FFF2-40B4-BE49-F238E27FC236}">
                <a16:creationId xmlns:a16="http://schemas.microsoft.com/office/drawing/2014/main" id="{6CC8FE32-EF09-E4C0-F8EC-066F76DCF5EE}"/>
              </a:ext>
            </a:extLst>
          </p:cNvPr>
          <p:cNvCxnSpPr/>
          <p:nvPr/>
        </p:nvCxnSpPr>
        <p:spPr>
          <a:xfrm>
            <a:off x="9563100" y="2997200"/>
            <a:ext cx="50800" cy="0"/>
          </a:xfrm>
          <a:prstGeom prst="line">
            <a:avLst/>
          </a:prstGeom>
          <a:ln w="22860">
            <a:solidFill>
              <a:srgbClr val="C2CDE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CX_refine_rect_76">
            <a:extLst>
              <a:ext uri="{FF2B5EF4-FFF2-40B4-BE49-F238E27FC236}">
                <a16:creationId xmlns:a16="http://schemas.microsoft.com/office/drawing/2014/main" id="{D5419D7E-63BB-EE33-6C9F-3532DD43160D}"/>
              </a:ext>
            </a:extLst>
          </p:cNvPr>
          <p:cNvSpPr/>
          <p:nvPr/>
        </p:nvSpPr>
        <p:spPr>
          <a:xfrm>
            <a:off x="698500" y="1841500"/>
            <a:ext cx="1651000" cy="226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SCX_refine_rect_77">
            <a:extLst>
              <a:ext uri="{FF2B5EF4-FFF2-40B4-BE49-F238E27FC236}">
                <a16:creationId xmlns:a16="http://schemas.microsoft.com/office/drawing/2014/main" id="{D6C07BE3-4571-1795-9DD8-BD3AF48BD658}"/>
              </a:ext>
            </a:extLst>
          </p:cNvPr>
          <p:cNvSpPr/>
          <p:nvPr/>
        </p:nvSpPr>
        <p:spPr>
          <a:xfrm>
            <a:off x="698500" y="1841500"/>
            <a:ext cx="1651000" cy="88900"/>
          </a:xfrm>
          <a:prstGeom prst="rect">
            <a:avLst/>
          </a:prstGeom>
          <a:solidFill>
            <a:srgbClr val="0F2256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0F2256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SCX_refine_rect_78">
            <a:extLst>
              <a:ext uri="{FF2B5EF4-FFF2-40B4-BE49-F238E27FC236}">
                <a16:creationId xmlns:a16="http://schemas.microsoft.com/office/drawing/2014/main" id="{CD74D590-D9EA-8219-C36E-D2EBCE069CDA}"/>
              </a:ext>
            </a:extLst>
          </p:cNvPr>
          <p:cNvSpPr/>
          <p:nvPr/>
        </p:nvSpPr>
        <p:spPr>
          <a:xfrm>
            <a:off x="850900" y="2082800"/>
            <a:ext cx="457200" cy="355600"/>
          </a:xfrm>
          <a:prstGeom prst="roundRect">
            <a:avLst/>
          </a:prstGeom>
          <a:solidFill>
            <a:srgbClr val="0F2256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0F2256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SCX_refine_text_79">
            <a:extLst>
              <a:ext uri="{FF2B5EF4-FFF2-40B4-BE49-F238E27FC236}">
                <a16:creationId xmlns:a16="http://schemas.microsoft.com/office/drawing/2014/main" id="{4905F201-260B-0590-0D06-8FFCF4E1CD4C}"/>
              </a:ext>
            </a:extLst>
          </p:cNvPr>
          <p:cNvSpPr txBox="1"/>
          <p:nvPr/>
        </p:nvSpPr>
        <p:spPr>
          <a:xfrm>
            <a:off x="850900" y="2082800"/>
            <a:ext cx="457200" cy="355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sz="11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SCX_refine_text_80">
            <a:extLst>
              <a:ext uri="{FF2B5EF4-FFF2-40B4-BE49-F238E27FC236}">
                <a16:creationId xmlns:a16="http://schemas.microsoft.com/office/drawing/2014/main" id="{F6084699-C108-C75D-7D8D-5D79133D6B92}"/>
              </a:ext>
            </a:extLst>
          </p:cNvPr>
          <p:cNvSpPr txBox="1"/>
          <p:nvPr/>
        </p:nvSpPr>
        <p:spPr>
          <a:xfrm>
            <a:off x="1371600" y="2019300"/>
            <a:ext cx="838200" cy="482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1E2C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发现未分类</a:t>
            </a:r>
          </a:p>
        </p:txBody>
      </p:sp>
      <p:sp>
        <p:nvSpPr>
          <p:cNvPr id="15" name="SCX_refine_text_81">
            <a:extLst>
              <a:ext uri="{FF2B5EF4-FFF2-40B4-BE49-F238E27FC236}">
                <a16:creationId xmlns:a16="http://schemas.microsoft.com/office/drawing/2014/main" id="{AAB7F18F-6EFB-8DCC-1CA7-471FB409352B}"/>
              </a:ext>
            </a:extLst>
          </p:cNvPr>
          <p:cNvSpPr txBox="1"/>
          <p:nvPr/>
        </p:nvSpPr>
        <p:spPr>
          <a:xfrm>
            <a:off x="850900" y="2590800"/>
            <a:ext cx="1346200" cy="736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comm miss
</a:t>
            </a:r>
            <a:r>
              <a:rPr lang="zh-CN" altLang="en-US" sz="12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聚合 </a:t>
            </a:r>
            <a:r>
              <a:rPr lang="en-US" altLang="zh-CN" sz="12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activation</a:t>
            </a:r>
            <a:endParaRPr lang="zh-CN" altLang="en-US" sz="1200">
              <a:solidFill>
                <a:srgbClr val="5B69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SCX_refine_rect_82">
            <a:extLst>
              <a:ext uri="{FF2B5EF4-FFF2-40B4-BE49-F238E27FC236}">
                <a16:creationId xmlns:a16="http://schemas.microsoft.com/office/drawing/2014/main" id="{537C1CA6-841D-BF27-618F-70A31A87F7EE}"/>
              </a:ext>
            </a:extLst>
          </p:cNvPr>
          <p:cNvSpPr/>
          <p:nvPr/>
        </p:nvSpPr>
        <p:spPr>
          <a:xfrm>
            <a:off x="850900" y="3543300"/>
            <a:ext cx="1346200" cy="330200"/>
          </a:xfrm>
          <a:prstGeom prst="roundRect">
            <a:avLst/>
          </a:prstGeom>
          <a:solidFill>
            <a:srgbClr val="EBF1FC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EBF1FC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SCX_refine_text_83">
            <a:extLst>
              <a:ext uri="{FF2B5EF4-FFF2-40B4-BE49-F238E27FC236}">
                <a16:creationId xmlns:a16="http://schemas.microsoft.com/office/drawing/2014/main" id="{ECC97F83-AE55-652D-DB04-3B633B45FD95}"/>
              </a:ext>
            </a:extLst>
          </p:cNvPr>
          <p:cNvSpPr txBox="1"/>
          <p:nvPr/>
        </p:nvSpPr>
        <p:spPr>
          <a:xfrm>
            <a:off x="850900" y="3543300"/>
            <a:ext cx="1346200" cy="3302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95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scx_agent_classed</a:t>
            </a:r>
            <a:endParaRPr lang="zh-CN" altLang="en-US" sz="950" b="1">
              <a:solidFill>
                <a:srgbClr val="0F225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SCX_refine_rect_84">
            <a:extLst>
              <a:ext uri="{FF2B5EF4-FFF2-40B4-BE49-F238E27FC236}">
                <a16:creationId xmlns:a16="http://schemas.microsoft.com/office/drawing/2014/main" id="{20A836A6-AF02-F642-0E96-BFD228818269}"/>
              </a:ext>
            </a:extLst>
          </p:cNvPr>
          <p:cNvSpPr/>
          <p:nvPr/>
        </p:nvSpPr>
        <p:spPr>
          <a:xfrm>
            <a:off x="2501900" y="1841500"/>
            <a:ext cx="1651000" cy="226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SCX_refine_rect_85">
            <a:extLst>
              <a:ext uri="{FF2B5EF4-FFF2-40B4-BE49-F238E27FC236}">
                <a16:creationId xmlns:a16="http://schemas.microsoft.com/office/drawing/2014/main" id="{9019F444-19DC-9D96-FE2A-498C2139D256}"/>
              </a:ext>
            </a:extLst>
          </p:cNvPr>
          <p:cNvSpPr/>
          <p:nvPr/>
        </p:nvSpPr>
        <p:spPr>
          <a:xfrm>
            <a:off x="2501900" y="1841500"/>
            <a:ext cx="1651000" cy="88900"/>
          </a:xfrm>
          <a:prstGeom prst="rect">
            <a:avLst/>
          </a:prstGeom>
          <a:solidFill>
            <a:srgbClr val="0F2256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0F2256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SCX_refine_rect_86">
            <a:extLst>
              <a:ext uri="{FF2B5EF4-FFF2-40B4-BE49-F238E27FC236}">
                <a16:creationId xmlns:a16="http://schemas.microsoft.com/office/drawing/2014/main" id="{B3DCF8C3-68FE-BFC7-E1E5-346976D0EDC8}"/>
              </a:ext>
            </a:extLst>
          </p:cNvPr>
          <p:cNvSpPr/>
          <p:nvPr/>
        </p:nvSpPr>
        <p:spPr>
          <a:xfrm>
            <a:off x="2654300" y="2082800"/>
            <a:ext cx="457200" cy="355600"/>
          </a:xfrm>
          <a:prstGeom prst="roundRect">
            <a:avLst/>
          </a:prstGeom>
          <a:solidFill>
            <a:srgbClr val="0F2256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0F2256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SCX_refine_text_87">
            <a:extLst>
              <a:ext uri="{FF2B5EF4-FFF2-40B4-BE49-F238E27FC236}">
                <a16:creationId xmlns:a16="http://schemas.microsoft.com/office/drawing/2014/main" id="{D9609CD2-60B9-4634-BD7C-79B06877435B}"/>
              </a:ext>
            </a:extLst>
          </p:cNvPr>
          <p:cNvSpPr txBox="1"/>
          <p:nvPr/>
        </p:nvSpPr>
        <p:spPr>
          <a:xfrm>
            <a:off x="2654300" y="2082800"/>
            <a:ext cx="457200" cy="355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11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SCX_refine_text_88">
            <a:extLst>
              <a:ext uri="{FF2B5EF4-FFF2-40B4-BE49-F238E27FC236}">
                <a16:creationId xmlns:a16="http://schemas.microsoft.com/office/drawing/2014/main" id="{A227BDED-91AA-16FA-FF0B-64D78E944E52}"/>
              </a:ext>
            </a:extLst>
          </p:cNvPr>
          <p:cNvSpPr txBox="1"/>
          <p:nvPr/>
        </p:nvSpPr>
        <p:spPr>
          <a:xfrm>
            <a:off x="3175000" y="2019300"/>
            <a:ext cx="838200" cy="482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1E2C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冻结目标</a:t>
            </a:r>
          </a:p>
        </p:txBody>
      </p:sp>
      <p:sp>
        <p:nvSpPr>
          <p:cNvPr id="23" name="SCX_refine_text_89">
            <a:extLst>
              <a:ext uri="{FF2B5EF4-FFF2-40B4-BE49-F238E27FC236}">
                <a16:creationId xmlns:a16="http://schemas.microsoft.com/office/drawing/2014/main" id="{30704C25-BA28-767B-A7BC-679FA19CA4B7}"/>
              </a:ext>
            </a:extLst>
          </p:cNvPr>
          <p:cNvSpPr txBox="1"/>
          <p:nvPr/>
        </p:nvSpPr>
        <p:spPr>
          <a:xfrm>
            <a:off x="2654300" y="2590800"/>
            <a:ext cx="1346200" cy="736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2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规则快照
指标与阈值</a:t>
            </a:r>
          </a:p>
        </p:txBody>
      </p:sp>
      <p:sp>
        <p:nvSpPr>
          <p:cNvPr id="24" name="SCX_refine_rect_90">
            <a:extLst>
              <a:ext uri="{FF2B5EF4-FFF2-40B4-BE49-F238E27FC236}">
                <a16:creationId xmlns:a16="http://schemas.microsoft.com/office/drawing/2014/main" id="{F1A780AA-AC38-1377-3D1F-43A1D009B2AF}"/>
              </a:ext>
            </a:extLst>
          </p:cNvPr>
          <p:cNvSpPr/>
          <p:nvPr/>
        </p:nvSpPr>
        <p:spPr>
          <a:xfrm>
            <a:off x="2654300" y="3543300"/>
            <a:ext cx="1346200" cy="330200"/>
          </a:xfrm>
          <a:prstGeom prst="roundRect">
            <a:avLst/>
          </a:prstGeom>
          <a:solidFill>
            <a:srgbClr val="EBF1FC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EBF1FC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SCX_refine_text_91">
            <a:extLst>
              <a:ext uri="{FF2B5EF4-FFF2-40B4-BE49-F238E27FC236}">
                <a16:creationId xmlns:a16="http://schemas.microsoft.com/office/drawing/2014/main" id="{E6EB2F25-DF30-4E5C-B66E-32C23E204B38}"/>
              </a:ext>
            </a:extLst>
          </p:cNvPr>
          <p:cNvSpPr txBox="1"/>
          <p:nvPr/>
        </p:nvSpPr>
        <p:spPr>
          <a:xfrm>
            <a:off x="2654300" y="3543300"/>
            <a:ext cx="1346200" cy="3302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95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tuning_agent</a:t>
            </a:r>
            <a:endParaRPr lang="zh-CN" altLang="en-US" sz="950" b="1">
              <a:solidFill>
                <a:srgbClr val="0F225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SCX_refine_rect_92">
            <a:extLst>
              <a:ext uri="{FF2B5EF4-FFF2-40B4-BE49-F238E27FC236}">
                <a16:creationId xmlns:a16="http://schemas.microsoft.com/office/drawing/2014/main" id="{2EECEEA5-ED63-FF62-42E8-38A988C48AEB}"/>
              </a:ext>
            </a:extLst>
          </p:cNvPr>
          <p:cNvSpPr/>
          <p:nvPr/>
        </p:nvSpPr>
        <p:spPr>
          <a:xfrm>
            <a:off x="4305300" y="1841500"/>
            <a:ext cx="1651000" cy="226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SCX_refine_rect_93">
            <a:extLst>
              <a:ext uri="{FF2B5EF4-FFF2-40B4-BE49-F238E27FC236}">
                <a16:creationId xmlns:a16="http://schemas.microsoft.com/office/drawing/2014/main" id="{786C3532-2202-6862-C1DC-EB941667482A}"/>
              </a:ext>
            </a:extLst>
          </p:cNvPr>
          <p:cNvSpPr/>
          <p:nvPr/>
        </p:nvSpPr>
        <p:spPr>
          <a:xfrm>
            <a:off x="4305300" y="1841500"/>
            <a:ext cx="1651000" cy="88900"/>
          </a:xfrm>
          <a:prstGeom prst="rect">
            <a:avLst/>
          </a:prstGeom>
          <a:solidFill>
            <a:srgbClr val="0F2256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0F2256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SCX_refine_rect_94">
            <a:extLst>
              <a:ext uri="{FF2B5EF4-FFF2-40B4-BE49-F238E27FC236}">
                <a16:creationId xmlns:a16="http://schemas.microsoft.com/office/drawing/2014/main" id="{D7631D66-7D6B-64E1-FE41-D28A5354A6AB}"/>
              </a:ext>
            </a:extLst>
          </p:cNvPr>
          <p:cNvSpPr/>
          <p:nvPr/>
        </p:nvSpPr>
        <p:spPr>
          <a:xfrm>
            <a:off x="4457700" y="2082800"/>
            <a:ext cx="457200" cy="355600"/>
          </a:xfrm>
          <a:prstGeom prst="roundRect">
            <a:avLst/>
          </a:prstGeom>
          <a:solidFill>
            <a:srgbClr val="0F2256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0F2256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SCX_refine_text_95">
            <a:extLst>
              <a:ext uri="{FF2B5EF4-FFF2-40B4-BE49-F238E27FC236}">
                <a16:creationId xmlns:a16="http://schemas.microsoft.com/office/drawing/2014/main" id="{3F9C29DD-C64B-BB01-EA23-07BA004DCE3E}"/>
              </a:ext>
            </a:extLst>
          </p:cNvPr>
          <p:cNvSpPr txBox="1"/>
          <p:nvPr/>
        </p:nvSpPr>
        <p:spPr>
          <a:xfrm>
            <a:off x="4457700" y="2082800"/>
            <a:ext cx="457200" cy="355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11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SCX_refine_text_96">
            <a:extLst>
              <a:ext uri="{FF2B5EF4-FFF2-40B4-BE49-F238E27FC236}">
                <a16:creationId xmlns:a16="http://schemas.microsoft.com/office/drawing/2014/main" id="{C427C46F-CCFC-2D41-BD5E-A69C893966DD}"/>
              </a:ext>
            </a:extLst>
          </p:cNvPr>
          <p:cNvSpPr txBox="1"/>
          <p:nvPr/>
        </p:nvSpPr>
        <p:spPr>
          <a:xfrm>
            <a:off x="4978400" y="2019300"/>
            <a:ext cx="838200" cy="482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1E2C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提出规则</a:t>
            </a:r>
          </a:p>
        </p:txBody>
      </p:sp>
      <p:sp>
        <p:nvSpPr>
          <p:cNvPr id="31" name="SCX_refine_text_97">
            <a:extLst>
              <a:ext uri="{FF2B5EF4-FFF2-40B4-BE49-F238E27FC236}">
                <a16:creationId xmlns:a16="http://schemas.microsoft.com/office/drawing/2014/main" id="{D0A698CD-F882-0F44-3F1F-D5AC5F92E478}"/>
              </a:ext>
            </a:extLst>
          </p:cNvPr>
          <p:cNvSpPr txBox="1"/>
          <p:nvPr/>
        </p:nvSpPr>
        <p:spPr>
          <a:xfrm>
            <a:off x="4457700" y="2590800"/>
            <a:ext cx="1346200" cy="736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LLM </a:t>
            </a:r>
            <a:r>
              <a:rPr lang="zh-CN" altLang="en-US" sz="12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选择
</a:t>
            </a:r>
            <a:r>
              <a:rPr lang="en-US" altLang="zh-CN" sz="12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learned rule</a:t>
            </a:r>
            <a:endParaRPr lang="zh-CN" altLang="en-US" sz="1200">
              <a:solidFill>
                <a:srgbClr val="5B69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SCX_refine_rect_98">
            <a:extLst>
              <a:ext uri="{FF2B5EF4-FFF2-40B4-BE49-F238E27FC236}">
                <a16:creationId xmlns:a16="http://schemas.microsoft.com/office/drawing/2014/main" id="{A3CCC410-79DE-48F4-9433-14ED30A15BAB}"/>
              </a:ext>
            </a:extLst>
          </p:cNvPr>
          <p:cNvSpPr/>
          <p:nvPr/>
        </p:nvSpPr>
        <p:spPr>
          <a:xfrm>
            <a:off x="4457700" y="3543300"/>
            <a:ext cx="1346200" cy="330200"/>
          </a:xfrm>
          <a:prstGeom prst="roundRect">
            <a:avLst/>
          </a:prstGeom>
          <a:solidFill>
            <a:srgbClr val="EBF1FC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EBF1FC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SCX_refine_text_99">
            <a:extLst>
              <a:ext uri="{FF2B5EF4-FFF2-40B4-BE49-F238E27FC236}">
                <a16:creationId xmlns:a16="http://schemas.microsoft.com/office/drawing/2014/main" id="{F587E530-B7BD-11AC-BB90-BB738C315853}"/>
              </a:ext>
            </a:extLst>
          </p:cNvPr>
          <p:cNvSpPr txBox="1"/>
          <p:nvPr/>
        </p:nvSpPr>
        <p:spPr>
          <a:xfrm>
            <a:off x="4457700" y="3543300"/>
            <a:ext cx="1346200" cy="3302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95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tuning_agent</a:t>
            </a:r>
            <a:endParaRPr lang="zh-CN" altLang="en-US" sz="950" b="1">
              <a:solidFill>
                <a:srgbClr val="0F225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8" name="SCX_refine_rect_100">
            <a:extLst>
              <a:ext uri="{FF2B5EF4-FFF2-40B4-BE49-F238E27FC236}">
                <a16:creationId xmlns:a16="http://schemas.microsoft.com/office/drawing/2014/main" id="{6E78655E-627E-60B3-F5D6-1AEDF55475EF}"/>
              </a:ext>
            </a:extLst>
          </p:cNvPr>
          <p:cNvSpPr/>
          <p:nvPr/>
        </p:nvSpPr>
        <p:spPr>
          <a:xfrm>
            <a:off x="6108700" y="1841500"/>
            <a:ext cx="1651000" cy="226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SCX_refine_rect_101">
            <a:extLst>
              <a:ext uri="{FF2B5EF4-FFF2-40B4-BE49-F238E27FC236}">
                <a16:creationId xmlns:a16="http://schemas.microsoft.com/office/drawing/2014/main" id="{FFDF9D7A-2011-4208-7159-519B93BC4783}"/>
              </a:ext>
            </a:extLst>
          </p:cNvPr>
          <p:cNvSpPr/>
          <p:nvPr/>
        </p:nvSpPr>
        <p:spPr>
          <a:xfrm>
            <a:off x="6108700" y="1841500"/>
            <a:ext cx="1651000" cy="88900"/>
          </a:xfrm>
          <a:prstGeom prst="rect">
            <a:avLst/>
          </a:prstGeom>
          <a:solidFill>
            <a:srgbClr val="0F2256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0F2256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SCX_refine_rect_102">
            <a:extLst>
              <a:ext uri="{FF2B5EF4-FFF2-40B4-BE49-F238E27FC236}">
                <a16:creationId xmlns:a16="http://schemas.microsoft.com/office/drawing/2014/main" id="{33FB03F6-8A2C-1CA9-4EBE-75DA78E210BA}"/>
              </a:ext>
            </a:extLst>
          </p:cNvPr>
          <p:cNvSpPr/>
          <p:nvPr/>
        </p:nvSpPr>
        <p:spPr>
          <a:xfrm>
            <a:off x="6261100" y="2082800"/>
            <a:ext cx="457200" cy="355600"/>
          </a:xfrm>
          <a:prstGeom prst="roundRect">
            <a:avLst/>
          </a:prstGeom>
          <a:solidFill>
            <a:srgbClr val="0F2256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0F2256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SCX_refine_text_103">
            <a:extLst>
              <a:ext uri="{FF2B5EF4-FFF2-40B4-BE49-F238E27FC236}">
                <a16:creationId xmlns:a16="http://schemas.microsoft.com/office/drawing/2014/main" id="{7F50A5C9-6CB6-DB72-33C7-77DA47B4D9AF}"/>
              </a:ext>
            </a:extLst>
          </p:cNvPr>
          <p:cNvSpPr txBox="1"/>
          <p:nvPr/>
        </p:nvSpPr>
        <p:spPr>
          <a:xfrm>
            <a:off x="6261100" y="2082800"/>
            <a:ext cx="457200" cy="355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endParaRPr lang="zh-CN" altLang="en-US" sz="11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2" name="SCX_refine_text_104">
            <a:extLst>
              <a:ext uri="{FF2B5EF4-FFF2-40B4-BE49-F238E27FC236}">
                <a16:creationId xmlns:a16="http://schemas.microsoft.com/office/drawing/2014/main" id="{7247B46F-6D2A-4448-C4A1-AB0B5A147637}"/>
              </a:ext>
            </a:extLst>
          </p:cNvPr>
          <p:cNvSpPr txBox="1"/>
          <p:nvPr/>
        </p:nvSpPr>
        <p:spPr>
          <a:xfrm>
            <a:off x="6781800" y="2019300"/>
            <a:ext cx="838200" cy="482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1E2C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事务发布</a:t>
            </a:r>
          </a:p>
        </p:txBody>
      </p:sp>
      <p:sp>
        <p:nvSpPr>
          <p:cNvPr id="103" name="SCX_refine_text_105">
            <a:extLst>
              <a:ext uri="{FF2B5EF4-FFF2-40B4-BE49-F238E27FC236}">
                <a16:creationId xmlns:a16="http://schemas.microsoft.com/office/drawing/2014/main" id="{84FE2181-2F67-BBB4-9382-BA38FFFFD914}"/>
              </a:ext>
            </a:extLst>
          </p:cNvPr>
          <p:cNvSpPr txBox="1"/>
          <p:nvPr/>
        </p:nvSpPr>
        <p:spPr>
          <a:xfrm>
            <a:off x="6261100" y="2590800"/>
            <a:ext cx="1346200" cy="736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CAS → JSON
→ BPF map</a:t>
            </a:r>
            <a:endParaRPr lang="zh-CN" altLang="en-US" sz="1200">
              <a:solidFill>
                <a:srgbClr val="5B69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4" name="SCX_refine_rect_106">
            <a:extLst>
              <a:ext uri="{FF2B5EF4-FFF2-40B4-BE49-F238E27FC236}">
                <a16:creationId xmlns:a16="http://schemas.microsoft.com/office/drawing/2014/main" id="{50C7D3D6-9BCB-EB41-56BF-7BBBE06B4DA5}"/>
              </a:ext>
            </a:extLst>
          </p:cNvPr>
          <p:cNvSpPr/>
          <p:nvPr/>
        </p:nvSpPr>
        <p:spPr>
          <a:xfrm>
            <a:off x="6261100" y="3543300"/>
            <a:ext cx="1346200" cy="330200"/>
          </a:xfrm>
          <a:prstGeom prst="roundRect">
            <a:avLst/>
          </a:prstGeom>
          <a:solidFill>
            <a:srgbClr val="EBF1FC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EBF1FC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SCX_refine_text_107">
            <a:extLst>
              <a:ext uri="{FF2B5EF4-FFF2-40B4-BE49-F238E27FC236}">
                <a16:creationId xmlns:a16="http://schemas.microsoft.com/office/drawing/2014/main" id="{56549C0D-D2C8-5299-F7C9-6DD2EB204D4B}"/>
              </a:ext>
            </a:extLst>
          </p:cNvPr>
          <p:cNvSpPr txBox="1"/>
          <p:nvPr/>
        </p:nvSpPr>
        <p:spPr>
          <a:xfrm>
            <a:off x="6261100" y="3543300"/>
            <a:ext cx="1346200" cy="3302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95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Runtime + scx</a:t>
            </a:r>
            <a:endParaRPr lang="zh-CN" altLang="en-US" sz="950" b="1">
              <a:solidFill>
                <a:srgbClr val="0F225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6" name="SCX_refine_rect_108">
            <a:extLst>
              <a:ext uri="{FF2B5EF4-FFF2-40B4-BE49-F238E27FC236}">
                <a16:creationId xmlns:a16="http://schemas.microsoft.com/office/drawing/2014/main" id="{ACC3ED98-74D1-E1B4-DDB7-A97AA17392F0}"/>
              </a:ext>
            </a:extLst>
          </p:cNvPr>
          <p:cNvSpPr/>
          <p:nvPr/>
        </p:nvSpPr>
        <p:spPr>
          <a:xfrm>
            <a:off x="7912100" y="1841500"/>
            <a:ext cx="1651000" cy="226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SCX_refine_rect_109">
            <a:extLst>
              <a:ext uri="{FF2B5EF4-FFF2-40B4-BE49-F238E27FC236}">
                <a16:creationId xmlns:a16="http://schemas.microsoft.com/office/drawing/2014/main" id="{272652EA-4F34-DE97-62B2-E502CF624F08}"/>
              </a:ext>
            </a:extLst>
          </p:cNvPr>
          <p:cNvSpPr/>
          <p:nvPr/>
        </p:nvSpPr>
        <p:spPr>
          <a:xfrm>
            <a:off x="7912100" y="1841500"/>
            <a:ext cx="1651000" cy="88900"/>
          </a:xfrm>
          <a:prstGeom prst="rect">
            <a:avLst/>
          </a:prstGeom>
          <a:solidFill>
            <a:srgbClr val="0F2256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0F2256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SCX_refine_rect_110">
            <a:extLst>
              <a:ext uri="{FF2B5EF4-FFF2-40B4-BE49-F238E27FC236}">
                <a16:creationId xmlns:a16="http://schemas.microsoft.com/office/drawing/2014/main" id="{75D043C5-6B2A-305B-1081-C553FB7B95E5}"/>
              </a:ext>
            </a:extLst>
          </p:cNvPr>
          <p:cNvSpPr/>
          <p:nvPr/>
        </p:nvSpPr>
        <p:spPr>
          <a:xfrm>
            <a:off x="8064500" y="2082800"/>
            <a:ext cx="457200" cy="355600"/>
          </a:xfrm>
          <a:prstGeom prst="roundRect">
            <a:avLst/>
          </a:prstGeom>
          <a:solidFill>
            <a:srgbClr val="0F2256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0F2256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SCX_refine_text_111">
            <a:extLst>
              <a:ext uri="{FF2B5EF4-FFF2-40B4-BE49-F238E27FC236}">
                <a16:creationId xmlns:a16="http://schemas.microsoft.com/office/drawing/2014/main" id="{5514708B-0B9E-909D-680A-21F8BC9DC52B}"/>
              </a:ext>
            </a:extLst>
          </p:cNvPr>
          <p:cNvSpPr txBox="1"/>
          <p:nvPr/>
        </p:nvSpPr>
        <p:spPr>
          <a:xfrm>
            <a:off x="8064500" y="2082800"/>
            <a:ext cx="457200" cy="355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</a:t>
            </a:r>
            <a:endParaRPr lang="zh-CN" altLang="en-US" sz="11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0" name="SCX_refine_text_112">
            <a:extLst>
              <a:ext uri="{FF2B5EF4-FFF2-40B4-BE49-F238E27FC236}">
                <a16:creationId xmlns:a16="http://schemas.microsoft.com/office/drawing/2014/main" id="{31DB5E78-6BD3-B17E-86B9-3C605475BF9E}"/>
              </a:ext>
            </a:extLst>
          </p:cNvPr>
          <p:cNvSpPr txBox="1"/>
          <p:nvPr/>
        </p:nvSpPr>
        <p:spPr>
          <a:xfrm>
            <a:off x="8585200" y="2019300"/>
            <a:ext cx="838200" cy="482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1E2C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成对验证</a:t>
            </a:r>
          </a:p>
        </p:txBody>
      </p:sp>
      <p:sp>
        <p:nvSpPr>
          <p:cNvPr id="111" name="SCX_refine_text_113">
            <a:extLst>
              <a:ext uri="{FF2B5EF4-FFF2-40B4-BE49-F238E27FC236}">
                <a16:creationId xmlns:a16="http://schemas.microsoft.com/office/drawing/2014/main" id="{E51E8781-78DE-69A8-3A4C-234734BA7494}"/>
              </a:ext>
            </a:extLst>
          </p:cNvPr>
          <p:cNvSpPr txBox="1"/>
          <p:nvPr/>
        </p:nvSpPr>
        <p:spPr>
          <a:xfrm>
            <a:off x="8064500" y="2590800"/>
            <a:ext cx="1346200" cy="736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baseline → candidate
same fingerprint</a:t>
            </a:r>
            <a:endParaRPr lang="zh-CN" altLang="en-US" sz="1200">
              <a:solidFill>
                <a:srgbClr val="5B69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2" name="SCX_refine_rect_114">
            <a:extLst>
              <a:ext uri="{FF2B5EF4-FFF2-40B4-BE49-F238E27FC236}">
                <a16:creationId xmlns:a16="http://schemas.microsoft.com/office/drawing/2014/main" id="{02CECF54-DB4F-514A-680D-F2A6AD66C6F3}"/>
              </a:ext>
            </a:extLst>
          </p:cNvPr>
          <p:cNvSpPr/>
          <p:nvPr/>
        </p:nvSpPr>
        <p:spPr>
          <a:xfrm>
            <a:off x="8064500" y="3543300"/>
            <a:ext cx="1346200" cy="330200"/>
          </a:xfrm>
          <a:prstGeom prst="roundRect">
            <a:avLst/>
          </a:prstGeom>
          <a:solidFill>
            <a:srgbClr val="EBF1FC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EBF1FC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SCX_refine_text_115">
            <a:extLst>
              <a:ext uri="{FF2B5EF4-FFF2-40B4-BE49-F238E27FC236}">
                <a16:creationId xmlns:a16="http://schemas.microsoft.com/office/drawing/2014/main" id="{C068F4BC-B0E2-32E1-D72E-6FAD58815326}"/>
              </a:ext>
            </a:extLst>
          </p:cNvPr>
          <p:cNvSpPr txBox="1"/>
          <p:nvPr/>
        </p:nvSpPr>
        <p:spPr>
          <a:xfrm>
            <a:off x="8064500" y="3543300"/>
            <a:ext cx="1346200" cy="3302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95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bench</a:t>
            </a:r>
            <a:endParaRPr lang="zh-CN" altLang="en-US" sz="950" b="1">
              <a:solidFill>
                <a:srgbClr val="0F225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4" name="SCX_refine_rect_116">
            <a:extLst>
              <a:ext uri="{FF2B5EF4-FFF2-40B4-BE49-F238E27FC236}">
                <a16:creationId xmlns:a16="http://schemas.microsoft.com/office/drawing/2014/main" id="{35914062-D8A3-9A4E-F385-BEE67F4E8709}"/>
              </a:ext>
            </a:extLst>
          </p:cNvPr>
          <p:cNvSpPr/>
          <p:nvPr/>
        </p:nvSpPr>
        <p:spPr>
          <a:xfrm>
            <a:off x="9715500" y="1841500"/>
            <a:ext cx="1651000" cy="226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SCX_refine_rect_117">
            <a:extLst>
              <a:ext uri="{FF2B5EF4-FFF2-40B4-BE49-F238E27FC236}">
                <a16:creationId xmlns:a16="http://schemas.microsoft.com/office/drawing/2014/main" id="{1D1FC63E-225D-FF58-0382-073F499DCB57}"/>
              </a:ext>
            </a:extLst>
          </p:cNvPr>
          <p:cNvSpPr/>
          <p:nvPr/>
        </p:nvSpPr>
        <p:spPr>
          <a:xfrm>
            <a:off x="9715500" y="1841500"/>
            <a:ext cx="1651000" cy="88900"/>
          </a:xfrm>
          <a:prstGeom prst="rect">
            <a:avLst/>
          </a:prstGeom>
          <a:solidFill>
            <a:srgbClr val="0F2256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0F2256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SCX_refine_rect_118">
            <a:extLst>
              <a:ext uri="{FF2B5EF4-FFF2-40B4-BE49-F238E27FC236}">
                <a16:creationId xmlns:a16="http://schemas.microsoft.com/office/drawing/2014/main" id="{48C8EF75-458C-1A50-C915-883B1D283DD2}"/>
              </a:ext>
            </a:extLst>
          </p:cNvPr>
          <p:cNvSpPr/>
          <p:nvPr/>
        </p:nvSpPr>
        <p:spPr>
          <a:xfrm>
            <a:off x="9867900" y="2082800"/>
            <a:ext cx="457200" cy="355600"/>
          </a:xfrm>
          <a:prstGeom prst="roundRect">
            <a:avLst/>
          </a:prstGeom>
          <a:solidFill>
            <a:srgbClr val="0F2256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0F2256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SCX_refine_text_119">
            <a:extLst>
              <a:ext uri="{FF2B5EF4-FFF2-40B4-BE49-F238E27FC236}">
                <a16:creationId xmlns:a16="http://schemas.microsoft.com/office/drawing/2014/main" id="{8B44F863-F0AC-2853-30F3-1EF510B4D568}"/>
              </a:ext>
            </a:extLst>
          </p:cNvPr>
          <p:cNvSpPr txBox="1"/>
          <p:nvPr/>
        </p:nvSpPr>
        <p:spPr>
          <a:xfrm>
            <a:off x="9867900" y="2082800"/>
            <a:ext cx="457200" cy="355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06</a:t>
            </a:r>
            <a:endParaRPr lang="zh-CN" altLang="en-US" sz="11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8" name="SCX_refine_text_120">
            <a:extLst>
              <a:ext uri="{FF2B5EF4-FFF2-40B4-BE49-F238E27FC236}">
                <a16:creationId xmlns:a16="http://schemas.microsoft.com/office/drawing/2014/main" id="{EAFC42D6-3A60-B0E8-7AE6-0C64A5466997}"/>
              </a:ext>
            </a:extLst>
          </p:cNvPr>
          <p:cNvSpPr txBox="1"/>
          <p:nvPr/>
        </p:nvSpPr>
        <p:spPr>
          <a:xfrm>
            <a:off x="10388600" y="2019300"/>
            <a:ext cx="838200" cy="482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1E2C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提交或恢复</a:t>
            </a:r>
          </a:p>
        </p:txBody>
      </p:sp>
      <p:sp>
        <p:nvSpPr>
          <p:cNvPr id="119" name="SCX_refine_text_121">
            <a:extLst>
              <a:ext uri="{FF2B5EF4-FFF2-40B4-BE49-F238E27FC236}">
                <a16:creationId xmlns:a16="http://schemas.microsoft.com/office/drawing/2014/main" id="{C4A0CE81-3AD3-65B3-FB02-4A89B2DBE649}"/>
              </a:ext>
            </a:extLst>
          </p:cNvPr>
          <p:cNvSpPr txBox="1"/>
          <p:nvPr/>
        </p:nvSpPr>
        <p:spPr>
          <a:xfrm>
            <a:off x="9867900" y="2590800"/>
            <a:ext cx="1346200" cy="736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seal / rollback
</a:t>
            </a:r>
            <a:r>
              <a:rPr lang="zh-CN" altLang="en-US" sz="12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完整 </a:t>
            </a:r>
            <a:r>
              <a:rPr lang="en-US" altLang="zh-CN" sz="12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evidence</a:t>
            </a:r>
            <a:endParaRPr lang="zh-CN" altLang="en-US" sz="1200">
              <a:solidFill>
                <a:srgbClr val="5B69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0" name="SCX_refine_rect_122">
            <a:extLst>
              <a:ext uri="{FF2B5EF4-FFF2-40B4-BE49-F238E27FC236}">
                <a16:creationId xmlns:a16="http://schemas.microsoft.com/office/drawing/2014/main" id="{C0317041-30B1-D679-CB55-58CFF382F78D}"/>
              </a:ext>
            </a:extLst>
          </p:cNvPr>
          <p:cNvSpPr/>
          <p:nvPr/>
        </p:nvSpPr>
        <p:spPr>
          <a:xfrm>
            <a:off x="9867900" y="3543300"/>
            <a:ext cx="1346200" cy="330200"/>
          </a:xfrm>
          <a:prstGeom prst="roundRect">
            <a:avLst/>
          </a:prstGeom>
          <a:solidFill>
            <a:srgbClr val="EBF1FC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EBF1FC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SCX_refine_text_123">
            <a:extLst>
              <a:ext uri="{FF2B5EF4-FFF2-40B4-BE49-F238E27FC236}">
                <a16:creationId xmlns:a16="http://schemas.microsoft.com/office/drawing/2014/main" id="{EF044D5A-6B05-738D-0D84-8CA74FF2C4BF}"/>
              </a:ext>
            </a:extLst>
          </p:cNvPr>
          <p:cNvSpPr txBox="1"/>
          <p:nvPr/>
        </p:nvSpPr>
        <p:spPr>
          <a:xfrm>
            <a:off x="9867900" y="3543300"/>
            <a:ext cx="1346200" cy="3302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95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Runtime</a:t>
            </a:r>
            <a:endParaRPr lang="zh-CN" altLang="en-US" sz="950" b="1">
              <a:solidFill>
                <a:srgbClr val="0F225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2" name="SCX_refine_rect_124">
            <a:extLst>
              <a:ext uri="{FF2B5EF4-FFF2-40B4-BE49-F238E27FC236}">
                <a16:creationId xmlns:a16="http://schemas.microsoft.com/office/drawing/2014/main" id="{023E9763-E25F-3E97-D1DE-D67F949F84CB}"/>
              </a:ext>
            </a:extLst>
          </p:cNvPr>
          <p:cNvSpPr/>
          <p:nvPr/>
        </p:nvSpPr>
        <p:spPr>
          <a:xfrm>
            <a:off x="698500" y="4445000"/>
            <a:ext cx="3302000" cy="863600"/>
          </a:xfrm>
          <a:prstGeom prst="roundRect">
            <a:avLst/>
          </a:prstGeom>
          <a:solidFill>
            <a:srgbClr val="EBF8F2"/>
          </a:solidFill>
          <a:ln w="12700">
            <a:solidFill>
              <a:srgbClr val="1891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SCX_refine_text_125">
            <a:extLst>
              <a:ext uri="{FF2B5EF4-FFF2-40B4-BE49-F238E27FC236}">
                <a16:creationId xmlns:a16="http://schemas.microsoft.com/office/drawing/2014/main" id="{8ACDB02C-DB3F-B7C9-D690-D949B1BCF0CD}"/>
              </a:ext>
            </a:extLst>
          </p:cNvPr>
          <p:cNvSpPr txBox="1"/>
          <p:nvPr/>
        </p:nvSpPr>
        <p:spPr>
          <a:xfrm>
            <a:off x="850900" y="4521200"/>
            <a:ext cx="2997200" cy="3429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400" b="1">
                <a:solidFill>
                  <a:srgbClr val="0F2256"/>
                </a:solidFill>
                <a:latin typeface="Arial" panose="020B0604020202020204" pitchFamily="34" charset="0"/>
              </a:rPr>
              <a:t>CommitSealed</a:t>
            </a:r>
            <a:endParaRPr lang="zh-CN" altLang="en-US" sz="1400" b="1">
              <a:solidFill>
                <a:srgbClr val="0F2256"/>
              </a:solidFill>
              <a:latin typeface="Arial" panose="020B0604020202020204" pitchFamily="34" charset="0"/>
            </a:endParaRPr>
          </a:p>
        </p:txBody>
      </p:sp>
      <p:sp>
        <p:nvSpPr>
          <p:cNvPr id="124" name="SCX_refine_text_126">
            <a:extLst>
              <a:ext uri="{FF2B5EF4-FFF2-40B4-BE49-F238E27FC236}">
                <a16:creationId xmlns:a16="http://schemas.microsoft.com/office/drawing/2014/main" id="{0456CD9F-262D-00F1-EA21-2E0B39260E74}"/>
              </a:ext>
            </a:extLst>
          </p:cNvPr>
          <p:cNvSpPr txBox="1"/>
          <p:nvPr/>
        </p:nvSpPr>
        <p:spPr>
          <a:xfrm>
            <a:off x="850900" y="4864100"/>
            <a:ext cx="2997200" cy="3429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1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改善且 </a:t>
            </a:r>
            <a:r>
              <a:rPr lang="en-US" altLang="zh-CN" sz="11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guardrail </a:t>
            </a:r>
            <a:r>
              <a:rPr lang="zh-CN" altLang="en-US" sz="11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</a:t>
            </a:r>
          </a:p>
        </p:txBody>
      </p:sp>
      <p:sp>
        <p:nvSpPr>
          <p:cNvPr id="125" name="SCX_refine_rect_127">
            <a:extLst>
              <a:ext uri="{FF2B5EF4-FFF2-40B4-BE49-F238E27FC236}">
                <a16:creationId xmlns:a16="http://schemas.microsoft.com/office/drawing/2014/main" id="{993235F1-471E-0C83-4E51-B41C55C5F518}"/>
              </a:ext>
            </a:extLst>
          </p:cNvPr>
          <p:cNvSpPr/>
          <p:nvPr/>
        </p:nvSpPr>
        <p:spPr>
          <a:xfrm>
            <a:off x="4191000" y="4445000"/>
            <a:ext cx="3302000" cy="863600"/>
          </a:xfrm>
          <a:prstGeom prst="roundRect">
            <a:avLst/>
          </a:prstGeom>
          <a:solidFill>
            <a:srgbClr val="FDEFF1"/>
          </a:solidFill>
          <a:ln w="12700">
            <a:solidFill>
              <a:srgbClr val="C243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SCX_refine_text_128">
            <a:extLst>
              <a:ext uri="{FF2B5EF4-FFF2-40B4-BE49-F238E27FC236}">
                <a16:creationId xmlns:a16="http://schemas.microsoft.com/office/drawing/2014/main" id="{4897EBC4-AF00-A7C2-491D-AF2BFFAB5166}"/>
              </a:ext>
            </a:extLst>
          </p:cNvPr>
          <p:cNvSpPr txBox="1"/>
          <p:nvPr/>
        </p:nvSpPr>
        <p:spPr>
          <a:xfrm>
            <a:off x="4343400" y="4521200"/>
            <a:ext cx="2997200" cy="3429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400" b="1">
                <a:solidFill>
                  <a:srgbClr val="0F2256"/>
                </a:solidFill>
                <a:latin typeface="Arial" panose="020B0604020202020204" pitchFamily="34" charset="0"/>
              </a:rPr>
              <a:t>Rollback</a:t>
            </a:r>
            <a:endParaRPr lang="zh-CN" altLang="en-US" sz="1400" b="1">
              <a:solidFill>
                <a:srgbClr val="0F2256"/>
              </a:solidFill>
              <a:latin typeface="Arial" panose="020B0604020202020204" pitchFamily="34" charset="0"/>
            </a:endParaRPr>
          </a:p>
        </p:txBody>
      </p:sp>
      <p:sp>
        <p:nvSpPr>
          <p:cNvPr id="127" name="SCX_refine_text_129">
            <a:extLst>
              <a:ext uri="{FF2B5EF4-FFF2-40B4-BE49-F238E27FC236}">
                <a16:creationId xmlns:a16="http://schemas.microsoft.com/office/drawing/2014/main" id="{CFB96B26-0802-13F3-E3E4-233624062ADD}"/>
              </a:ext>
            </a:extLst>
          </p:cNvPr>
          <p:cNvSpPr txBox="1"/>
          <p:nvPr/>
        </p:nvSpPr>
        <p:spPr>
          <a:xfrm>
            <a:off x="4343400" y="4864100"/>
            <a:ext cx="2997200" cy="3429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1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无改善或 </a:t>
            </a:r>
            <a:r>
              <a:rPr lang="en-US" altLang="zh-CN" sz="11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guardrail </a:t>
            </a:r>
            <a:r>
              <a:rPr lang="zh-CN" altLang="en-US" sz="11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失败</a:t>
            </a:r>
          </a:p>
        </p:txBody>
      </p:sp>
      <p:sp>
        <p:nvSpPr>
          <p:cNvPr id="128" name="SCX_refine_rect_130">
            <a:extLst>
              <a:ext uri="{FF2B5EF4-FFF2-40B4-BE49-F238E27FC236}">
                <a16:creationId xmlns:a16="http://schemas.microsoft.com/office/drawing/2014/main" id="{3D3493F7-8EDC-014D-42A1-DF370D4D29BE}"/>
              </a:ext>
            </a:extLst>
          </p:cNvPr>
          <p:cNvSpPr/>
          <p:nvPr/>
        </p:nvSpPr>
        <p:spPr>
          <a:xfrm>
            <a:off x="7683500" y="4445000"/>
            <a:ext cx="3810000" cy="863600"/>
          </a:xfrm>
          <a:prstGeom prst="roundRect">
            <a:avLst/>
          </a:prstGeom>
          <a:solidFill>
            <a:srgbClr val="EBF1FC"/>
          </a:solidFill>
          <a:ln w="12700">
            <a:solidFill>
              <a:srgbClr val="0F22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SCX_refine_text_131">
            <a:extLst>
              <a:ext uri="{FF2B5EF4-FFF2-40B4-BE49-F238E27FC236}">
                <a16:creationId xmlns:a16="http://schemas.microsoft.com/office/drawing/2014/main" id="{1C086D02-8AED-0ECB-C726-C74BABD583C0}"/>
              </a:ext>
            </a:extLst>
          </p:cNvPr>
          <p:cNvSpPr txBox="1"/>
          <p:nvPr/>
        </p:nvSpPr>
        <p:spPr>
          <a:xfrm>
            <a:off x="7835900" y="4521200"/>
            <a:ext cx="3505200" cy="3429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400" b="1">
                <a:solidFill>
                  <a:srgbClr val="0F2256"/>
                </a:solidFill>
                <a:latin typeface="Arial" panose="020B0604020202020204" pitchFamily="34" charset="0"/>
              </a:rPr>
              <a:t>RecoveryRequired</a:t>
            </a:r>
            <a:endParaRPr lang="zh-CN" altLang="en-US" sz="1400" b="1">
              <a:solidFill>
                <a:srgbClr val="0F2256"/>
              </a:solidFill>
              <a:latin typeface="Arial" panose="020B0604020202020204" pitchFamily="34" charset="0"/>
            </a:endParaRPr>
          </a:p>
        </p:txBody>
      </p:sp>
      <p:sp>
        <p:nvSpPr>
          <p:cNvPr id="130" name="SCX_refine_text_132">
            <a:extLst>
              <a:ext uri="{FF2B5EF4-FFF2-40B4-BE49-F238E27FC236}">
                <a16:creationId xmlns:a16="http://schemas.microsoft.com/office/drawing/2014/main" id="{7ACEEC65-03BA-9A4E-160D-5D5381B3F062}"/>
              </a:ext>
            </a:extLst>
          </p:cNvPr>
          <p:cNvSpPr txBox="1"/>
          <p:nvPr/>
        </p:nvSpPr>
        <p:spPr>
          <a:xfrm>
            <a:off x="7835900" y="4864100"/>
            <a:ext cx="3505200" cy="3429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1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状态无法证明，冻结新激活</a:t>
            </a:r>
          </a:p>
        </p:txBody>
      </p:sp>
      <p:sp>
        <p:nvSpPr>
          <p:cNvPr id="131" name="SCX_refine_rect_133">
            <a:extLst>
              <a:ext uri="{FF2B5EF4-FFF2-40B4-BE49-F238E27FC236}">
                <a16:creationId xmlns:a16="http://schemas.microsoft.com/office/drawing/2014/main" id="{15061957-22CF-1E06-7ADB-3A1AE2601EB6}"/>
              </a:ext>
            </a:extLst>
          </p:cNvPr>
          <p:cNvSpPr/>
          <p:nvPr/>
        </p:nvSpPr>
        <p:spPr>
          <a:xfrm>
            <a:off x="698500" y="5562600"/>
            <a:ext cx="10795000" cy="457200"/>
          </a:xfrm>
          <a:prstGeom prst="roundRect">
            <a:avLst/>
          </a:prstGeom>
          <a:solidFill>
            <a:srgbClr val="EBF1FC"/>
          </a:solidFill>
          <a:ln w="17780">
            <a:solidFill>
              <a:srgbClr val="2757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SCX_refine_text_134">
            <a:extLst>
              <a:ext uri="{FF2B5EF4-FFF2-40B4-BE49-F238E27FC236}">
                <a16:creationId xmlns:a16="http://schemas.microsoft.com/office/drawing/2014/main" id="{65199B92-8B0E-0855-2C9C-1EC35C3FAFF4}"/>
              </a:ext>
            </a:extLst>
          </p:cNvPr>
          <p:cNvSpPr txBox="1"/>
          <p:nvPr/>
        </p:nvSpPr>
        <p:spPr>
          <a:xfrm>
            <a:off x="889000" y="5588000"/>
            <a:ext cx="10414000" cy="3937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3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控制面提出受限变更，执行面落实调度策略，证据面独立验证结果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技术难点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194300" y="3632200"/>
            <a:ext cx="5461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zh-CN" altLang="en-US" sz="15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聚焦两项核心权衡：</a:t>
            </a:r>
            <a:r>
              <a:rPr lang="en-US" altLang="zh-CN" sz="15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lang="zh-CN" altLang="en-US" sz="15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灵活性与稳定可控、</a:t>
            </a:r>
            <a:r>
              <a:rPr lang="en-US" altLang="zh-CN" sz="15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LATENCY </a:t>
            </a:r>
            <a:r>
              <a:rPr lang="zh-CN" altLang="en-US" sz="15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优先与类别公平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5194300" y="4292600"/>
            <a:ext cx="3441700" cy="0"/>
          </a:xfrm>
          <a:prstGeom prst="line">
            <a:avLst/>
          </a:prstGeom>
          <a:ln w="25400" cap="flat" cmpd="sng" algn="ctr">
            <a:solidFill>
              <a:srgbClr val="13C7EF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55" y="522605"/>
            <a:ext cx="7624445" cy="491490"/>
          </a:xfrm>
        </p:spPr>
        <p:txBody>
          <a:bodyPr/>
          <a:lstStyle/>
          <a:p>
            <a:r>
              <a:rPr lang="en-US" altLang="zh-CN"/>
              <a:t>3.1  Agent </a:t>
            </a:r>
            <a:r>
              <a:rPr lang="zh-CN" altLang="en-US"/>
              <a:t>灵活性与稳定可控的权衡</a:t>
            </a:r>
            <a:endParaRPr lang="zh-CN" altLang="en-US" dirty="0"/>
          </a:p>
        </p:txBody>
      </p:sp>
      <p:sp>
        <p:nvSpPr>
          <p:cNvPr id="14" name="SCX_instruction_text_55">
            <a:extLst>
              <a:ext uri="{FF2B5EF4-FFF2-40B4-BE49-F238E27FC236}">
                <a16:creationId xmlns:a16="http://schemas.microsoft.com/office/drawing/2014/main" id="{A2D86FDF-556F-E5BC-2EF4-FC1381D873CC}"/>
              </a:ext>
            </a:extLst>
          </p:cNvPr>
          <p:cNvSpPr txBox="1"/>
          <p:nvPr/>
        </p:nvSpPr>
        <p:spPr>
          <a:xfrm>
            <a:off x="698500" y="1181100"/>
            <a:ext cx="10795000" cy="3810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zh-CN" altLang="en-US" sz="16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开放式推理能够适应复杂负载，但系统副作用必须确定、可恢复、可审计。</a:t>
            </a:r>
          </a:p>
        </p:txBody>
      </p:sp>
      <p:sp>
        <p:nvSpPr>
          <p:cNvPr id="15" name="SCX_instruction_rect_56">
            <a:extLst>
              <a:ext uri="{FF2B5EF4-FFF2-40B4-BE49-F238E27FC236}">
                <a16:creationId xmlns:a16="http://schemas.microsoft.com/office/drawing/2014/main" id="{72444EBA-840B-4AAC-9CE8-38CC359AFDB1}"/>
              </a:ext>
            </a:extLst>
          </p:cNvPr>
          <p:cNvSpPr/>
          <p:nvPr/>
        </p:nvSpPr>
        <p:spPr>
          <a:xfrm>
            <a:off x="698500" y="1841500"/>
            <a:ext cx="4191000" cy="1625600"/>
          </a:xfrm>
          <a:prstGeom prst="roundRect">
            <a:avLst/>
          </a:prstGeom>
          <a:solidFill>
            <a:srgbClr val="EBF1FC"/>
          </a:solidFill>
          <a:ln w="15240">
            <a:solidFill>
              <a:srgbClr val="2757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SCX_instruction_text_57">
            <a:extLst>
              <a:ext uri="{FF2B5EF4-FFF2-40B4-BE49-F238E27FC236}">
                <a16:creationId xmlns:a16="http://schemas.microsoft.com/office/drawing/2014/main" id="{4C4B482C-29E4-1707-0B53-74456C1C0120}"/>
              </a:ext>
            </a:extLst>
          </p:cNvPr>
          <p:cNvSpPr txBox="1"/>
          <p:nvPr/>
        </p:nvSpPr>
        <p:spPr>
          <a:xfrm>
            <a:off x="952500" y="2032000"/>
            <a:ext cx="3683000" cy="4064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20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策略灵活性</a:t>
            </a:r>
          </a:p>
        </p:txBody>
      </p:sp>
      <p:sp>
        <p:nvSpPr>
          <p:cNvPr id="27" name="SCX_instruction_text_58">
            <a:extLst>
              <a:ext uri="{FF2B5EF4-FFF2-40B4-BE49-F238E27FC236}">
                <a16:creationId xmlns:a16="http://schemas.microsoft.com/office/drawing/2014/main" id="{6B0CF717-1E6A-1B27-A4E8-B27E31A0AE3E}"/>
              </a:ext>
            </a:extLst>
          </p:cNvPr>
          <p:cNvSpPr txBox="1"/>
          <p:nvPr/>
        </p:nvSpPr>
        <p:spPr>
          <a:xfrm>
            <a:off x="1041400" y="2590800"/>
            <a:ext cx="3505200" cy="6985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LLM </a:t>
            </a:r>
            <a:r>
              <a:rPr lang="zh-CN" altLang="en-US" sz="12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处理开放目标与多信号
</a:t>
            </a:r>
            <a:r>
              <a:rPr lang="en-US" altLang="zh-CN" sz="12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Provider </a:t>
            </a:r>
            <a:r>
              <a:rPr lang="zh-CN" altLang="en-US" sz="12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可持续扩展新的调优能力</a:t>
            </a:r>
          </a:p>
        </p:txBody>
      </p:sp>
      <p:sp>
        <p:nvSpPr>
          <p:cNvPr id="28" name="SCX_instruction_rect_59">
            <a:extLst>
              <a:ext uri="{FF2B5EF4-FFF2-40B4-BE49-F238E27FC236}">
                <a16:creationId xmlns:a16="http://schemas.microsoft.com/office/drawing/2014/main" id="{A7BDFDD8-4B0B-8763-D8EA-8AEB32802430}"/>
              </a:ext>
            </a:extLst>
          </p:cNvPr>
          <p:cNvSpPr/>
          <p:nvPr/>
        </p:nvSpPr>
        <p:spPr>
          <a:xfrm>
            <a:off x="7302500" y="1841500"/>
            <a:ext cx="4191000" cy="1625600"/>
          </a:xfrm>
          <a:prstGeom prst="roundRect">
            <a:avLst/>
          </a:prstGeom>
          <a:solidFill>
            <a:srgbClr val="EBF1FC"/>
          </a:solidFill>
          <a:ln w="15240">
            <a:solidFill>
              <a:srgbClr val="2757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SCX_instruction_text_60">
            <a:extLst>
              <a:ext uri="{FF2B5EF4-FFF2-40B4-BE49-F238E27FC236}">
                <a16:creationId xmlns:a16="http://schemas.microsoft.com/office/drawing/2014/main" id="{635728E3-2BDE-743D-F53E-6E0C9591EA1E}"/>
              </a:ext>
            </a:extLst>
          </p:cNvPr>
          <p:cNvSpPr txBox="1"/>
          <p:nvPr/>
        </p:nvSpPr>
        <p:spPr>
          <a:xfrm>
            <a:off x="7556500" y="2032000"/>
            <a:ext cx="3683000" cy="4064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20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稳定可控</a:t>
            </a:r>
          </a:p>
        </p:txBody>
      </p:sp>
      <p:sp>
        <p:nvSpPr>
          <p:cNvPr id="30" name="SCX_instruction_text_61">
            <a:extLst>
              <a:ext uri="{FF2B5EF4-FFF2-40B4-BE49-F238E27FC236}">
                <a16:creationId xmlns:a16="http://schemas.microsoft.com/office/drawing/2014/main" id="{45A6036E-AAAB-BA86-E920-3A983CE99300}"/>
              </a:ext>
            </a:extLst>
          </p:cNvPr>
          <p:cNvSpPr txBox="1"/>
          <p:nvPr/>
        </p:nvSpPr>
        <p:spPr>
          <a:xfrm>
            <a:off x="7645400" y="2590800"/>
            <a:ext cx="3505200" cy="6985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2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权限必须有界，变更必须可逆
评价标准固定，异常状态默认闭锁</a:t>
            </a:r>
          </a:p>
        </p:txBody>
      </p:sp>
      <p:cxnSp>
        <p:nvCxnSpPr>
          <p:cNvPr id="31" name="SCX_instruction_line_62">
            <a:extLst>
              <a:ext uri="{FF2B5EF4-FFF2-40B4-BE49-F238E27FC236}">
                <a16:creationId xmlns:a16="http://schemas.microsoft.com/office/drawing/2014/main" id="{9E1DAA36-F0A7-F845-2F1C-6A8C25DB69A0}"/>
              </a:ext>
            </a:extLst>
          </p:cNvPr>
          <p:cNvCxnSpPr/>
          <p:nvPr/>
        </p:nvCxnSpPr>
        <p:spPr>
          <a:xfrm>
            <a:off x="4953000" y="2654300"/>
            <a:ext cx="698500" cy="0"/>
          </a:xfrm>
          <a:prstGeom prst="line">
            <a:avLst/>
          </a:prstGeom>
          <a:ln w="25400">
            <a:solidFill>
              <a:srgbClr val="C2CDE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CX_instruction_line_63">
            <a:extLst>
              <a:ext uri="{FF2B5EF4-FFF2-40B4-BE49-F238E27FC236}">
                <a16:creationId xmlns:a16="http://schemas.microsoft.com/office/drawing/2014/main" id="{037CC1BB-81BC-AB6D-25CF-5120DCC48550}"/>
              </a:ext>
            </a:extLst>
          </p:cNvPr>
          <p:cNvCxnSpPr/>
          <p:nvPr/>
        </p:nvCxnSpPr>
        <p:spPr>
          <a:xfrm flipH="1">
            <a:off x="6540500" y="2654300"/>
            <a:ext cx="698500" cy="0"/>
          </a:xfrm>
          <a:prstGeom prst="line">
            <a:avLst/>
          </a:prstGeom>
          <a:ln w="25400">
            <a:solidFill>
              <a:srgbClr val="C2CDE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SCX_instruction_rect_64">
            <a:extLst>
              <a:ext uri="{FF2B5EF4-FFF2-40B4-BE49-F238E27FC236}">
                <a16:creationId xmlns:a16="http://schemas.microsoft.com/office/drawing/2014/main" id="{8CED3759-620F-6892-BFA6-7BF14C8BEDFC}"/>
              </a:ext>
            </a:extLst>
          </p:cNvPr>
          <p:cNvSpPr/>
          <p:nvPr/>
        </p:nvSpPr>
        <p:spPr>
          <a:xfrm>
            <a:off x="5651500" y="1841500"/>
            <a:ext cx="889000" cy="1625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757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SCX_instruction_text_65">
            <a:extLst>
              <a:ext uri="{FF2B5EF4-FFF2-40B4-BE49-F238E27FC236}">
                <a16:creationId xmlns:a16="http://schemas.microsoft.com/office/drawing/2014/main" id="{CF93179B-C1E6-290A-00D6-FCE4A083A973}"/>
              </a:ext>
            </a:extLst>
          </p:cNvPr>
          <p:cNvSpPr txBox="1"/>
          <p:nvPr/>
        </p:nvSpPr>
        <p:spPr>
          <a:xfrm>
            <a:off x="5715000" y="2209800"/>
            <a:ext cx="762000" cy="8890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2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机制
与
策略分离</a:t>
            </a:r>
          </a:p>
        </p:txBody>
      </p:sp>
      <p:sp>
        <p:nvSpPr>
          <p:cNvPr id="54" name="SCX_instruction_rect_66">
            <a:extLst>
              <a:ext uri="{FF2B5EF4-FFF2-40B4-BE49-F238E27FC236}">
                <a16:creationId xmlns:a16="http://schemas.microsoft.com/office/drawing/2014/main" id="{608FBB5F-B80D-2301-C62E-0D04816CF0F4}"/>
              </a:ext>
            </a:extLst>
          </p:cNvPr>
          <p:cNvSpPr/>
          <p:nvPr/>
        </p:nvSpPr>
        <p:spPr>
          <a:xfrm>
            <a:off x="698500" y="3835400"/>
            <a:ext cx="10795000" cy="17653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SCX_instruction_text_67">
            <a:extLst>
              <a:ext uri="{FF2B5EF4-FFF2-40B4-BE49-F238E27FC236}">
                <a16:creationId xmlns:a16="http://schemas.microsoft.com/office/drawing/2014/main" id="{AFF143BE-ABAE-1844-60AC-1DA611C7E93E}"/>
              </a:ext>
            </a:extLst>
          </p:cNvPr>
          <p:cNvSpPr txBox="1"/>
          <p:nvPr/>
        </p:nvSpPr>
        <p:spPr>
          <a:xfrm>
            <a:off x="952500" y="3975100"/>
            <a:ext cx="10287000" cy="355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Trusted Runtime </a:t>
            </a:r>
            <a:r>
              <a:rPr lang="zh-CN" altLang="en-US" sz="17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负责不可交给模型的确定性机制</a:t>
            </a:r>
          </a:p>
        </p:txBody>
      </p:sp>
      <p:sp>
        <p:nvSpPr>
          <p:cNvPr id="56" name="SCX_instruction_rect_68">
            <a:extLst>
              <a:ext uri="{FF2B5EF4-FFF2-40B4-BE49-F238E27FC236}">
                <a16:creationId xmlns:a16="http://schemas.microsoft.com/office/drawing/2014/main" id="{567DFB89-B548-AAC1-5D8E-23D616599F09}"/>
              </a:ext>
            </a:extLst>
          </p:cNvPr>
          <p:cNvSpPr/>
          <p:nvPr/>
        </p:nvSpPr>
        <p:spPr>
          <a:xfrm>
            <a:off x="952500" y="4457700"/>
            <a:ext cx="23495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SCX_instruction_text_69">
            <a:extLst>
              <a:ext uri="{FF2B5EF4-FFF2-40B4-BE49-F238E27FC236}">
                <a16:creationId xmlns:a16="http://schemas.microsoft.com/office/drawing/2014/main" id="{D4B812BB-98E2-7458-B3E4-31989700C625}"/>
              </a:ext>
            </a:extLst>
          </p:cNvPr>
          <p:cNvSpPr txBox="1"/>
          <p:nvPr/>
        </p:nvSpPr>
        <p:spPr>
          <a:xfrm>
            <a:off x="1054100" y="4508500"/>
            <a:ext cx="2146300" cy="355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3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能力快照</a:t>
            </a:r>
          </a:p>
        </p:txBody>
      </p:sp>
      <p:sp>
        <p:nvSpPr>
          <p:cNvPr id="58" name="SCX_instruction_text_70">
            <a:extLst>
              <a:ext uri="{FF2B5EF4-FFF2-40B4-BE49-F238E27FC236}">
                <a16:creationId xmlns:a16="http://schemas.microsoft.com/office/drawing/2014/main" id="{2856A9B0-035C-9303-C6C0-971271D6EEF7}"/>
              </a:ext>
            </a:extLst>
          </p:cNvPr>
          <p:cNvSpPr txBox="1"/>
          <p:nvPr/>
        </p:nvSpPr>
        <p:spPr>
          <a:xfrm>
            <a:off x="1054100" y="4889500"/>
            <a:ext cx="2146300" cy="3429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9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只暴露当前阶段允许的工具</a:t>
            </a:r>
          </a:p>
        </p:txBody>
      </p:sp>
      <p:sp>
        <p:nvSpPr>
          <p:cNvPr id="59" name="SCX_instruction_rect_71">
            <a:extLst>
              <a:ext uri="{FF2B5EF4-FFF2-40B4-BE49-F238E27FC236}">
                <a16:creationId xmlns:a16="http://schemas.microsoft.com/office/drawing/2014/main" id="{7E3A6C4E-40A0-51F3-B98A-8E39EC6B1C5C}"/>
              </a:ext>
            </a:extLst>
          </p:cNvPr>
          <p:cNvSpPr/>
          <p:nvPr/>
        </p:nvSpPr>
        <p:spPr>
          <a:xfrm>
            <a:off x="3556000" y="4457700"/>
            <a:ext cx="23495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SCX_instruction_text_72">
            <a:extLst>
              <a:ext uri="{FF2B5EF4-FFF2-40B4-BE49-F238E27FC236}">
                <a16:creationId xmlns:a16="http://schemas.microsoft.com/office/drawing/2014/main" id="{4251D671-88CC-29A0-C6FB-CA1D0C268AE5}"/>
              </a:ext>
            </a:extLst>
          </p:cNvPr>
          <p:cNvSpPr txBox="1"/>
          <p:nvPr/>
        </p:nvSpPr>
        <p:spPr>
          <a:xfrm>
            <a:off x="3657600" y="4508500"/>
            <a:ext cx="2146300" cy="355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3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Episode </a:t>
            </a:r>
            <a:r>
              <a:rPr lang="zh-CN" altLang="en-US" sz="13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状态机</a:t>
            </a:r>
          </a:p>
        </p:txBody>
      </p:sp>
      <p:sp>
        <p:nvSpPr>
          <p:cNvPr id="61" name="SCX_instruction_text_73">
            <a:extLst>
              <a:ext uri="{FF2B5EF4-FFF2-40B4-BE49-F238E27FC236}">
                <a16:creationId xmlns:a16="http://schemas.microsoft.com/office/drawing/2014/main" id="{08EC2CE8-298C-242A-D36E-95DA94737808}"/>
              </a:ext>
            </a:extLst>
          </p:cNvPr>
          <p:cNvSpPr txBox="1"/>
          <p:nvPr/>
        </p:nvSpPr>
        <p:spPr>
          <a:xfrm>
            <a:off x="3657600" y="4889500"/>
            <a:ext cx="2146300" cy="3429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9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单目标、阶段权限与失败闭锁</a:t>
            </a:r>
          </a:p>
        </p:txBody>
      </p:sp>
      <p:sp>
        <p:nvSpPr>
          <p:cNvPr id="62" name="SCX_instruction_rect_74">
            <a:extLst>
              <a:ext uri="{FF2B5EF4-FFF2-40B4-BE49-F238E27FC236}">
                <a16:creationId xmlns:a16="http://schemas.microsoft.com/office/drawing/2014/main" id="{512A2F28-AE86-B36A-234E-280451FDD810}"/>
              </a:ext>
            </a:extLst>
          </p:cNvPr>
          <p:cNvSpPr/>
          <p:nvPr/>
        </p:nvSpPr>
        <p:spPr>
          <a:xfrm>
            <a:off x="6159500" y="4457700"/>
            <a:ext cx="23495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SCX_instruction_text_75">
            <a:extLst>
              <a:ext uri="{FF2B5EF4-FFF2-40B4-BE49-F238E27FC236}">
                <a16:creationId xmlns:a16="http://schemas.microsoft.com/office/drawing/2014/main" id="{313F70E0-18AF-B680-A1AC-BE855C31FC8A}"/>
              </a:ext>
            </a:extLst>
          </p:cNvPr>
          <p:cNvSpPr txBox="1"/>
          <p:nvPr/>
        </p:nvSpPr>
        <p:spPr>
          <a:xfrm>
            <a:off x="6261100" y="4508500"/>
            <a:ext cx="2146300" cy="355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3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事务与恢复</a:t>
            </a:r>
          </a:p>
        </p:txBody>
      </p:sp>
      <p:sp>
        <p:nvSpPr>
          <p:cNvPr id="64" name="SCX_instruction_text_76">
            <a:extLst>
              <a:ext uri="{FF2B5EF4-FFF2-40B4-BE49-F238E27FC236}">
                <a16:creationId xmlns:a16="http://schemas.microsoft.com/office/drawing/2014/main" id="{CD96CB89-4972-25CF-3B9E-77B9EDDBFD3B}"/>
              </a:ext>
            </a:extLst>
          </p:cNvPr>
          <p:cNvSpPr txBox="1"/>
          <p:nvPr/>
        </p:nvSpPr>
        <p:spPr>
          <a:xfrm>
            <a:off x="6261100" y="4889500"/>
            <a:ext cx="2146300" cy="3429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9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baseline</a:t>
            </a:r>
            <a:r>
              <a:rPr lang="zh-CN" altLang="en-US" sz="9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9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WAL</a:t>
            </a:r>
            <a:r>
              <a:rPr lang="zh-CN" altLang="en-US" sz="9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9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verify</a:t>
            </a:r>
            <a:r>
              <a:rPr lang="zh-CN" altLang="en-US" sz="9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9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rollback</a:t>
            </a:r>
            <a:endParaRPr lang="zh-CN" altLang="en-US" sz="950">
              <a:solidFill>
                <a:srgbClr val="5B69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5" name="SCX_instruction_rect_77">
            <a:extLst>
              <a:ext uri="{FF2B5EF4-FFF2-40B4-BE49-F238E27FC236}">
                <a16:creationId xmlns:a16="http://schemas.microsoft.com/office/drawing/2014/main" id="{0B09BB5C-C728-470F-A42C-CBA84CF9508E}"/>
              </a:ext>
            </a:extLst>
          </p:cNvPr>
          <p:cNvSpPr/>
          <p:nvPr/>
        </p:nvSpPr>
        <p:spPr>
          <a:xfrm>
            <a:off x="8763000" y="4457700"/>
            <a:ext cx="23495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SCX_instruction_text_78">
            <a:extLst>
              <a:ext uri="{FF2B5EF4-FFF2-40B4-BE49-F238E27FC236}">
                <a16:creationId xmlns:a16="http://schemas.microsoft.com/office/drawing/2014/main" id="{99CBFDD8-BB43-99B3-9DDF-FCC72B22C272}"/>
              </a:ext>
            </a:extLst>
          </p:cNvPr>
          <p:cNvSpPr txBox="1"/>
          <p:nvPr/>
        </p:nvSpPr>
        <p:spPr>
          <a:xfrm>
            <a:off x="8864600" y="4508500"/>
            <a:ext cx="2146300" cy="355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3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评价与提交</a:t>
            </a:r>
          </a:p>
        </p:txBody>
      </p:sp>
      <p:sp>
        <p:nvSpPr>
          <p:cNvPr id="67" name="SCX_instruction_text_79">
            <a:extLst>
              <a:ext uri="{FF2B5EF4-FFF2-40B4-BE49-F238E27FC236}">
                <a16:creationId xmlns:a16="http://schemas.microsoft.com/office/drawing/2014/main" id="{5C973B2D-E352-6C54-142C-F6319CFE3BB6}"/>
              </a:ext>
            </a:extLst>
          </p:cNvPr>
          <p:cNvSpPr txBox="1"/>
          <p:nvPr/>
        </p:nvSpPr>
        <p:spPr>
          <a:xfrm>
            <a:off x="8864600" y="4889500"/>
            <a:ext cx="2146300" cy="3429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9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固定 </a:t>
            </a:r>
            <a:r>
              <a:rPr lang="en-US" altLang="zh-CN" sz="9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A/B</a:t>
            </a:r>
            <a:r>
              <a:rPr lang="zh-CN" altLang="en-US" sz="9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9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verdict</a:t>
            </a:r>
            <a:r>
              <a:rPr lang="zh-CN" altLang="en-US" sz="9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9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CommitSealed</a:t>
            </a:r>
            <a:endParaRPr lang="zh-CN" altLang="en-US" sz="950">
              <a:solidFill>
                <a:srgbClr val="5B69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8" name="SCX_instruction_rect_80">
            <a:extLst>
              <a:ext uri="{FF2B5EF4-FFF2-40B4-BE49-F238E27FC236}">
                <a16:creationId xmlns:a16="http://schemas.microsoft.com/office/drawing/2014/main" id="{3C3BCA46-33F7-5B51-A61C-4176DDBECF84}"/>
              </a:ext>
            </a:extLst>
          </p:cNvPr>
          <p:cNvSpPr/>
          <p:nvPr/>
        </p:nvSpPr>
        <p:spPr>
          <a:xfrm>
            <a:off x="698500" y="5816600"/>
            <a:ext cx="10795000" cy="406400"/>
          </a:xfrm>
          <a:prstGeom prst="roundRect">
            <a:avLst/>
          </a:prstGeom>
          <a:solidFill>
            <a:srgbClr val="EBF1FC"/>
          </a:solidFill>
          <a:ln w="12700">
            <a:solidFill>
              <a:srgbClr val="2757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SCX_instruction_text_81">
            <a:extLst>
              <a:ext uri="{FF2B5EF4-FFF2-40B4-BE49-F238E27FC236}">
                <a16:creationId xmlns:a16="http://schemas.microsoft.com/office/drawing/2014/main" id="{E6089711-C92D-782B-FE87-071D640CF38D}"/>
              </a:ext>
            </a:extLst>
          </p:cNvPr>
          <p:cNvSpPr txBox="1"/>
          <p:nvPr/>
        </p:nvSpPr>
        <p:spPr>
          <a:xfrm>
            <a:off x="889000" y="5829300"/>
            <a:ext cx="10414000" cy="3810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3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结果：模型保留策略自由，副作用、评判、恢复和最终提交归 </a:t>
            </a:r>
            <a:r>
              <a:rPr lang="en-US" altLang="zh-CN" sz="13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Runtime</a:t>
            </a:r>
            <a:r>
              <a:rPr lang="zh-CN" altLang="en-US" sz="13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55" y="522605"/>
            <a:ext cx="7624445" cy="491490"/>
          </a:xfrm>
        </p:spPr>
        <p:txBody>
          <a:bodyPr/>
          <a:lstStyle/>
          <a:p>
            <a:r>
              <a:rPr lang="en-US" altLang="zh-CN"/>
              <a:t>3.2  LATENCY </a:t>
            </a:r>
            <a:r>
              <a:rPr lang="zh-CN" altLang="en-US"/>
              <a:t>优先与类别公平的权衡</a:t>
            </a:r>
            <a:endParaRPr lang="zh-CN" altLang="en-US" dirty="0"/>
          </a:p>
        </p:txBody>
      </p:sp>
      <p:sp>
        <p:nvSpPr>
          <p:cNvPr id="19" name="SCX_instruction_text_82">
            <a:extLst>
              <a:ext uri="{FF2B5EF4-FFF2-40B4-BE49-F238E27FC236}">
                <a16:creationId xmlns:a16="http://schemas.microsoft.com/office/drawing/2014/main" id="{EBBE4B9D-F1A2-1CFB-A2DB-359479C3705D}"/>
              </a:ext>
            </a:extLst>
          </p:cNvPr>
          <p:cNvSpPr txBox="1"/>
          <p:nvPr/>
        </p:nvSpPr>
        <p:spPr>
          <a:xfrm>
            <a:off x="698500" y="1181100"/>
            <a:ext cx="10795000" cy="3810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zh-CN" altLang="en-US" sz="16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两类任务同时可运行时，需要降低交互尾延迟，同时保证 </a:t>
            </a:r>
            <a:r>
              <a:rPr lang="en-US" altLang="zh-CN" sz="16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BATCH </a:t>
            </a:r>
            <a:r>
              <a:rPr lang="zh-CN" altLang="en-US" sz="16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的基本 </a:t>
            </a:r>
            <a:r>
              <a:rPr lang="en-US" altLang="zh-CN" sz="16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CPU </a:t>
            </a:r>
            <a:r>
              <a:rPr lang="zh-CN" altLang="en-US" sz="160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份额。</a:t>
            </a:r>
          </a:p>
        </p:txBody>
      </p:sp>
      <p:sp>
        <p:nvSpPr>
          <p:cNvPr id="20" name="SCX_instruction_rect_83">
            <a:extLst>
              <a:ext uri="{FF2B5EF4-FFF2-40B4-BE49-F238E27FC236}">
                <a16:creationId xmlns:a16="http://schemas.microsoft.com/office/drawing/2014/main" id="{15C37056-CA89-4574-B5BD-9AEDC0A77B15}"/>
              </a:ext>
            </a:extLst>
          </p:cNvPr>
          <p:cNvSpPr/>
          <p:nvPr/>
        </p:nvSpPr>
        <p:spPr>
          <a:xfrm>
            <a:off x="698500" y="1917700"/>
            <a:ext cx="3111500" cy="1549400"/>
          </a:xfrm>
          <a:prstGeom prst="roundRect">
            <a:avLst/>
          </a:prstGeom>
          <a:solidFill>
            <a:srgbClr val="EBF1FC"/>
          </a:solidFill>
          <a:ln w="15240">
            <a:solidFill>
              <a:srgbClr val="2757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SCX_instruction_text_84">
            <a:extLst>
              <a:ext uri="{FF2B5EF4-FFF2-40B4-BE49-F238E27FC236}">
                <a16:creationId xmlns:a16="http://schemas.microsoft.com/office/drawing/2014/main" id="{A2EC9839-7856-D46F-A681-8E2F0C609ADF}"/>
              </a:ext>
            </a:extLst>
          </p:cNvPr>
          <p:cNvSpPr txBox="1"/>
          <p:nvPr/>
        </p:nvSpPr>
        <p:spPr>
          <a:xfrm>
            <a:off x="952500" y="2095500"/>
            <a:ext cx="2603500" cy="3810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900" b="1">
                <a:solidFill>
                  <a:srgbClr val="0F2256"/>
                </a:solidFill>
                <a:latin typeface="Arial" panose="020B0604020202020204" pitchFamily="34" charset="0"/>
              </a:rPr>
              <a:t>LATENCY</a:t>
            </a:r>
            <a:endParaRPr lang="zh-CN" altLang="en-US" sz="1900" b="1">
              <a:solidFill>
                <a:srgbClr val="0F2256"/>
              </a:solidFill>
              <a:latin typeface="Arial" panose="020B0604020202020204" pitchFamily="34" charset="0"/>
            </a:endParaRPr>
          </a:p>
        </p:txBody>
      </p:sp>
      <p:sp>
        <p:nvSpPr>
          <p:cNvPr id="22" name="SCX_instruction_text_85">
            <a:extLst>
              <a:ext uri="{FF2B5EF4-FFF2-40B4-BE49-F238E27FC236}">
                <a16:creationId xmlns:a16="http://schemas.microsoft.com/office/drawing/2014/main" id="{6D69B0D3-F390-6DE3-0B6F-CF9A921746E3}"/>
              </a:ext>
            </a:extLst>
          </p:cNvPr>
          <p:cNvSpPr txBox="1"/>
          <p:nvPr/>
        </p:nvSpPr>
        <p:spPr>
          <a:xfrm>
            <a:off x="952500" y="2552700"/>
            <a:ext cx="2603500" cy="6985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1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目标：降低 </a:t>
            </a:r>
            <a:r>
              <a:rPr lang="en-US" altLang="zh-CN" sz="11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tail latency
</a:t>
            </a:r>
            <a:r>
              <a:rPr lang="zh-CN" altLang="en-US" sz="11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短 </a:t>
            </a:r>
            <a:r>
              <a:rPr lang="en-US" altLang="zh-CN" sz="11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slice · </a:t>
            </a:r>
            <a:r>
              <a:rPr lang="zh-CN" altLang="en-US" sz="11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有界 </a:t>
            </a:r>
            <a:r>
              <a:rPr lang="en-US" altLang="zh-CN" sz="11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burst
</a:t>
            </a:r>
            <a:r>
              <a:rPr lang="zh-CN" altLang="en-US" sz="11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默认权重 </a:t>
            </a:r>
            <a:r>
              <a:rPr lang="en-US" altLang="zh-CN" sz="11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200</a:t>
            </a:r>
            <a:endParaRPr lang="zh-CN" altLang="en-US" sz="1150">
              <a:solidFill>
                <a:srgbClr val="5B69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SCX_instruction_rect_86">
            <a:extLst>
              <a:ext uri="{FF2B5EF4-FFF2-40B4-BE49-F238E27FC236}">
                <a16:creationId xmlns:a16="http://schemas.microsoft.com/office/drawing/2014/main" id="{5E684F67-731C-99C3-552A-A319835D18ED}"/>
              </a:ext>
            </a:extLst>
          </p:cNvPr>
          <p:cNvSpPr/>
          <p:nvPr/>
        </p:nvSpPr>
        <p:spPr>
          <a:xfrm>
            <a:off x="8382000" y="1917700"/>
            <a:ext cx="3111500" cy="1549400"/>
          </a:xfrm>
          <a:prstGeom prst="roundRect">
            <a:avLst/>
          </a:prstGeom>
          <a:solidFill>
            <a:srgbClr val="EBF1FC"/>
          </a:solidFill>
          <a:ln w="15240">
            <a:solidFill>
              <a:srgbClr val="2757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SCX_instruction_text_87">
            <a:extLst>
              <a:ext uri="{FF2B5EF4-FFF2-40B4-BE49-F238E27FC236}">
                <a16:creationId xmlns:a16="http://schemas.microsoft.com/office/drawing/2014/main" id="{CF6EA3F2-217C-65AE-BD9E-1BB766C2D763}"/>
              </a:ext>
            </a:extLst>
          </p:cNvPr>
          <p:cNvSpPr txBox="1"/>
          <p:nvPr/>
        </p:nvSpPr>
        <p:spPr>
          <a:xfrm>
            <a:off x="8636000" y="2095500"/>
            <a:ext cx="2603500" cy="3810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900" b="1">
                <a:solidFill>
                  <a:srgbClr val="0F2256"/>
                </a:solidFill>
                <a:latin typeface="Arial" panose="020B0604020202020204" pitchFamily="34" charset="0"/>
              </a:rPr>
              <a:t>BATCH</a:t>
            </a:r>
            <a:endParaRPr lang="zh-CN" altLang="en-US" sz="1900" b="1">
              <a:solidFill>
                <a:srgbClr val="0F2256"/>
              </a:solidFill>
              <a:latin typeface="Arial" panose="020B0604020202020204" pitchFamily="34" charset="0"/>
            </a:endParaRPr>
          </a:p>
        </p:txBody>
      </p:sp>
      <p:sp>
        <p:nvSpPr>
          <p:cNvPr id="25" name="SCX_instruction_text_88">
            <a:extLst>
              <a:ext uri="{FF2B5EF4-FFF2-40B4-BE49-F238E27FC236}">
                <a16:creationId xmlns:a16="http://schemas.microsoft.com/office/drawing/2014/main" id="{EB1727B3-E488-0C3A-2AC5-996E357F896B}"/>
              </a:ext>
            </a:extLst>
          </p:cNvPr>
          <p:cNvSpPr txBox="1"/>
          <p:nvPr/>
        </p:nvSpPr>
        <p:spPr>
          <a:xfrm>
            <a:off x="8636000" y="2552700"/>
            <a:ext cx="2603500" cy="6985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1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目标：维持 </a:t>
            </a:r>
            <a:r>
              <a:rPr lang="en-US" altLang="zh-CN" sz="11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throughput
</a:t>
            </a:r>
            <a:r>
              <a:rPr lang="zh-CN" altLang="en-US" sz="11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自适应 </a:t>
            </a:r>
            <a:r>
              <a:rPr lang="en-US" altLang="zh-CN" sz="11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epoch
</a:t>
            </a:r>
            <a:r>
              <a:rPr lang="zh-CN" altLang="en-US" sz="11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默认权重 </a:t>
            </a:r>
            <a:r>
              <a:rPr lang="en-US" altLang="zh-CN" sz="11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</a:t>
            </a:r>
            <a:endParaRPr lang="zh-CN" altLang="en-US" sz="1150">
              <a:solidFill>
                <a:srgbClr val="5B69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6" name="SCX_instruction_line_89">
            <a:extLst>
              <a:ext uri="{FF2B5EF4-FFF2-40B4-BE49-F238E27FC236}">
                <a16:creationId xmlns:a16="http://schemas.microsoft.com/office/drawing/2014/main" id="{C469AA9D-C0AF-8CB1-DE79-793611553275}"/>
              </a:ext>
            </a:extLst>
          </p:cNvPr>
          <p:cNvCxnSpPr/>
          <p:nvPr/>
        </p:nvCxnSpPr>
        <p:spPr>
          <a:xfrm>
            <a:off x="3873500" y="2692400"/>
            <a:ext cx="419100" cy="0"/>
          </a:xfrm>
          <a:prstGeom prst="line">
            <a:avLst/>
          </a:prstGeom>
          <a:ln w="25400">
            <a:solidFill>
              <a:srgbClr val="C2CDE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CX_instruction_line_90">
            <a:extLst>
              <a:ext uri="{FF2B5EF4-FFF2-40B4-BE49-F238E27FC236}">
                <a16:creationId xmlns:a16="http://schemas.microsoft.com/office/drawing/2014/main" id="{93F4D1EE-775E-08C5-0EED-4C69908A6EAF}"/>
              </a:ext>
            </a:extLst>
          </p:cNvPr>
          <p:cNvCxnSpPr/>
          <p:nvPr/>
        </p:nvCxnSpPr>
        <p:spPr>
          <a:xfrm flipH="1">
            <a:off x="7899400" y="2692400"/>
            <a:ext cx="419100" cy="0"/>
          </a:xfrm>
          <a:prstGeom prst="line">
            <a:avLst/>
          </a:prstGeom>
          <a:ln w="25400">
            <a:solidFill>
              <a:srgbClr val="C2CDE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SCX_instruction_rect_91">
            <a:extLst>
              <a:ext uri="{FF2B5EF4-FFF2-40B4-BE49-F238E27FC236}">
                <a16:creationId xmlns:a16="http://schemas.microsoft.com/office/drawing/2014/main" id="{66CCD8DA-DF2A-42E2-E73B-876303FC9595}"/>
              </a:ext>
            </a:extLst>
          </p:cNvPr>
          <p:cNvSpPr/>
          <p:nvPr/>
        </p:nvSpPr>
        <p:spPr>
          <a:xfrm>
            <a:off x="4381500" y="1917700"/>
            <a:ext cx="3429000" cy="1549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757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SCX_instruction_text_92">
            <a:extLst>
              <a:ext uri="{FF2B5EF4-FFF2-40B4-BE49-F238E27FC236}">
                <a16:creationId xmlns:a16="http://schemas.microsoft.com/office/drawing/2014/main" id="{1DCC92DB-5CF7-D9E4-DEB5-2B5BC7337760}"/>
              </a:ext>
            </a:extLst>
          </p:cNvPr>
          <p:cNvSpPr txBox="1"/>
          <p:nvPr/>
        </p:nvSpPr>
        <p:spPr>
          <a:xfrm>
            <a:off x="4610100" y="2095500"/>
            <a:ext cx="2971800" cy="3810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600" b="1">
                <a:solidFill>
                  <a:srgbClr val="0F2256"/>
                </a:solidFill>
                <a:latin typeface="Arial" panose="020B0604020202020204" pitchFamily="34" charset="0"/>
              </a:rPr>
              <a:t>唯一跨类策略  </a:t>
            </a:r>
            <a:r>
              <a:rPr lang="en-US" altLang="zh-CN" sz="1600" b="1">
                <a:solidFill>
                  <a:srgbClr val="0F2256"/>
                </a:solidFill>
                <a:latin typeface="Arial" panose="020B0604020202020204" pitchFamily="34" charset="0"/>
              </a:rPr>
              <a:t>decide_class()</a:t>
            </a:r>
            <a:endParaRPr lang="zh-CN" altLang="en-US" sz="1600" b="1">
              <a:solidFill>
                <a:srgbClr val="0F2256"/>
              </a:solidFill>
              <a:latin typeface="Arial" panose="020B0604020202020204" pitchFamily="34" charset="0"/>
            </a:endParaRPr>
          </a:p>
        </p:txBody>
      </p:sp>
      <p:sp>
        <p:nvSpPr>
          <p:cNvPr id="30" name="SCX_instruction_text_93">
            <a:extLst>
              <a:ext uri="{FF2B5EF4-FFF2-40B4-BE49-F238E27FC236}">
                <a16:creationId xmlns:a16="http://schemas.microsoft.com/office/drawing/2014/main" id="{28B3DEE0-A9EB-B86A-4F3D-CC70E18BE2D7}"/>
              </a:ext>
            </a:extLst>
          </p:cNvPr>
          <p:cNvSpPr txBox="1"/>
          <p:nvPr/>
        </p:nvSpPr>
        <p:spPr>
          <a:xfrm>
            <a:off x="4635500" y="2489200"/>
            <a:ext cx="2921000" cy="4953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100">
                <a:solidFill>
                  <a:srgbClr val="1E2C48"/>
                </a:solidFill>
                <a:latin typeface="Arial" panose="020B0604020202020204" pitchFamily="34" charset="0"/>
              </a:rPr>
              <a:t>V_class += runtime × 100 / weight
</a:t>
            </a:r>
            <a:r>
              <a:rPr lang="zh-CN" altLang="en-US" sz="1100">
                <a:solidFill>
                  <a:srgbClr val="1E2C48"/>
                </a:solidFill>
                <a:latin typeface="Arial" panose="020B0604020202020204" pitchFamily="34" charset="0"/>
              </a:rPr>
              <a:t>比较投影类别 </a:t>
            </a:r>
            <a:r>
              <a:rPr lang="en-US" altLang="zh-CN" sz="1100">
                <a:solidFill>
                  <a:srgbClr val="1E2C48"/>
                </a:solidFill>
                <a:latin typeface="Arial" panose="020B0604020202020204" pitchFamily="34" charset="0"/>
              </a:rPr>
              <a:t>vruntime</a:t>
            </a:r>
            <a:endParaRPr lang="zh-CN" altLang="en-US" sz="1100">
              <a:solidFill>
                <a:srgbClr val="1E2C48"/>
              </a:solidFill>
              <a:latin typeface="Arial" panose="020B0604020202020204" pitchFamily="34" charset="0"/>
            </a:endParaRPr>
          </a:p>
        </p:txBody>
      </p:sp>
      <p:sp>
        <p:nvSpPr>
          <p:cNvPr id="31" name="SCX_instruction_rect_94">
            <a:extLst>
              <a:ext uri="{FF2B5EF4-FFF2-40B4-BE49-F238E27FC236}">
                <a16:creationId xmlns:a16="http://schemas.microsoft.com/office/drawing/2014/main" id="{2326694F-BAB6-313B-EB7F-4B54CD5A050A}"/>
              </a:ext>
            </a:extLst>
          </p:cNvPr>
          <p:cNvSpPr/>
          <p:nvPr/>
        </p:nvSpPr>
        <p:spPr>
          <a:xfrm>
            <a:off x="4699000" y="3073400"/>
            <a:ext cx="2794000" cy="304800"/>
          </a:xfrm>
          <a:prstGeom prst="roundRect">
            <a:avLst/>
          </a:prstGeom>
          <a:solidFill>
            <a:srgbClr val="EBF1FC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EBF1FC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SCX_instruction_text_95">
            <a:extLst>
              <a:ext uri="{FF2B5EF4-FFF2-40B4-BE49-F238E27FC236}">
                <a16:creationId xmlns:a16="http://schemas.microsoft.com/office/drawing/2014/main" id="{3940FEE2-5645-A1A9-CD5C-2900CAC64AEC}"/>
              </a:ext>
            </a:extLst>
          </p:cNvPr>
          <p:cNvSpPr txBox="1"/>
          <p:nvPr/>
        </p:nvSpPr>
        <p:spPr>
          <a:xfrm>
            <a:off x="4699000" y="3073400"/>
            <a:ext cx="2794000" cy="3048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95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class_max_debt </a:t>
            </a:r>
            <a:r>
              <a:rPr lang="zh-CN" altLang="en-US" sz="95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约束 </a:t>
            </a:r>
            <a:r>
              <a:rPr lang="en-US" altLang="zh-CN" sz="95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LATENCY </a:t>
            </a:r>
            <a:r>
              <a:rPr lang="zh-CN" altLang="en-US" sz="95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领先量</a:t>
            </a:r>
          </a:p>
        </p:txBody>
      </p:sp>
      <p:sp>
        <p:nvSpPr>
          <p:cNvPr id="33" name="SCX_instruction_rect_96">
            <a:extLst>
              <a:ext uri="{FF2B5EF4-FFF2-40B4-BE49-F238E27FC236}">
                <a16:creationId xmlns:a16="http://schemas.microsoft.com/office/drawing/2014/main" id="{4815E1F7-23D6-D7D2-3452-DDB373DA5997}"/>
              </a:ext>
            </a:extLst>
          </p:cNvPr>
          <p:cNvSpPr/>
          <p:nvPr/>
        </p:nvSpPr>
        <p:spPr>
          <a:xfrm>
            <a:off x="698500" y="4064000"/>
            <a:ext cx="3302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SCX_instruction_rect_97">
            <a:extLst>
              <a:ext uri="{FF2B5EF4-FFF2-40B4-BE49-F238E27FC236}">
                <a16:creationId xmlns:a16="http://schemas.microsoft.com/office/drawing/2014/main" id="{F660C043-F83D-DA16-C778-89903354CE55}"/>
              </a:ext>
            </a:extLst>
          </p:cNvPr>
          <p:cNvSpPr/>
          <p:nvPr/>
        </p:nvSpPr>
        <p:spPr>
          <a:xfrm>
            <a:off x="850900" y="4241800"/>
            <a:ext cx="431800" cy="355600"/>
          </a:xfrm>
          <a:prstGeom prst="roundRect">
            <a:avLst/>
          </a:prstGeom>
          <a:solidFill>
            <a:srgbClr val="0F2256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0F2256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SCX_instruction_text_98">
            <a:extLst>
              <a:ext uri="{FF2B5EF4-FFF2-40B4-BE49-F238E27FC236}">
                <a16:creationId xmlns:a16="http://schemas.microsoft.com/office/drawing/2014/main" id="{6B72D048-C847-1DA2-CB73-FDB125AE4892}"/>
              </a:ext>
            </a:extLst>
          </p:cNvPr>
          <p:cNvSpPr txBox="1"/>
          <p:nvPr/>
        </p:nvSpPr>
        <p:spPr>
          <a:xfrm>
            <a:off x="850900" y="4241800"/>
            <a:ext cx="431800" cy="355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9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sz="9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7" name="SCX_instruction_text_99">
            <a:extLst>
              <a:ext uri="{FF2B5EF4-FFF2-40B4-BE49-F238E27FC236}">
                <a16:creationId xmlns:a16="http://schemas.microsoft.com/office/drawing/2014/main" id="{201B76AF-BC3B-A39F-4C71-C951638A90A5}"/>
              </a:ext>
            </a:extLst>
          </p:cNvPr>
          <p:cNvSpPr txBox="1"/>
          <p:nvPr/>
        </p:nvSpPr>
        <p:spPr>
          <a:xfrm>
            <a:off x="1384300" y="4165600"/>
            <a:ext cx="2413000" cy="4445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2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只有一个类别可运行</a:t>
            </a:r>
          </a:p>
        </p:txBody>
      </p:sp>
      <p:sp>
        <p:nvSpPr>
          <p:cNvPr id="68" name="SCX_instruction_text_100">
            <a:extLst>
              <a:ext uri="{FF2B5EF4-FFF2-40B4-BE49-F238E27FC236}">
                <a16:creationId xmlns:a16="http://schemas.microsoft.com/office/drawing/2014/main" id="{D4058AA8-9A7B-2142-BE6B-557156916AA5}"/>
              </a:ext>
            </a:extLst>
          </p:cNvPr>
          <p:cNvSpPr txBox="1"/>
          <p:nvPr/>
        </p:nvSpPr>
        <p:spPr>
          <a:xfrm>
            <a:off x="927100" y="4673600"/>
            <a:ext cx="2844800" cy="4064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0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立即选择该类别，不引入额外仲裁</a:t>
            </a:r>
          </a:p>
        </p:txBody>
      </p:sp>
      <p:sp>
        <p:nvSpPr>
          <p:cNvPr id="69" name="SCX_instruction_rect_101">
            <a:extLst>
              <a:ext uri="{FF2B5EF4-FFF2-40B4-BE49-F238E27FC236}">
                <a16:creationId xmlns:a16="http://schemas.microsoft.com/office/drawing/2014/main" id="{FEA7A1DC-DE29-C379-4988-A779AB204DD5}"/>
              </a:ext>
            </a:extLst>
          </p:cNvPr>
          <p:cNvSpPr/>
          <p:nvPr/>
        </p:nvSpPr>
        <p:spPr>
          <a:xfrm>
            <a:off x="4445000" y="4064000"/>
            <a:ext cx="3302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SCX_instruction_rect_102">
            <a:extLst>
              <a:ext uri="{FF2B5EF4-FFF2-40B4-BE49-F238E27FC236}">
                <a16:creationId xmlns:a16="http://schemas.microsoft.com/office/drawing/2014/main" id="{04638E72-F24C-9858-97F1-DC1B9B11DD4D}"/>
              </a:ext>
            </a:extLst>
          </p:cNvPr>
          <p:cNvSpPr/>
          <p:nvPr/>
        </p:nvSpPr>
        <p:spPr>
          <a:xfrm>
            <a:off x="4597400" y="4241800"/>
            <a:ext cx="431800" cy="355600"/>
          </a:xfrm>
          <a:prstGeom prst="roundRect">
            <a:avLst/>
          </a:prstGeom>
          <a:solidFill>
            <a:srgbClr val="0F2256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0F2256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SCX_instruction_text_103">
            <a:extLst>
              <a:ext uri="{FF2B5EF4-FFF2-40B4-BE49-F238E27FC236}">
                <a16:creationId xmlns:a16="http://schemas.microsoft.com/office/drawing/2014/main" id="{E8009AD4-4C79-2FCC-5834-EE6748D7B3F2}"/>
              </a:ext>
            </a:extLst>
          </p:cNvPr>
          <p:cNvSpPr txBox="1"/>
          <p:nvPr/>
        </p:nvSpPr>
        <p:spPr>
          <a:xfrm>
            <a:off x="4597400" y="4241800"/>
            <a:ext cx="431800" cy="355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9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9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2" name="SCX_instruction_text_104">
            <a:extLst>
              <a:ext uri="{FF2B5EF4-FFF2-40B4-BE49-F238E27FC236}">
                <a16:creationId xmlns:a16="http://schemas.microsoft.com/office/drawing/2014/main" id="{33AFD53A-66F5-1700-AD7B-9801E3642DB7}"/>
              </a:ext>
            </a:extLst>
          </p:cNvPr>
          <p:cNvSpPr txBox="1"/>
          <p:nvPr/>
        </p:nvSpPr>
        <p:spPr>
          <a:xfrm>
            <a:off x="5130800" y="4165600"/>
            <a:ext cx="2413000" cy="4445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2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两个类别同时可运行</a:t>
            </a:r>
          </a:p>
        </p:txBody>
      </p:sp>
      <p:sp>
        <p:nvSpPr>
          <p:cNvPr id="73" name="SCX_instruction_text_105">
            <a:extLst>
              <a:ext uri="{FF2B5EF4-FFF2-40B4-BE49-F238E27FC236}">
                <a16:creationId xmlns:a16="http://schemas.microsoft.com/office/drawing/2014/main" id="{C84721B4-4F0B-2EF4-757E-DC4A74099098}"/>
              </a:ext>
            </a:extLst>
          </p:cNvPr>
          <p:cNvSpPr txBox="1"/>
          <p:nvPr/>
        </p:nvSpPr>
        <p:spPr>
          <a:xfrm>
            <a:off x="4673600" y="4673600"/>
            <a:ext cx="2844800" cy="4064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0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比较包含当前任务运行量的投影 </a:t>
            </a:r>
            <a:r>
              <a:rPr lang="en-US" altLang="zh-CN" sz="10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vruntime</a:t>
            </a:r>
            <a:endParaRPr lang="zh-CN" altLang="en-US" sz="1050">
              <a:solidFill>
                <a:srgbClr val="5B69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4" name="SCX_instruction_rect_106">
            <a:extLst>
              <a:ext uri="{FF2B5EF4-FFF2-40B4-BE49-F238E27FC236}">
                <a16:creationId xmlns:a16="http://schemas.microsoft.com/office/drawing/2014/main" id="{3F1BAC62-0CFC-425D-984F-A9EB8252B14C}"/>
              </a:ext>
            </a:extLst>
          </p:cNvPr>
          <p:cNvSpPr/>
          <p:nvPr/>
        </p:nvSpPr>
        <p:spPr>
          <a:xfrm>
            <a:off x="8191500" y="4064000"/>
            <a:ext cx="3302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SCX_instruction_rect_107">
            <a:extLst>
              <a:ext uri="{FF2B5EF4-FFF2-40B4-BE49-F238E27FC236}">
                <a16:creationId xmlns:a16="http://schemas.microsoft.com/office/drawing/2014/main" id="{BA3292F6-B4AD-216F-B394-53BEB9ADA8D4}"/>
              </a:ext>
            </a:extLst>
          </p:cNvPr>
          <p:cNvSpPr/>
          <p:nvPr/>
        </p:nvSpPr>
        <p:spPr>
          <a:xfrm>
            <a:off x="8343900" y="4241800"/>
            <a:ext cx="431800" cy="355600"/>
          </a:xfrm>
          <a:prstGeom prst="roundRect">
            <a:avLst/>
          </a:prstGeom>
          <a:solidFill>
            <a:srgbClr val="0F2256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0F2256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SCX_instruction_text_108">
            <a:extLst>
              <a:ext uri="{FF2B5EF4-FFF2-40B4-BE49-F238E27FC236}">
                <a16:creationId xmlns:a16="http://schemas.microsoft.com/office/drawing/2014/main" id="{D297F1F8-15D1-84E2-6243-FEA3EAD5EF8C}"/>
              </a:ext>
            </a:extLst>
          </p:cNvPr>
          <p:cNvSpPr txBox="1"/>
          <p:nvPr/>
        </p:nvSpPr>
        <p:spPr>
          <a:xfrm>
            <a:off x="8343900" y="4241800"/>
            <a:ext cx="431800" cy="3556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9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9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7" name="SCX_instruction_text_109">
            <a:extLst>
              <a:ext uri="{FF2B5EF4-FFF2-40B4-BE49-F238E27FC236}">
                <a16:creationId xmlns:a16="http://schemas.microsoft.com/office/drawing/2014/main" id="{F612F4F9-2FA4-37A5-2424-893A72A715E8}"/>
              </a:ext>
            </a:extLst>
          </p:cNvPr>
          <p:cNvSpPr txBox="1"/>
          <p:nvPr/>
        </p:nvSpPr>
        <p:spPr>
          <a:xfrm>
            <a:off x="8877300" y="4165600"/>
            <a:ext cx="2413000" cy="4445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LATENCY </a:t>
            </a:r>
            <a:r>
              <a:rPr lang="zh-CN" altLang="en-US" sz="12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已领先过多</a:t>
            </a:r>
          </a:p>
        </p:txBody>
      </p:sp>
      <p:sp>
        <p:nvSpPr>
          <p:cNvPr id="78" name="SCX_instruction_text_110">
            <a:extLst>
              <a:ext uri="{FF2B5EF4-FFF2-40B4-BE49-F238E27FC236}">
                <a16:creationId xmlns:a16="http://schemas.microsoft.com/office/drawing/2014/main" id="{5E41D8D0-E856-3B46-6BF7-A6E4EDA1FDAC}"/>
              </a:ext>
            </a:extLst>
          </p:cNvPr>
          <p:cNvSpPr txBox="1"/>
          <p:nvPr/>
        </p:nvSpPr>
        <p:spPr>
          <a:xfrm>
            <a:off x="8420100" y="4673600"/>
            <a:ext cx="2844800" cy="4064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0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由 </a:t>
            </a:r>
            <a:r>
              <a:rPr lang="en-US" altLang="zh-CN" sz="10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class_max_debt </a:t>
            </a:r>
            <a:r>
              <a:rPr lang="zh-CN" altLang="en-US" sz="10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触发 </a:t>
            </a:r>
            <a:r>
              <a:rPr lang="en-US" altLang="zh-CN" sz="10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BATCH </a:t>
            </a:r>
            <a:r>
              <a:rPr lang="zh-CN" altLang="en-US" sz="1050">
                <a:solidFill>
                  <a:srgbClr val="5B69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服务</a:t>
            </a:r>
          </a:p>
        </p:txBody>
      </p:sp>
      <p:sp>
        <p:nvSpPr>
          <p:cNvPr id="79" name="SCX_instruction_rect_111">
            <a:extLst>
              <a:ext uri="{FF2B5EF4-FFF2-40B4-BE49-F238E27FC236}">
                <a16:creationId xmlns:a16="http://schemas.microsoft.com/office/drawing/2014/main" id="{275CC32A-9D94-C613-6D59-3CA65C598A64}"/>
              </a:ext>
            </a:extLst>
          </p:cNvPr>
          <p:cNvSpPr/>
          <p:nvPr/>
        </p:nvSpPr>
        <p:spPr>
          <a:xfrm>
            <a:off x="698500" y="5562600"/>
            <a:ext cx="10795000" cy="546100"/>
          </a:xfrm>
          <a:prstGeom prst="roundRect">
            <a:avLst/>
          </a:prstGeom>
          <a:solidFill>
            <a:srgbClr val="EBF1FC"/>
          </a:solidFill>
          <a:ln w="12700">
            <a:solidFill>
              <a:srgbClr val="2757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SCX_instruction_text_112">
            <a:extLst>
              <a:ext uri="{FF2B5EF4-FFF2-40B4-BE49-F238E27FC236}">
                <a16:creationId xmlns:a16="http://schemas.microsoft.com/office/drawing/2014/main" id="{AB64C7B0-17B9-87AB-7261-A98FDF4EEDBC}"/>
              </a:ext>
            </a:extLst>
          </p:cNvPr>
          <p:cNvSpPr txBox="1"/>
          <p:nvPr/>
        </p:nvSpPr>
        <p:spPr>
          <a:xfrm>
            <a:off x="889000" y="5575300"/>
            <a:ext cx="10414000" cy="5207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13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长期目标份额约 </a:t>
            </a:r>
            <a:r>
              <a:rPr lang="en-US" altLang="zh-CN" sz="13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: 1</a:t>
            </a:r>
            <a:r>
              <a:rPr lang="zh-CN" altLang="en-US" sz="13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3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LATENCY </a:t>
            </a:r>
            <a:r>
              <a:rPr lang="zh-CN" altLang="en-US" sz="13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是有界优先而非绝对优先，</a:t>
            </a:r>
            <a:r>
              <a:rPr lang="en-US" altLang="zh-CN" sz="13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BATCH </a:t>
            </a:r>
            <a:r>
              <a:rPr lang="zh-CN" altLang="en-US" sz="1300" b="1">
                <a:solidFill>
                  <a:srgbClr val="0F22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始终保持基本公平。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项目测试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194300" y="3632200"/>
            <a:ext cx="5461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zh-CN" altLang="en-US" sz="15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两组独立 </a:t>
            </a:r>
            <a:r>
              <a:rPr lang="en-US" altLang="zh-CN" sz="15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bench </a:t>
            </a:r>
            <a:r>
              <a:rPr lang="zh-CN" altLang="en-US" sz="15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证据：语义调度性能与 Redis CPU Agent 调优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5194300" y="4292600"/>
            <a:ext cx="3441700" cy="0"/>
          </a:xfrm>
          <a:prstGeom prst="line">
            <a:avLst/>
          </a:prstGeom>
          <a:ln w="25400" cap="flat" cmpd="sng" algn="ctr">
            <a:solidFill>
              <a:srgbClr val="13C7EF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55" y="522605"/>
            <a:ext cx="7624445" cy="491490"/>
          </a:xfrm>
        </p:spPr>
        <p:txBody>
          <a:bodyPr/>
          <a:lstStyle/>
          <a:p>
            <a:r>
              <a:rPr lang="en-US" altLang="zh-CN"/>
              <a:t>4.1  </a:t>
            </a:r>
            <a:r>
              <a:rPr lang="zh-CN" altLang="en-US"/>
              <a:t>两组核心实验结果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98500" y="1181100"/>
            <a:ext cx="10795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zh-CN" altLang="en-US" sz="1600">
                <a:solidFill>
                  <a:srgbClr val="5B69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调度 </a:t>
            </a:r>
            <a:r>
              <a:rPr lang="en-US" altLang="zh-CN" sz="1600">
                <a:solidFill>
                  <a:srgbClr val="5B69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LATENCY </a:t>
            </a:r>
            <a:r>
              <a:rPr lang="zh-CN" altLang="en-US" sz="1600">
                <a:solidFill>
                  <a:srgbClr val="5B69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8/8 完整配对；</a:t>
            </a:r>
            <a:r>
              <a:rPr lang="en-US" altLang="zh-CN" sz="1600">
                <a:solidFill>
                  <a:srgbClr val="5B69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Redis </a:t>
            </a:r>
            <a:r>
              <a:rPr lang="zh-CN" altLang="en-US" sz="1600">
                <a:solidFill>
                  <a:srgbClr val="5B69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4/5 有效配对，均值改善但 </a:t>
            </a:r>
            <a:r>
              <a:rPr lang="en-US" altLang="zh-CN" sz="1600">
                <a:solidFill>
                  <a:srgbClr val="5B69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95% CI </a:t>
            </a:r>
            <a:r>
              <a:rPr lang="zh-CN" altLang="en-US" sz="1600">
                <a:solidFill>
                  <a:srgbClr val="5B69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跨 0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62000" y="1841500"/>
            <a:ext cx="2413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en-US" altLang="zh-CN" sz="1400" b="1">
                <a:solidFill>
                  <a:srgbClr val="1E2C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LATENCY  p99</a:t>
            </a:r>
            <a:endParaRPr lang="zh-CN" altLang="en-US" sz="1400" b="1">
              <a:solidFill>
                <a:srgbClr val="1E2C4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3175000" y="1905000"/>
            <a:ext cx="5969000" cy="355600"/>
          </a:xfrm>
          <a:prstGeom prst="roundRect">
            <a:avLst/>
          </a:prstGeom>
          <a:solidFill>
            <a:srgbClr val="F4F7FC"/>
          </a:solidFill>
          <a:ln w="0">
            <a:solidFill>
              <a:srgbClr val="F4F7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/>
        </p:nvSpPr>
        <p:spPr>
          <a:xfrm>
            <a:off x="3175000" y="1905000"/>
            <a:ext cx="4509770" cy="355600"/>
          </a:xfrm>
          <a:prstGeom prst="roundRect">
            <a:avLst/>
          </a:prstGeom>
          <a:solidFill>
            <a:srgbClr val="2454E6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rgbClr val="2454E6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9334500" y="1816100"/>
            <a:ext cx="14605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r"/>
            <a:r>
              <a:rPr lang="zh-CN" altLang="en-US" sz="1500" b="1">
                <a:solidFill>
                  <a:srgbClr val="2454E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下降 </a:t>
            </a:r>
            <a:r>
              <a:rPr lang="en-US" altLang="zh-CN" sz="1500" b="1">
                <a:solidFill>
                  <a:srgbClr val="2454E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46.64%</a:t>
            </a:r>
            <a:endParaRPr lang="zh-CN" altLang="en-US" sz="1500" b="1">
              <a:solidFill>
                <a:srgbClr val="2454E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858500" y="1828800"/>
            <a:ext cx="889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r"/>
            <a:r>
              <a:rPr lang="en-US" altLang="zh-CN" sz="1000">
                <a:solidFill>
                  <a:srgbClr val="5B6985"/>
                </a:solidFill>
                <a:latin typeface="Arial" panose="020B0604020202020204" pitchFamily="34" charset="0"/>
              </a:rPr>
              <a:t>8 / 8 pair</a:t>
            </a:r>
            <a:endParaRPr lang="zh-CN" altLang="en-US" sz="1000">
              <a:solidFill>
                <a:srgbClr val="5B6985"/>
              </a:solidFill>
              <a:latin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62000" y="2717800"/>
            <a:ext cx="2413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en-US" altLang="zh-CN" sz="1400" b="1">
                <a:solidFill>
                  <a:srgbClr val="1E2C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LATENCY  p99.9</a:t>
            </a:r>
            <a:endParaRPr lang="zh-CN" altLang="en-US" sz="1400" b="1">
              <a:solidFill>
                <a:srgbClr val="1E2C4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3175000" y="2781300"/>
            <a:ext cx="5969000" cy="355600"/>
          </a:xfrm>
          <a:prstGeom prst="roundRect">
            <a:avLst/>
          </a:prstGeom>
          <a:solidFill>
            <a:srgbClr val="F4F7FC"/>
          </a:solidFill>
          <a:ln w="0">
            <a:solidFill>
              <a:srgbClr val="F4F7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/>
          <p:cNvSpPr/>
          <p:nvPr/>
        </p:nvSpPr>
        <p:spPr>
          <a:xfrm>
            <a:off x="3175000" y="2781300"/>
            <a:ext cx="5499100" cy="355600"/>
          </a:xfrm>
          <a:prstGeom prst="roundRect">
            <a:avLst/>
          </a:prstGeom>
          <a:solidFill>
            <a:srgbClr val="6A39F4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rgbClr val="6A39F4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334500" y="2692400"/>
            <a:ext cx="14605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r"/>
            <a:r>
              <a:rPr lang="zh-CN" altLang="en-US" sz="1500" b="1">
                <a:solidFill>
                  <a:srgbClr val="6A39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下降 </a:t>
            </a:r>
            <a:r>
              <a:rPr lang="en-US" altLang="zh-CN" sz="1500" b="1">
                <a:solidFill>
                  <a:srgbClr val="6A39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58.65%</a:t>
            </a:r>
            <a:endParaRPr lang="zh-CN" altLang="en-US" sz="1500" b="1">
              <a:solidFill>
                <a:srgbClr val="6A39F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858500" y="2705100"/>
            <a:ext cx="889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r"/>
            <a:r>
              <a:rPr lang="en-US" altLang="zh-CN" sz="1000">
                <a:solidFill>
                  <a:srgbClr val="5B6985"/>
                </a:solidFill>
                <a:latin typeface="Arial" panose="020B0604020202020204" pitchFamily="34" charset="0"/>
              </a:rPr>
              <a:t>8 / 8 pair</a:t>
            </a:r>
            <a:endParaRPr lang="zh-CN" altLang="en-US" sz="1000">
              <a:solidFill>
                <a:srgbClr val="5B6985"/>
              </a:solidFill>
              <a:latin typeface="Arial" panose="020B060402020202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62000" y="3594100"/>
            <a:ext cx="2413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en-US" altLang="zh-CN" sz="1400" b="1">
                <a:solidFill>
                  <a:srgbClr val="1E2C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Redis  p99</a:t>
            </a:r>
            <a:endParaRPr lang="zh-CN" altLang="en-US" sz="1400" b="1">
              <a:solidFill>
                <a:srgbClr val="1E2C4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3175000" y="3657600"/>
            <a:ext cx="5969000" cy="355600"/>
          </a:xfrm>
          <a:prstGeom prst="roundRect">
            <a:avLst/>
          </a:prstGeom>
          <a:solidFill>
            <a:srgbClr val="F4F7FC"/>
          </a:solidFill>
          <a:ln w="0">
            <a:solidFill>
              <a:srgbClr val="F4F7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/>
          <p:cNvSpPr/>
          <p:nvPr/>
        </p:nvSpPr>
        <p:spPr>
          <a:xfrm>
            <a:off x="3175000" y="3657600"/>
            <a:ext cx="4248150" cy="355600"/>
          </a:xfrm>
          <a:prstGeom prst="roundRect">
            <a:avLst/>
          </a:prstGeom>
          <a:solidFill>
            <a:srgbClr val="13C7EF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rgbClr val="13C7E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9334500" y="3568700"/>
            <a:ext cx="14605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r"/>
            <a:r>
              <a:rPr lang="zh-CN" altLang="en-US" sz="1500" b="1">
                <a:solidFill>
                  <a:srgbClr val="13C7E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下降 </a:t>
            </a:r>
            <a:r>
              <a:rPr lang="en-US" altLang="zh-CN" sz="1500" b="1">
                <a:solidFill>
                  <a:srgbClr val="13C7E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29.79%</a:t>
            </a:r>
            <a:endParaRPr lang="zh-CN" altLang="en-US" sz="1500" b="1">
              <a:solidFill>
                <a:srgbClr val="13C7E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0858500" y="3581400"/>
            <a:ext cx="889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r"/>
            <a:r>
              <a:rPr lang="en-US" altLang="zh-CN" sz="1000">
                <a:solidFill>
                  <a:srgbClr val="5B6985"/>
                </a:solidFill>
                <a:latin typeface="Arial" panose="020B0604020202020204" pitchFamily="34" charset="0"/>
              </a:rPr>
              <a:t>4 / 5 pair</a:t>
            </a:r>
            <a:endParaRPr lang="zh-CN" altLang="en-US" sz="1000">
              <a:solidFill>
                <a:srgbClr val="5B6985"/>
              </a:solidFill>
              <a:latin typeface="Arial" panose="020B0604020202020204" pitchFamily="3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62000" y="4470400"/>
            <a:ext cx="2413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en-US" altLang="zh-CN" sz="1400" b="1">
                <a:solidFill>
                  <a:srgbClr val="1E2C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Redis  QPS</a:t>
            </a:r>
            <a:endParaRPr lang="zh-CN" altLang="en-US" sz="1400" b="1">
              <a:solidFill>
                <a:srgbClr val="1E2C4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3175000" y="4533900"/>
            <a:ext cx="5969000" cy="355600"/>
          </a:xfrm>
          <a:prstGeom prst="roundRect">
            <a:avLst/>
          </a:prstGeom>
          <a:solidFill>
            <a:srgbClr val="F4F7FC"/>
          </a:solidFill>
          <a:ln w="0">
            <a:solidFill>
              <a:srgbClr val="F4F7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/>
          <p:cNvSpPr/>
          <p:nvPr/>
        </p:nvSpPr>
        <p:spPr>
          <a:xfrm>
            <a:off x="3175000" y="4533900"/>
            <a:ext cx="4555490" cy="355600"/>
          </a:xfrm>
          <a:prstGeom prst="roundRect">
            <a:avLst/>
          </a:prstGeom>
          <a:solidFill>
            <a:srgbClr val="16A36A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rgbClr val="16A36A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9334500" y="4445000"/>
            <a:ext cx="14605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r"/>
            <a:r>
              <a:rPr lang="zh-CN" altLang="en-US" sz="1500" b="1">
                <a:solidFill>
                  <a:srgbClr val="16A3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提升 </a:t>
            </a:r>
            <a:r>
              <a:rPr lang="en-US" altLang="zh-CN" sz="1500" b="1">
                <a:solidFill>
                  <a:srgbClr val="16A3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44.25%</a:t>
            </a:r>
            <a:endParaRPr lang="zh-CN" altLang="en-US" sz="1500" b="1">
              <a:solidFill>
                <a:srgbClr val="16A3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0858500" y="4457700"/>
            <a:ext cx="889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r"/>
            <a:r>
              <a:rPr lang="en-US" altLang="zh-CN" sz="1000">
                <a:solidFill>
                  <a:srgbClr val="5B6985"/>
                </a:solidFill>
                <a:latin typeface="Arial" panose="020B0604020202020204" pitchFamily="34" charset="0"/>
              </a:rPr>
              <a:t>4 / 5 pair</a:t>
            </a:r>
            <a:endParaRPr lang="zh-CN" altLang="en-US" sz="1000">
              <a:solidFill>
                <a:srgbClr val="5B6985"/>
              </a:solidFill>
              <a:latin typeface="Arial" panose="020B0604020202020204" pitchFamily="34" charset="0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762000" y="5384800"/>
            <a:ext cx="10668000" cy="60960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2454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952500" y="5410200"/>
            <a:ext cx="10287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1300" b="1">
                <a:solidFill>
                  <a:srgbClr val="0A1C5A"/>
                </a:solidFill>
                <a:latin typeface="Arial" panose="020B0604020202020204" pitchFamily="34" charset="0"/>
              </a:rPr>
              <a:t>LATENCY </a:t>
            </a:r>
            <a:r>
              <a:rPr lang="zh-CN" altLang="en-US" sz="1300" b="1">
                <a:solidFill>
                  <a:srgbClr val="0A1C5A"/>
                </a:solidFill>
                <a:latin typeface="Arial" panose="020B0604020202020204" pitchFamily="34" charset="0"/>
              </a:rPr>
              <a:t>吞吐 -3.74%（</a:t>
            </a:r>
            <a:r>
              <a:rPr lang="en-US" altLang="zh-CN" sz="1300" b="1">
                <a:solidFill>
                  <a:srgbClr val="0A1C5A"/>
                </a:solidFill>
                <a:latin typeface="Arial" panose="020B0604020202020204" pitchFamily="34" charset="0"/>
              </a:rPr>
              <a:t>regression</a:t>
            </a:r>
            <a:r>
              <a:rPr lang="zh-CN" altLang="en-US" sz="1300" b="1">
                <a:solidFill>
                  <a:srgbClr val="0A1C5A"/>
                </a:solidFill>
                <a:latin typeface="Arial" panose="020B0604020202020204" pitchFamily="34" charset="0"/>
              </a:rPr>
              <a:t>） · MIX </a:t>
            </a:r>
            <a:r>
              <a:rPr lang="en-US" altLang="zh-CN" sz="1300" b="1">
                <a:solidFill>
                  <a:srgbClr val="0A1C5A"/>
                </a:solidFill>
                <a:latin typeface="Arial" panose="020B0604020202020204" pitchFamily="34" charset="0"/>
              </a:rPr>
              <a:t>p99 -49.82%、batch -0.08%（3/4） · </a:t>
            </a:r>
            <a:r>
              <a:rPr lang="zh-CN" altLang="en-US" sz="1300" b="1">
                <a:solidFill>
                  <a:srgbClr val="0A1C5A"/>
                </a:solidFill>
                <a:latin typeface="Arial" panose="020B0604020202020204" pitchFamily="34" charset="0"/>
              </a:rPr>
              <a:t>Redis </a:t>
            </a:r>
            <a:r>
              <a:rPr lang="en-US" altLang="zh-CN" sz="1300" b="1">
                <a:solidFill>
                  <a:srgbClr val="0A1C5A"/>
                </a:solidFill>
                <a:latin typeface="Arial" panose="020B0604020202020204" pitchFamily="34" charset="0"/>
              </a:rPr>
              <a:t>4 commit / 1 no-commit</a:t>
            </a:r>
            <a:r>
              <a:rPr lang="zh-CN" altLang="en-US" sz="1300" b="1">
                <a:solidFill>
                  <a:srgbClr val="0A1C5A"/>
                </a:solidFill>
                <a:latin typeface="Arial" panose="020B0604020202020204" pitchFamily="34" charset="0"/>
              </a:rPr>
              <a:t/>
            </a:r>
            <a:r>
              <a:rPr lang="en-US" altLang="zh-CN" sz="1300" b="1">
                <a:solidFill>
                  <a:srgbClr val="0A1C5A"/>
                </a:solidFill>
                <a:latin typeface="Arial" panose="020B0604020202020204" pitchFamily="34" charset="0"/>
              </a:rPr>
              <a:t/>
            </a:r>
            <a:endParaRPr lang="zh-CN" altLang="en-US" sz="1300" b="1">
              <a:solidFill>
                <a:srgbClr val="0A1C5A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作品演示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媒体占位符 1"/>
          <p:cNvSpPr>
            <a:spLocks noGrp="1"/>
          </p:cNvSpPr>
          <p:nvPr>
            <p:ph type="media" sz="quarter" idx="15"/>
          </p:nvPr>
        </p:nvSpPr>
        <p:spPr/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55" y="522605"/>
            <a:ext cx="7624445" cy="491490"/>
          </a:xfrm>
        </p:spPr>
        <p:txBody>
          <a:bodyPr/>
          <a:lstStyle/>
          <a:p>
            <a:r>
              <a:rPr lang="en-US" altLang="zh-CN"/>
              <a:t>5.1  </a:t>
            </a:r>
            <a:r>
              <a:rPr lang="zh-CN" altLang="en-US"/>
              <a:t>作品演示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占位符 50"/>
          <p:cNvSpPr>
            <a:spLocks noGrp="1"/>
          </p:cNvSpPr>
          <p:nvPr/>
        </p:nvSpPr>
        <p:spPr>
          <a:xfrm>
            <a:off x="3937218" y="4640664"/>
            <a:ext cx="1161805" cy="2903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参赛团队：</a:t>
            </a:r>
          </a:p>
        </p:txBody>
      </p:sp>
      <p:sp>
        <p:nvSpPr>
          <p:cNvPr id="34" name="文本占位符 53"/>
          <p:cNvSpPr>
            <a:spLocks noGrp="1"/>
          </p:cNvSpPr>
          <p:nvPr/>
        </p:nvSpPr>
        <p:spPr>
          <a:xfrm>
            <a:off x="3937218" y="5077480"/>
            <a:ext cx="1161805" cy="29037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完成日期：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143000" y="1905000"/>
            <a:ext cx="9906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zh-CN" altLang="en-US" sz="5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524000" y="2997200"/>
            <a:ext cx="9144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2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SCX-Agent</a:t>
            </a:r>
            <a:r>
              <a:rPr lang="zh-CN" altLang="en-US" sz="2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：让智能调优具备可信执行与可验证证据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207000" y="4635500"/>
            <a:ext cx="3556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zh-CN" altLang="en-US" sz="1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匿名评审稿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207000" y="5080000"/>
            <a:ext cx="3556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en-US" altLang="zh-CN" sz="1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 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DFlMjQ2NDczNzA0OWJlNDA3OTJmZGZiMDA3NzgwZj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ICARD_INVALID" val="Invalid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1692</Words>
  <Application>Microsoft Office PowerPoint</Application>
  <PresentationFormat>宽屏</PresentationFormat>
  <Paragraphs>263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等线</vt:lpstr>
      <vt:lpstr>Microsoft YaHei</vt:lpstr>
      <vt:lpstr>Microsoft YaHei</vt:lpstr>
      <vt:lpstr>Arial</vt:lpstr>
      <vt:lpstr>Office 主题​​</vt:lpstr>
      <vt:lpstr>PowerPoint 演示文稿</vt:lpstr>
      <vt:lpstr>项目介绍</vt:lpstr>
      <vt:lpstr>PowerPoint 演示文稿</vt:lpstr>
      <vt:lpstr>1.1  设计背景</vt:lpstr>
      <vt:lpstr>1.2  设计目标与总体架构</vt:lpstr>
      <vt:lpstr>1.3  较同类方案的优势</vt:lpstr>
      <vt:lpstr>1.4  作品原创性说明</vt:lpstr>
      <vt:lpstr>PowerPoint 演示文稿</vt:lpstr>
      <vt:lpstr>2.1  tuning_agent：可信调优控制面</vt:lpstr>
      <vt:lpstr>2.2  scx_agent_classed：两级分类调度器</vt:lpstr>
      <vt:lpstr>2.3  bench：可复现实验证据框架</vt:lpstr>
      <vt:lpstr>2.4  三部分协同：端到端可信闭环</vt:lpstr>
      <vt:lpstr>PowerPoint 演示文稿</vt:lpstr>
      <vt:lpstr>3.1  Agent 灵活性与稳定可控的权衡</vt:lpstr>
      <vt:lpstr>3.2  LATENCY 优先与类别公平的权衡</vt:lpstr>
      <vt:lpstr>PowerPoint 演示文稿</vt:lpstr>
      <vt:lpstr>4.1  主要性能结果</vt:lpstr>
      <vt:lpstr>PowerPoint 演示文稿</vt:lpstr>
      <vt:lpstr>5.1  作品演示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tuning_agent 项目答辩</dc:title>
  <dc:creator>匿名评审稿</dc:creator>
  <cp:lastModifiedBy>匿名评审稿</cp:lastModifiedBy>
  <cp:revision>93</cp:revision>
  <dcterms:created xsi:type="dcterms:W3CDTF">2024-08-05T03:21:00Z</dcterms:created>
  <dcterms:modified xsi:type="dcterms:W3CDTF">2026-07-28T06:30:00Z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635092E4E9B944459AE593E852D97D2E_13</vt:lpwstr>
  </property>
  <property fmtid="{D5CDD505-2E9C-101B-9397-08002B2CF9AE}" pid="3" name="KSOProductBuildVer">
    <vt:lpwstr>2052-12.1.0.24034</vt:lpwstr>
  </property>
</Properties>
</file>